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5"/>
    <p:sldMasterId id="214748367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</p:sldIdLst>
  <p:sldSz cy="5143500" cx="9144000"/>
  <p:notesSz cx="6858000" cy="9144000"/>
  <p:embeddedFontLst>
    <p:embeddedFont>
      <p:font typeface="Play"/>
      <p:regular r:id="rId91"/>
      <p:bold r:id="rId92"/>
    </p:embeddedFont>
    <p:embeddedFont>
      <p:font typeface="Orbitron Medium"/>
      <p:regular r:id="rId93"/>
      <p:bold r:id="rId94"/>
    </p:embeddedFont>
    <p:embeddedFont>
      <p:font typeface="Lato Black"/>
      <p:bold r:id="rId95"/>
      <p:boldItalic r:id="rId96"/>
    </p:embeddedFont>
    <p:embeddedFont>
      <p:font typeface="Quicksand"/>
      <p:regular r:id="rId97"/>
      <p:bold r:id="rId98"/>
    </p:embeddedFont>
    <p:embeddedFont>
      <p:font typeface="Quicksand Medium"/>
      <p:regular r:id="rId99"/>
      <p:bold r:id="rId10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Jon Nordby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0" Type="http://schemas.openxmlformats.org/officeDocument/2006/relationships/font" Target="fonts/QuicksandMedium-bold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font" Target="fonts/LatoBlack-bold.fntdata"/><Relationship Id="rId94" Type="http://schemas.openxmlformats.org/officeDocument/2006/relationships/font" Target="fonts/OrbitronMedium-bold.fntdata"/><Relationship Id="rId97" Type="http://schemas.openxmlformats.org/officeDocument/2006/relationships/font" Target="fonts/Quicksand-regular.fntdata"/><Relationship Id="rId96" Type="http://schemas.openxmlformats.org/officeDocument/2006/relationships/font" Target="fonts/LatoBlack-boldItalic.fntdata"/><Relationship Id="rId11" Type="http://schemas.openxmlformats.org/officeDocument/2006/relationships/slide" Target="slides/slide4.xml"/><Relationship Id="rId99" Type="http://schemas.openxmlformats.org/officeDocument/2006/relationships/font" Target="fonts/QuicksandMedium-regular.fntdata"/><Relationship Id="rId10" Type="http://schemas.openxmlformats.org/officeDocument/2006/relationships/slide" Target="slides/slide3.xml"/><Relationship Id="rId98" Type="http://schemas.openxmlformats.org/officeDocument/2006/relationships/font" Target="fonts/Quicksand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font" Target="fonts/Play-regular.fntdata"/><Relationship Id="rId90" Type="http://schemas.openxmlformats.org/officeDocument/2006/relationships/slide" Target="slides/slide83.xml"/><Relationship Id="rId93" Type="http://schemas.openxmlformats.org/officeDocument/2006/relationships/font" Target="fonts/OrbitronMedium-regular.fntdata"/><Relationship Id="rId92" Type="http://schemas.openxmlformats.org/officeDocument/2006/relationships/font" Target="fonts/Play-bold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7-21T10:49:56.663">
    <p:pos x="196" y="280"/>
    <p:text>TODO, make more case specific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3d372178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43d372178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574276c02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574276c02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c704d7362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c704d7362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Work as Head of Data Science at Soundsensing.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Soundsensing is a leading provider of predictive </a:t>
            </a:r>
            <a:r>
              <a:rPr lang="en"/>
              <a:t>maintenance solutions for </a:t>
            </a:r>
            <a:r>
              <a:rPr lang="en">
                <a:solidFill>
                  <a:schemeClr val="dk1"/>
                </a:solidFill>
              </a:rPr>
              <a:t>ventilation systems in </a:t>
            </a:r>
            <a:r>
              <a:rPr lang="en"/>
              <a:t>buildings.</a:t>
            </a:r>
            <a:br>
              <a:rPr lang="en"/>
            </a:br>
            <a:r>
              <a:rPr lang="en"/>
              <a:t>So we work a lot with sensor data. And also use Python as much as we can for Data Science, IoT and backend tasks.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574276c02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574276c02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574276c02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f574276c02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574276c0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574276c0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574276c0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574276c0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667ecb085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667ecb085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STM32, Nordic NRF5x, ESP32, RP2040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667ecb085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d667ecb085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7570d0e2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7570d0e2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42d1d1af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emlearn is an open-source software library that can be used to implement such projects.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/>
            </a:br>
            <a:r>
              <a:rPr lang="en"/>
              <a:t>It provides embedded friendly implementations of Machine Learning models.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supports converting models trained in Python.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either use scikit-learn or Keras.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code is portable and clean C99.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can be used on even the smallest MCUs,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it does not need FPU, and the code size is very small.</a:t>
            </a:r>
            <a:endParaRPr/>
          </a:p>
        </p:txBody>
      </p:sp>
      <p:sp>
        <p:nvSpPr>
          <p:cNvPr id="300" name="Google Shape;300;g342d1d1af7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574276c02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emlearn supports the three most common ML tasks: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classification, regression, anomaly detection.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f574276c02_0_3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574276c02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f574276c02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574276c02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f574276c02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574276c02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f574276c02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667ecb085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5" name="Google Shape;365;g3d667ecb085_0_3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574276c02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f574276c02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574276c02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f574276c02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574276c02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f574276c02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574276c02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f574276c02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574276c02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f574276c02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574276c02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f574276c02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574276c02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f574276c02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f574276c02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f574276c02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f574276c02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f574276c02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7570d0e2a5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7570d0e2a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d667ecb08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6" name="Google Shape;486;g3d667ecb085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f574276c02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f574276c02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sensor data steam is conceptually infinite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Machine Learning models on the other hand must have finite and fixed-length inputs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This is done by splitting the stream at fixed intervals of time.</a:t>
            </a:r>
            <a:br>
              <a:rPr lang="en"/>
            </a:br>
            <a:r>
              <a:rPr lang="en"/>
              <a:t>Into windows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Usually with some overlap. So model gets multiple chances at predicting the same phenomena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d667ecb085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d667ecb085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667ecb085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d667ecb085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d667ecb085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d667ecb085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d667ecb085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d667ecb085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6810a5fc18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6810a5fc18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d667ecb085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d667ecb085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d667ecb08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d667ecb08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667ecb08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d667ecb08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ce30ccef49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2ce30ccef49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d667ecb08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d667ecb08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6810a5fc18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6810a5fc18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 project was started in 2018 by 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has been maintained by me since that time. With a couple of contributors here and there.</a:t>
            </a:r>
            <a:br>
              <a:rPr lang="en"/>
            </a:br>
            <a:br>
              <a:rPr lang="en"/>
            </a:br>
            <a:r>
              <a:rPr lang="en"/>
              <a:t>Quite mature. Has been used for dozens of projects across the world.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6810a5fc18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6810a5fc18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6810a5fc18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6810a5fc18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 project was started in 2018 by 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has been maintained by me since that time. With a couple of contributors here and there.</a:t>
            </a:r>
            <a:br>
              <a:rPr lang="en"/>
            </a:br>
            <a:br>
              <a:rPr lang="en"/>
            </a:br>
            <a:r>
              <a:rPr lang="en"/>
              <a:t>Quite mature. Has been used for dozens of projects across the world.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43d372178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43d372178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43d3721787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43d3721787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Inline and loadable (data structure)</a:t>
            </a:r>
            <a:br>
              <a:rPr lang="en"/>
            </a:br>
            <a:r>
              <a:rPr lang="en"/>
              <a:t>Majority voting instead of class probabilities</a:t>
            </a:r>
            <a:br>
              <a:rPr lang="en"/>
            </a:br>
            <a:r>
              <a:rPr lang="en"/>
              <a:t>Leaf-node de-duplication 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6810a5fc1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6810a5fc1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dda0b8ae8e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2dda0b8ae8e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Inline and loadable (data structure)</a:t>
            </a:r>
            <a:br>
              <a:rPr lang="en"/>
            </a:br>
            <a:r>
              <a:rPr lang="en"/>
              <a:t>Majority voting instead of class probabilities</a:t>
            </a:r>
            <a:br>
              <a:rPr lang="en"/>
            </a:br>
            <a:r>
              <a:rPr lang="en"/>
              <a:t>Leaf-node de-duplication 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43d3721787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43d3721787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Inline and loadable (data structure)</a:t>
            </a:r>
            <a:br>
              <a:rPr lang="en"/>
            </a:br>
            <a:r>
              <a:rPr lang="en"/>
              <a:t>Majority voting instead of class probabilities</a:t>
            </a:r>
            <a:br>
              <a:rPr lang="en"/>
            </a:br>
            <a:r>
              <a:rPr lang="en"/>
              <a:t>Leaf-node de-duplication 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43d3721787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43d3721787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Inline and loadable (data structure)</a:t>
            </a:r>
            <a:br>
              <a:rPr lang="en"/>
            </a:br>
            <a:r>
              <a:rPr lang="en"/>
              <a:t>Majority voting instead of class probabilities</a:t>
            </a:r>
            <a:br>
              <a:rPr lang="en"/>
            </a:br>
            <a:r>
              <a:rPr lang="en"/>
              <a:t>Leaf-node de-duplication 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d667ecb0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d667ecb0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43d3721787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43d372178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Inline and loadable (data structure)</a:t>
            </a:r>
            <a:br>
              <a:rPr lang="en"/>
            </a:br>
            <a:r>
              <a:rPr lang="en"/>
              <a:t>Majority voting instead of class probabilities</a:t>
            </a:r>
            <a:br>
              <a:rPr lang="en"/>
            </a:br>
            <a:r>
              <a:rPr lang="en"/>
              <a:t>Leaf-node de-duplication 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7586296686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Temperature is a </a:t>
            </a:r>
            <a:r>
              <a:rPr b="1" lang="en" sz="1400">
                <a:solidFill>
                  <a:srgbClr val="595959"/>
                </a:solidFill>
              </a:rPr>
              <a:t>slow changing phenomena.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Want: </a:t>
            </a:r>
            <a:r>
              <a:rPr b="1" lang="en" sz="1400">
                <a:solidFill>
                  <a:srgbClr val="595959"/>
                </a:solidFill>
              </a:rPr>
              <a:t>1 value for longish time interval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(ex: 5 min)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! Sensor can be noisy. Filtering advised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Will show </a:t>
            </a:r>
            <a:r>
              <a:rPr b="1" lang="en" sz="1400">
                <a:solidFill>
                  <a:srgbClr val="595959"/>
                </a:solidFill>
              </a:rPr>
              <a:t>analog sensor</a:t>
            </a:r>
            <a:r>
              <a:rPr lang="en" sz="1400">
                <a:solidFill>
                  <a:srgbClr val="595959"/>
                </a:solidFill>
              </a:rPr>
              <a:t> example.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Same approach can be used for a </a:t>
            </a:r>
            <a:r>
              <a:rPr b="1" lang="en" sz="1400">
                <a:solidFill>
                  <a:srgbClr val="595959"/>
                </a:solidFill>
              </a:rPr>
              <a:t>digital sensor</a:t>
            </a:r>
            <a:r>
              <a:rPr lang="en" sz="1400">
                <a:solidFill>
                  <a:srgbClr val="595959"/>
                </a:solidFill>
              </a:rPr>
              <a:t>.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And for </a:t>
            </a:r>
            <a:r>
              <a:rPr b="1" lang="en" sz="1400">
                <a:solidFill>
                  <a:srgbClr val="595959"/>
                </a:solidFill>
              </a:rPr>
              <a:t>other slow-changing</a:t>
            </a:r>
            <a:r>
              <a:rPr lang="en" sz="1400">
                <a:solidFill>
                  <a:srgbClr val="595959"/>
                </a:solidFill>
              </a:rPr>
              <a:t> phenomena.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2" name="Google Shape;752;g37586296686_0_8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6810a5fc18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Temperature is a </a:t>
            </a:r>
            <a:r>
              <a:rPr b="1" lang="en" sz="1400">
                <a:solidFill>
                  <a:srgbClr val="595959"/>
                </a:solidFill>
              </a:rPr>
              <a:t>slow changing phenomena.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Want: </a:t>
            </a:r>
            <a:r>
              <a:rPr b="1" lang="en" sz="1400">
                <a:solidFill>
                  <a:srgbClr val="595959"/>
                </a:solidFill>
              </a:rPr>
              <a:t>1 value for longish time interval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(ex: 5 min)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! Sensor can be noisy. Filtering advised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Will show </a:t>
            </a:r>
            <a:r>
              <a:rPr b="1" lang="en" sz="1400">
                <a:solidFill>
                  <a:srgbClr val="595959"/>
                </a:solidFill>
              </a:rPr>
              <a:t>analog sensor</a:t>
            </a:r>
            <a:r>
              <a:rPr lang="en" sz="1400">
                <a:solidFill>
                  <a:srgbClr val="595959"/>
                </a:solidFill>
              </a:rPr>
              <a:t> example.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Same approach can be used for a </a:t>
            </a:r>
            <a:r>
              <a:rPr b="1" lang="en" sz="1400">
                <a:solidFill>
                  <a:srgbClr val="595959"/>
                </a:solidFill>
              </a:rPr>
              <a:t>digital sensor</a:t>
            </a:r>
            <a:r>
              <a:rPr lang="en" sz="1400">
                <a:solidFill>
                  <a:srgbClr val="595959"/>
                </a:solidFill>
              </a:rPr>
              <a:t>.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And for </a:t>
            </a:r>
            <a:r>
              <a:rPr b="1" lang="en" sz="1400">
                <a:solidFill>
                  <a:srgbClr val="595959"/>
                </a:solidFill>
              </a:rPr>
              <a:t>other slow-changing</a:t>
            </a:r>
            <a:r>
              <a:rPr lang="en" sz="1400">
                <a:solidFill>
                  <a:srgbClr val="595959"/>
                </a:solidFill>
              </a:rPr>
              <a:t> phenomena.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1" name="Google Shape;761;g36810a5fc18_0_5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6810a5fc18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6810a5fc18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76210ac51a_1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4" name="Google Shape;844;g376210ac51a_1_1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it moving again and again (loop it)</a:t>
            </a:r>
            <a:endParaRPr/>
          </a:p>
        </p:txBody>
      </p:sp>
      <p:sp>
        <p:nvSpPr>
          <p:cNvPr id="845" name="Google Shape;845;g376210ac51a_1_1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d667ecb085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3d667ecb085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d667ecb085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d667ecb085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sensor data steam is conceptually infinite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Machine Learning models on the other hand must have finite and fixed-length inputs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This is done by splitting the stream at fixed intervals of time.</a:t>
            </a:r>
            <a:br>
              <a:rPr lang="en"/>
            </a:br>
            <a:r>
              <a:rPr lang="en"/>
              <a:t>Into windows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Usually with some overlap. So model gets multiple chances at predicting the same phenomena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d667ecb085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3d667ecb085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d667ecb085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d667ecb085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d667ecb085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2" name="Google Shape;912;g3d667ecb085_0_4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d667ecb085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21" name="Google Shape;921;g3d667ecb085_0_4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d667ecb085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3d667ecb085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d667ecb085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3d667ecb085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d667ecb085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3d667ecb085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6810a5fc18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36810a5fc18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7570d0e2a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37570d0e2a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STM32, Nordic NRF5x, ESP32, RP2040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7586296686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37586296686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! drives for peripherals that are on a board not included in core firmware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Will likely need to hunt a bit for each sensor, screen etc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6810a5fc18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Temperature is a </a:t>
            </a:r>
            <a:r>
              <a:rPr b="1" lang="en" sz="1400">
                <a:solidFill>
                  <a:srgbClr val="595959"/>
                </a:solidFill>
              </a:rPr>
              <a:t>slow changing phenomena.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Want: </a:t>
            </a:r>
            <a:r>
              <a:rPr b="1" lang="en" sz="1400">
                <a:solidFill>
                  <a:srgbClr val="595959"/>
                </a:solidFill>
              </a:rPr>
              <a:t>1 value for longish time interval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(ex: 5 min)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! Sensor can be noisy. Filtering advised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Will show </a:t>
            </a:r>
            <a:r>
              <a:rPr b="1" lang="en" sz="1400">
                <a:solidFill>
                  <a:srgbClr val="595959"/>
                </a:solidFill>
              </a:rPr>
              <a:t>analog sensor</a:t>
            </a:r>
            <a:r>
              <a:rPr lang="en" sz="1400">
                <a:solidFill>
                  <a:srgbClr val="595959"/>
                </a:solidFill>
              </a:rPr>
              <a:t> example.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Same approach can be used for a </a:t>
            </a:r>
            <a:r>
              <a:rPr b="1" lang="en" sz="1400">
                <a:solidFill>
                  <a:srgbClr val="595959"/>
                </a:solidFill>
              </a:rPr>
              <a:t>digital sensor</a:t>
            </a:r>
            <a:r>
              <a:rPr lang="en" sz="1400">
                <a:solidFill>
                  <a:srgbClr val="595959"/>
                </a:solidFill>
              </a:rPr>
              <a:t>.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And for </a:t>
            </a:r>
            <a:r>
              <a:rPr b="1" lang="en" sz="1400">
                <a:solidFill>
                  <a:srgbClr val="595959"/>
                </a:solidFill>
              </a:rPr>
              <a:t>other slow-changing</a:t>
            </a:r>
            <a:r>
              <a:rPr lang="en" sz="1400">
                <a:solidFill>
                  <a:srgbClr val="595959"/>
                </a:solidFill>
              </a:rPr>
              <a:t> phenomena.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2" name="Google Shape;992;g36810a5fc18_0_5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6810a5fc18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02" name="Google Shape;1002;g36810a5fc18_0_6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6810a5fc18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Temperature is a </a:t>
            </a:r>
            <a:r>
              <a:rPr b="1" lang="en" sz="1400">
                <a:solidFill>
                  <a:srgbClr val="595959"/>
                </a:solidFill>
              </a:rPr>
              <a:t>slow changing phenomena.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Want: </a:t>
            </a:r>
            <a:r>
              <a:rPr b="1" lang="en" sz="1400">
                <a:solidFill>
                  <a:srgbClr val="595959"/>
                </a:solidFill>
              </a:rPr>
              <a:t>1 value for longish time interval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(ex: 5 min)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! Sensor can be noisy. Filtering advised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Will show </a:t>
            </a:r>
            <a:r>
              <a:rPr b="1" lang="en" sz="1400">
                <a:solidFill>
                  <a:srgbClr val="595959"/>
                </a:solidFill>
              </a:rPr>
              <a:t>analog sensor</a:t>
            </a:r>
            <a:r>
              <a:rPr lang="en" sz="1400">
                <a:solidFill>
                  <a:srgbClr val="595959"/>
                </a:solidFill>
              </a:rPr>
              <a:t> example.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Same approach can be used for a </a:t>
            </a:r>
            <a:r>
              <a:rPr b="1" lang="en" sz="1400">
                <a:solidFill>
                  <a:srgbClr val="595959"/>
                </a:solidFill>
              </a:rPr>
              <a:t>digital sensor</a:t>
            </a:r>
            <a:r>
              <a:rPr lang="en" sz="1400">
                <a:solidFill>
                  <a:srgbClr val="595959"/>
                </a:solidFill>
              </a:rPr>
              <a:t>.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And for </a:t>
            </a:r>
            <a:r>
              <a:rPr b="1" lang="en" sz="1400">
                <a:solidFill>
                  <a:srgbClr val="595959"/>
                </a:solidFill>
              </a:rPr>
              <a:t>other slow-changing</a:t>
            </a:r>
            <a:r>
              <a:rPr lang="en" sz="1400">
                <a:solidFill>
                  <a:srgbClr val="595959"/>
                </a:solidFill>
              </a:rPr>
              <a:t> phenomena.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4" name="Google Shape;1014;g36810a5fc18_0_6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6810a5fc18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Temperature is a </a:t>
            </a:r>
            <a:r>
              <a:rPr b="1" lang="en" sz="1400">
                <a:solidFill>
                  <a:srgbClr val="595959"/>
                </a:solidFill>
              </a:rPr>
              <a:t>slow changing phenomena.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Want: </a:t>
            </a:r>
            <a:r>
              <a:rPr b="1" lang="en" sz="1400">
                <a:solidFill>
                  <a:srgbClr val="595959"/>
                </a:solidFill>
              </a:rPr>
              <a:t>1 value for longish time interval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(ex: 5 min)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! Sensor can be noisy. Filtering advised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Will show </a:t>
            </a:r>
            <a:r>
              <a:rPr b="1" lang="en" sz="1400">
                <a:solidFill>
                  <a:srgbClr val="595959"/>
                </a:solidFill>
              </a:rPr>
              <a:t>analog sensor</a:t>
            </a:r>
            <a:r>
              <a:rPr lang="en" sz="1400">
                <a:solidFill>
                  <a:srgbClr val="595959"/>
                </a:solidFill>
              </a:rPr>
              <a:t> example.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Same approach can be used for a </a:t>
            </a:r>
            <a:r>
              <a:rPr b="1" lang="en" sz="1400">
                <a:solidFill>
                  <a:srgbClr val="595959"/>
                </a:solidFill>
              </a:rPr>
              <a:t>digital sensor</a:t>
            </a:r>
            <a:r>
              <a:rPr lang="en" sz="1400">
                <a:solidFill>
                  <a:srgbClr val="595959"/>
                </a:solidFill>
              </a:rPr>
              <a:t>.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And for </a:t>
            </a:r>
            <a:r>
              <a:rPr b="1" lang="en" sz="1400">
                <a:solidFill>
                  <a:srgbClr val="595959"/>
                </a:solidFill>
              </a:rPr>
              <a:t>other slow-changing</a:t>
            </a:r>
            <a:r>
              <a:rPr lang="en" sz="1400">
                <a:solidFill>
                  <a:srgbClr val="595959"/>
                </a:solidFill>
              </a:rPr>
              <a:t> phenomena.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7" name="Google Shape;1027;g36810a5fc18_0_6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6810a5fc18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36810a5fc18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</a:rPr>
              <a:t>Has support for loading C modules at runtime!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7586296686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37586296686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6810a5fc18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5" name="Google Shape;1055;g36810a5fc18_0_6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7570d0e2a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7570d0e2a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d667ecb08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3d667ecb08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42d1d1af72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94" name="Google Shape;1094;g342d1d1af72_0_2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d667ecb085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3d667ecb085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! drives for peripherals that are on a board not included in core firmware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Will likely need to hunt a bit for each sensor, screen etc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3d667ecb085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Temperature is a </a:t>
            </a:r>
            <a:r>
              <a:rPr b="1" lang="en" sz="1400">
                <a:solidFill>
                  <a:srgbClr val="595959"/>
                </a:solidFill>
              </a:rPr>
              <a:t>slow changing phenomena.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Want: </a:t>
            </a:r>
            <a:r>
              <a:rPr b="1" lang="en" sz="1400">
                <a:solidFill>
                  <a:srgbClr val="595959"/>
                </a:solidFill>
              </a:rPr>
              <a:t>1 value for longish time interval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(ex: 5 min)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! Sensor can be noisy. Filtering advised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Will show </a:t>
            </a:r>
            <a:r>
              <a:rPr b="1" lang="en" sz="1400">
                <a:solidFill>
                  <a:srgbClr val="595959"/>
                </a:solidFill>
              </a:rPr>
              <a:t>analog sensor</a:t>
            </a:r>
            <a:r>
              <a:rPr lang="en" sz="1400">
                <a:solidFill>
                  <a:srgbClr val="595959"/>
                </a:solidFill>
              </a:rPr>
              <a:t> example.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Same approach can be used for a </a:t>
            </a:r>
            <a:r>
              <a:rPr b="1" lang="en" sz="1400">
                <a:solidFill>
                  <a:srgbClr val="595959"/>
                </a:solidFill>
              </a:rPr>
              <a:t>digital sensor</a:t>
            </a:r>
            <a:r>
              <a:rPr lang="en" sz="1400">
                <a:solidFill>
                  <a:srgbClr val="595959"/>
                </a:solidFill>
              </a:rPr>
              <a:t>.</a:t>
            </a: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And for </a:t>
            </a:r>
            <a:r>
              <a:rPr b="1" lang="en" sz="1400">
                <a:solidFill>
                  <a:srgbClr val="595959"/>
                </a:solidFill>
              </a:rPr>
              <a:t>other slow-changing</a:t>
            </a:r>
            <a:r>
              <a:rPr lang="en" sz="1400">
                <a:solidFill>
                  <a:srgbClr val="595959"/>
                </a:solidFill>
              </a:rPr>
              <a:t> phenomena.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40" name="Google Shape;1140;g3d667ecb085_0_2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d667ecb085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3d667ecb085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</a:rPr>
              <a:t>Has support for loading C modules at runtime!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f574276c0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it comes to Machine Learning on microcontrollers,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are obviously not going to be running any Large Language Models or generative image models.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 one usecase where ML is incredibly useful is in analysing sensor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Sensors such as accelerometers, microphonones, radars, and cameras have gotten incredibly cheap and powerful.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 in order to get useful information out of these, the raw data must be processed.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Using Machine Learning, in combination with Digital Signal Processing, allows analyzing complex phenomena.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this is done on the microcontroller, we get a range of benefits: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...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component in blue is the Machine Learning model, and is typically trained ahead of time on a PC.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60" name="Google Shape;1160;g3f574276c02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d667ecb085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3d667ecb085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3d667ecb085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3d667ecb085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3d667ecb085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3d667ecb085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3f574276c02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is a huge amount of applications for this, in basically any field that uses electronics.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Keyword spotting / wakeword detection. “Alexa”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Smartwatch. Sleep activity tracking 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Agriculture. Cattle activity tracking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Condition monitoring of Machinery.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Or what about a cat doorbell that only lets in your cat, and only if it does not have a prey in its both.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Magic wand.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9" name="Google Shape;1199;g3f574276c02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Figure">
  <p:cSld name="Text and Figur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5817898" y="1"/>
            <a:ext cx="3326100" cy="483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1" i="0" sz="600" u="none" cap="none" strike="noStrike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123205" y="996957"/>
            <a:ext cx="27156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342500" y="4892172"/>
            <a:ext cx="4590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 lnSpcReduction="10000"/>
          </a:bodyPr>
          <a:lstStyle>
            <a:lvl1pPr indent="0" lvl="0" marL="0" rtl="0" algn="ctr">
              <a:spcBef>
                <a:spcPts val="0"/>
              </a:spcBef>
              <a:buNone/>
              <a:defRPr/>
            </a:lvl1pPr>
            <a:lvl2pPr indent="0" lvl="1" marL="0" rtl="0" algn="ctr">
              <a:spcBef>
                <a:spcPts val="0"/>
              </a:spcBef>
              <a:buNone/>
              <a:defRPr/>
            </a:lvl2pPr>
            <a:lvl3pPr indent="0" lvl="2" marL="0" rtl="0" algn="ctr">
              <a:spcBef>
                <a:spcPts val="0"/>
              </a:spcBef>
              <a:buNone/>
              <a:defRPr/>
            </a:lvl3pPr>
            <a:lvl4pPr indent="0" lvl="3" marL="0" rtl="0" algn="ctr">
              <a:spcBef>
                <a:spcPts val="0"/>
              </a:spcBef>
              <a:buNone/>
              <a:defRPr/>
            </a:lvl4pPr>
            <a:lvl5pPr indent="0" lvl="4" marL="0" rtl="0" algn="ctr">
              <a:spcBef>
                <a:spcPts val="0"/>
              </a:spcBef>
              <a:buNone/>
              <a:defRPr/>
            </a:lvl5pPr>
            <a:lvl6pPr indent="0" lvl="5" marL="0" rtl="0" algn="ctr">
              <a:spcBef>
                <a:spcPts val="0"/>
              </a:spcBef>
              <a:buNone/>
              <a:defRPr/>
            </a:lvl6pPr>
            <a:lvl7pPr indent="0" lvl="6" marL="0" rtl="0" algn="ctr">
              <a:spcBef>
                <a:spcPts val="0"/>
              </a:spcBef>
              <a:buNone/>
              <a:defRPr/>
            </a:lvl7pPr>
            <a:lvl8pPr indent="0" lvl="7" marL="0" rtl="0" algn="ctr">
              <a:spcBef>
                <a:spcPts val="0"/>
              </a:spcBef>
              <a:buNone/>
              <a:defRPr/>
            </a:lvl8pPr>
            <a:lvl9pPr indent="0" lvl="8" marL="0" rt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type="title"/>
          </p:nvPr>
        </p:nvSpPr>
        <p:spPr>
          <a:xfrm>
            <a:off x="340572" y="477825"/>
            <a:ext cx="4646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b="0" i="0" sz="2400" u="none" cap="none" strike="noStrik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70600" y="2499541"/>
            <a:ext cx="2824656" cy="21670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3"/>
          <p:cNvGrpSpPr/>
          <p:nvPr/>
        </p:nvGrpSpPr>
        <p:grpSpPr>
          <a:xfrm>
            <a:off x="7177097" y="2888552"/>
            <a:ext cx="611550" cy="829985"/>
            <a:chOff x="9569462" y="3851402"/>
            <a:chExt cx="815400" cy="1106646"/>
          </a:xfrm>
        </p:grpSpPr>
        <p:pic>
          <p:nvPicPr>
            <p:cNvPr id="57" name="Google Shape;57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33912" y="3851402"/>
              <a:ext cx="686646" cy="6866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3"/>
            <p:cNvSpPr/>
            <p:nvPr/>
          </p:nvSpPr>
          <p:spPr>
            <a:xfrm>
              <a:off x="9569462" y="4538048"/>
              <a:ext cx="815400" cy="420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13"/>
          <p:cNvSpPr/>
          <p:nvPr>
            <p:ph idx="2" type="media"/>
          </p:nvPr>
        </p:nvSpPr>
        <p:spPr>
          <a:xfrm>
            <a:off x="6168531" y="2600176"/>
            <a:ext cx="2628900" cy="1965900"/>
          </a:xfrm>
          <a:prstGeom prst="roundRect">
            <a:avLst>
              <a:gd fmla="val 2414" name="adj"/>
            </a:avLst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3" type="body"/>
          </p:nvPr>
        </p:nvSpPr>
        <p:spPr>
          <a:xfrm>
            <a:off x="340572" y="2052000"/>
            <a:ext cx="2547600" cy="16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Noto Sans Symbols"/>
              <a:buChar char="▪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Quicksand"/>
              <a:buChar char="»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Quicksand"/>
              <a:buChar char="-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4" type="body"/>
          </p:nvPr>
        </p:nvSpPr>
        <p:spPr>
          <a:xfrm>
            <a:off x="340519" y="1350000"/>
            <a:ext cx="25476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5" type="body"/>
          </p:nvPr>
        </p:nvSpPr>
        <p:spPr>
          <a:xfrm>
            <a:off x="3136847" y="1350169"/>
            <a:ext cx="2432400" cy="3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Two Column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4342500" y="4892172"/>
            <a:ext cx="4590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 lnSpcReduction="10000"/>
          </a:bodyPr>
          <a:lstStyle>
            <a:lvl1pPr indent="0" lvl="0" marL="0" rtl="0" algn="ctr">
              <a:spcBef>
                <a:spcPts val="0"/>
              </a:spcBef>
              <a:buNone/>
              <a:defRPr/>
            </a:lvl1pPr>
            <a:lvl2pPr indent="0" lvl="1" marL="0" rtl="0" algn="ctr">
              <a:spcBef>
                <a:spcPts val="0"/>
              </a:spcBef>
              <a:buNone/>
              <a:defRPr/>
            </a:lvl2pPr>
            <a:lvl3pPr indent="0" lvl="2" marL="0" rtl="0" algn="ctr">
              <a:spcBef>
                <a:spcPts val="0"/>
              </a:spcBef>
              <a:buNone/>
              <a:defRPr/>
            </a:lvl3pPr>
            <a:lvl4pPr indent="0" lvl="3" marL="0" rtl="0" algn="ctr">
              <a:spcBef>
                <a:spcPts val="0"/>
              </a:spcBef>
              <a:buNone/>
              <a:defRPr/>
            </a:lvl4pPr>
            <a:lvl5pPr indent="0" lvl="4" marL="0" rtl="0" algn="ctr">
              <a:spcBef>
                <a:spcPts val="0"/>
              </a:spcBef>
              <a:buNone/>
              <a:defRPr/>
            </a:lvl5pPr>
            <a:lvl6pPr indent="0" lvl="5" marL="0" rtl="0" algn="ctr">
              <a:spcBef>
                <a:spcPts val="0"/>
              </a:spcBef>
              <a:buNone/>
              <a:defRPr/>
            </a:lvl6pPr>
            <a:lvl7pPr indent="0" lvl="6" marL="0" rtl="0" algn="ctr">
              <a:spcBef>
                <a:spcPts val="0"/>
              </a:spcBef>
              <a:buNone/>
              <a:defRPr/>
            </a:lvl7pPr>
            <a:lvl8pPr indent="0" lvl="7" marL="0" rtl="0" algn="ctr">
              <a:spcBef>
                <a:spcPts val="0"/>
              </a:spcBef>
              <a:buNone/>
              <a:defRPr/>
            </a:lvl8pPr>
            <a:lvl9pPr indent="0" lvl="8" marL="0" rt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5817898" y="1"/>
            <a:ext cx="3326100" cy="483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1" i="0" sz="600" u="none" cap="none" strike="noStrike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6123205" y="996957"/>
            <a:ext cx="27156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type="title"/>
          </p:nvPr>
        </p:nvSpPr>
        <p:spPr>
          <a:xfrm>
            <a:off x="340572" y="477825"/>
            <a:ext cx="4646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b="0" i="0" sz="2400" u="none" cap="none" strike="noStrik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70600" y="2499541"/>
            <a:ext cx="2824656" cy="21670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14"/>
          <p:cNvGrpSpPr/>
          <p:nvPr/>
        </p:nvGrpSpPr>
        <p:grpSpPr>
          <a:xfrm>
            <a:off x="7177097" y="2888552"/>
            <a:ext cx="611550" cy="829985"/>
            <a:chOff x="9569462" y="3851402"/>
            <a:chExt cx="815400" cy="1106646"/>
          </a:xfrm>
        </p:grpSpPr>
        <p:pic>
          <p:nvPicPr>
            <p:cNvPr id="70" name="Google Shape;7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33912" y="3851402"/>
              <a:ext cx="686646" cy="6866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p14"/>
            <p:cNvSpPr/>
            <p:nvPr/>
          </p:nvSpPr>
          <p:spPr>
            <a:xfrm>
              <a:off x="9569462" y="4538048"/>
              <a:ext cx="815400" cy="420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" name="Google Shape;72;p14"/>
          <p:cNvSpPr/>
          <p:nvPr>
            <p:ph idx="2" type="media"/>
          </p:nvPr>
        </p:nvSpPr>
        <p:spPr>
          <a:xfrm>
            <a:off x="6168531" y="2600176"/>
            <a:ext cx="2628900" cy="1965900"/>
          </a:xfrm>
          <a:prstGeom prst="roundRect">
            <a:avLst>
              <a:gd fmla="val 2414" name="adj"/>
            </a:avLst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4"/>
          <p:cNvSpPr txBox="1"/>
          <p:nvPr>
            <p:ph idx="3" type="body"/>
          </p:nvPr>
        </p:nvSpPr>
        <p:spPr>
          <a:xfrm>
            <a:off x="340571" y="2619000"/>
            <a:ext cx="25422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Quicksand"/>
              <a:buChar char="»"/>
              <a:defRPr b="0" i="0" sz="14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4" type="body"/>
          </p:nvPr>
        </p:nvSpPr>
        <p:spPr>
          <a:xfrm>
            <a:off x="3079235" y="2619000"/>
            <a:ext cx="25422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Quicksand"/>
              <a:buChar char="»"/>
              <a:defRPr b="0" i="0" sz="14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5" type="body"/>
          </p:nvPr>
        </p:nvSpPr>
        <p:spPr>
          <a:xfrm>
            <a:off x="340571" y="1619999"/>
            <a:ext cx="25422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Quicksand"/>
              <a:buChar char="»"/>
              <a:defRPr b="0" i="0" sz="14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6" type="body"/>
          </p:nvPr>
        </p:nvSpPr>
        <p:spPr>
          <a:xfrm>
            <a:off x="3079235" y="1619999"/>
            <a:ext cx="25422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Quicksand"/>
              <a:buChar char="»"/>
              <a:defRPr b="0" i="0" sz="14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Figure 1">
  <p:cSld name="Text and Figure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4342500" y="4892172"/>
            <a:ext cx="4590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 lnSpcReduction="10000"/>
          </a:bodyPr>
          <a:lstStyle>
            <a:lvl1pPr indent="0" lvl="0" marL="0" rtl="0" algn="ctr">
              <a:spcBef>
                <a:spcPts val="0"/>
              </a:spcBef>
              <a:buNone/>
              <a:defRPr/>
            </a:lvl1pPr>
            <a:lvl2pPr indent="0" lvl="1" marL="0" rtl="0" algn="ctr">
              <a:spcBef>
                <a:spcPts val="0"/>
              </a:spcBef>
              <a:buNone/>
              <a:defRPr/>
            </a:lvl2pPr>
            <a:lvl3pPr indent="0" lvl="2" marL="0" rtl="0" algn="ctr">
              <a:spcBef>
                <a:spcPts val="0"/>
              </a:spcBef>
              <a:buNone/>
              <a:defRPr/>
            </a:lvl3pPr>
            <a:lvl4pPr indent="0" lvl="3" marL="0" rtl="0" algn="ctr">
              <a:spcBef>
                <a:spcPts val="0"/>
              </a:spcBef>
              <a:buNone/>
              <a:defRPr/>
            </a:lvl4pPr>
            <a:lvl5pPr indent="0" lvl="4" marL="0" rtl="0" algn="ctr">
              <a:spcBef>
                <a:spcPts val="0"/>
              </a:spcBef>
              <a:buNone/>
              <a:defRPr/>
            </a:lvl5pPr>
            <a:lvl6pPr indent="0" lvl="5" marL="0" rtl="0" algn="ctr">
              <a:spcBef>
                <a:spcPts val="0"/>
              </a:spcBef>
              <a:buNone/>
              <a:defRPr/>
            </a:lvl6pPr>
            <a:lvl7pPr indent="0" lvl="6" marL="0" rtl="0" algn="ctr">
              <a:spcBef>
                <a:spcPts val="0"/>
              </a:spcBef>
              <a:buNone/>
              <a:defRPr/>
            </a:lvl7pPr>
            <a:lvl8pPr indent="0" lvl="7" marL="0" rtl="0" algn="ctr">
              <a:spcBef>
                <a:spcPts val="0"/>
              </a:spcBef>
              <a:buNone/>
              <a:defRPr/>
            </a:lvl8pPr>
            <a:lvl9pPr indent="0" lvl="8" marL="0" rt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340572" y="477825"/>
            <a:ext cx="77409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b="0" i="0" sz="2400" u="none" cap="none" strike="noStrik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40572" y="2052000"/>
            <a:ext cx="4002000" cy="12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Noto Sans Symbols"/>
              <a:buChar char="▪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Quicksand"/>
              <a:buChar char="»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Quicksand"/>
              <a:buChar char="-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5"/>
          <p:cNvSpPr txBox="1"/>
          <p:nvPr>
            <p:ph idx="2" type="body"/>
          </p:nvPr>
        </p:nvSpPr>
        <p:spPr>
          <a:xfrm>
            <a:off x="340519" y="1350000"/>
            <a:ext cx="40020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5"/>
          <p:cNvSpPr txBox="1"/>
          <p:nvPr>
            <p:ph idx="3" type="body"/>
          </p:nvPr>
        </p:nvSpPr>
        <p:spPr>
          <a:xfrm>
            <a:off x="4572001" y="1350169"/>
            <a:ext cx="4231500" cy="3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Text - Blue">
  <p:cSld name="Simple Text - Blue">
    <p:bg>
      <p:bgPr>
        <a:solidFill>
          <a:schemeClr val="accen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40200" y="477900"/>
            <a:ext cx="77409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 Black"/>
              <a:buNone/>
              <a:defRPr b="0" i="0" sz="24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85" name="Google Shape;85;p16"/>
          <p:cNvSpPr/>
          <p:nvPr/>
        </p:nvSpPr>
        <p:spPr>
          <a:xfrm>
            <a:off x="-5932" y="477825"/>
            <a:ext cx="160500" cy="30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0" y="4832848"/>
            <a:ext cx="9144000" cy="31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1" i="0" sz="600" u="none" cap="none" strike="noStrike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6440178" y="4832848"/>
            <a:ext cx="2703900" cy="3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1" i="0" sz="600" u="none" cap="none" strike="noStrike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4342500" y="4892172"/>
            <a:ext cx="4590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indent="0" lvl="0" marL="0" rt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indent="0" lvl="1" marL="0" rt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indent="0" lvl="2" marL="0" rt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indent="0" lvl="3" marL="0" rt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indent="0" lvl="4" marL="0" rt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indent="0" lvl="5" marL="0" rt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indent="0" lvl="6" marL="0" rt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indent="0" lvl="7" marL="0" rt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indent="0" lvl="8" marL="0" rtl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221436" y="4925128"/>
            <a:ext cx="40512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© EmbeddedOnlineConference.com All rights reserved</a:t>
            </a:r>
            <a:endParaRPr sz="1100"/>
          </a:p>
        </p:txBody>
      </p:sp>
      <p:sp>
        <p:nvSpPr>
          <p:cNvPr id="90" name="Google Shape;90;p16"/>
          <p:cNvSpPr txBox="1"/>
          <p:nvPr/>
        </p:nvSpPr>
        <p:spPr>
          <a:xfrm>
            <a:off x="6536589" y="4886656"/>
            <a:ext cx="2511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rbitron Medium"/>
                <a:ea typeface="Orbitron Medium"/>
                <a:cs typeface="Orbitron Medium"/>
                <a:sym typeface="Orbitron Medium"/>
              </a:rPr>
              <a:t>Embedded</a:t>
            </a:r>
            <a:r>
              <a:rPr lang="en" sz="1000">
                <a:solidFill>
                  <a:schemeClr val="accent4"/>
                </a:solidFill>
                <a:latin typeface="Orbitron Medium"/>
                <a:ea typeface="Orbitron Medium"/>
                <a:cs typeface="Orbitron Medium"/>
                <a:sym typeface="Orbitron Medium"/>
              </a:rPr>
              <a:t>Online</a:t>
            </a:r>
            <a:r>
              <a:rPr lang="en" sz="1000">
                <a:solidFill>
                  <a:schemeClr val="lt1"/>
                </a:solidFill>
                <a:latin typeface="Orbitron Medium"/>
                <a:ea typeface="Orbitron Medium"/>
                <a:cs typeface="Orbitron Medium"/>
                <a:sym typeface="Orbitron Medium"/>
              </a:rPr>
              <a:t>Conference.com</a:t>
            </a:r>
            <a:endParaRPr sz="1100"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40572" y="2052000"/>
            <a:ext cx="7740600" cy="12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Char char="▪"/>
              <a:defRPr b="0" i="0" sz="15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Quicksand"/>
              <a:buChar char="»"/>
              <a:defRPr b="0" i="0" sz="15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Quicksand"/>
              <a:buChar char="-"/>
              <a:defRPr b="0" i="0" sz="15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2" type="body"/>
          </p:nvPr>
        </p:nvSpPr>
        <p:spPr>
          <a:xfrm>
            <a:off x="340519" y="1350000"/>
            <a:ext cx="77403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&amp; Side Image">
  <p:cSld name="Text &amp; Side Imag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4342500" y="4892172"/>
            <a:ext cx="4590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 lnSpcReduction="10000"/>
          </a:bodyPr>
          <a:lstStyle>
            <a:lvl1pPr indent="0" lvl="0" marL="0" rtl="0" algn="ctr">
              <a:spcBef>
                <a:spcPts val="0"/>
              </a:spcBef>
              <a:buNone/>
              <a:defRPr/>
            </a:lvl1pPr>
            <a:lvl2pPr indent="0" lvl="1" marL="0" rtl="0" algn="ctr">
              <a:spcBef>
                <a:spcPts val="0"/>
              </a:spcBef>
              <a:buNone/>
              <a:defRPr/>
            </a:lvl2pPr>
            <a:lvl3pPr indent="0" lvl="2" marL="0" rtl="0" algn="ctr">
              <a:spcBef>
                <a:spcPts val="0"/>
              </a:spcBef>
              <a:buNone/>
              <a:defRPr/>
            </a:lvl3pPr>
            <a:lvl4pPr indent="0" lvl="3" marL="0" rtl="0" algn="ctr">
              <a:spcBef>
                <a:spcPts val="0"/>
              </a:spcBef>
              <a:buNone/>
              <a:defRPr/>
            </a:lvl4pPr>
            <a:lvl5pPr indent="0" lvl="4" marL="0" rtl="0" algn="ctr">
              <a:spcBef>
                <a:spcPts val="0"/>
              </a:spcBef>
              <a:buNone/>
              <a:defRPr/>
            </a:lvl5pPr>
            <a:lvl6pPr indent="0" lvl="5" marL="0" rtl="0" algn="ctr">
              <a:spcBef>
                <a:spcPts val="0"/>
              </a:spcBef>
              <a:buNone/>
              <a:defRPr/>
            </a:lvl6pPr>
            <a:lvl7pPr indent="0" lvl="6" marL="0" rtl="0" algn="ctr">
              <a:spcBef>
                <a:spcPts val="0"/>
              </a:spcBef>
              <a:buNone/>
              <a:defRPr/>
            </a:lvl7pPr>
            <a:lvl8pPr indent="0" lvl="7" marL="0" rtl="0" algn="ctr">
              <a:spcBef>
                <a:spcPts val="0"/>
              </a:spcBef>
              <a:buNone/>
              <a:defRPr/>
            </a:lvl8pPr>
            <a:lvl9pPr indent="0" lvl="8" marL="0" rt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" name="Google Shape;95;p17"/>
          <p:cNvPicPr preferRelativeResize="0"/>
          <p:nvPr>
            <p:ph idx="2" type="pic"/>
          </p:nvPr>
        </p:nvPicPr>
        <p:blipFill/>
        <p:spPr>
          <a:xfrm>
            <a:off x="5190258" y="0"/>
            <a:ext cx="3953700" cy="4833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96" name="Google Shape;96;p17"/>
          <p:cNvSpPr txBox="1"/>
          <p:nvPr>
            <p:ph type="title"/>
          </p:nvPr>
        </p:nvSpPr>
        <p:spPr>
          <a:xfrm>
            <a:off x="340572" y="477825"/>
            <a:ext cx="4646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b="0" i="0" sz="2400" u="none" cap="none" strike="noStrik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40572" y="2052000"/>
            <a:ext cx="4646700" cy="12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Noto Sans Symbols"/>
              <a:buChar char="▪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Quicksand"/>
              <a:buChar char="»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Quicksand"/>
              <a:buChar char="-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3" type="body"/>
          </p:nvPr>
        </p:nvSpPr>
        <p:spPr>
          <a:xfrm>
            <a:off x="340519" y="1350000"/>
            <a:ext cx="46467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Figure 2">
  <p:cSld name="Text and Figure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4342500" y="4892172"/>
            <a:ext cx="4590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 lnSpcReduction="10000"/>
          </a:bodyPr>
          <a:lstStyle>
            <a:lvl1pPr indent="0" lvl="0" marL="0" rtl="0" algn="ctr">
              <a:spcBef>
                <a:spcPts val="0"/>
              </a:spcBef>
              <a:buNone/>
              <a:defRPr/>
            </a:lvl1pPr>
            <a:lvl2pPr indent="0" lvl="1" marL="0" rtl="0" algn="ctr">
              <a:spcBef>
                <a:spcPts val="0"/>
              </a:spcBef>
              <a:buNone/>
              <a:defRPr/>
            </a:lvl2pPr>
            <a:lvl3pPr indent="0" lvl="2" marL="0" rtl="0" algn="ctr">
              <a:spcBef>
                <a:spcPts val="0"/>
              </a:spcBef>
              <a:buNone/>
              <a:defRPr/>
            </a:lvl3pPr>
            <a:lvl4pPr indent="0" lvl="3" marL="0" rtl="0" algn="ctr">
              <a:spcBef>
                <a:spcPts val="0"/>
              </a:spcBef>
              <a:buNone/>
              <a:defRPr/>
            </a:lvl4pPr>
            <a:lvl5pPr indent="0" lvl="4" marL="0" rtl="0" algn="ctr">
              <a:spcBef>
                <a:spcPts val="0"/>
              </a:spcBef>
              <a:buNone/>
              <a:defRPr/>
            </a:lvl5pPr>
            <a:lvl6pPr indent="0" lvl="5" marL="0" rtl="0" algn="ctr">
              <a:spcBef>
                <a:spcPts val="0"/>
              </a:spcBef>
              <a:buNone/>
              <a:defRPr/>
            </a:lvl6pPr>
            <a:lvl7pPr indent="0" lvl="6" marL="0" rtl="0" algn="ctr">
              <a:spcBef>
                <a:spcPts val="0"/>
              </a:spcBef>
              <a:buNone/>
              <a:defRPr/>
            </a:lvl7pPr>
            <a:lvl8pPr indent="0" lvl="7" marL="0" rtl="0" algn="ctr">
              <a:spcBef>
                <a:spcPts val="0"/>
              </a:spcBef>
              <a:buNone/>
              <a:defRPr/>
            </a:lvl8pPr>
            <a:lvl9pPr indent="0" lvl="8" marL="0" rt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>
            <p:ph type="title"/>
          </p:nvPr>
        </p:nvSpPr>
        <p:spPr>
          <a:xfrm>
            <a:off x="340572" y="477825"/>
            <a:ext cx="77409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b="0" i="0" sz="2400" u="none" cap="none" strike="noStrik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40572" y="2052000"/>
            <a:ext cx="4002000" cy="12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Noto Sans Symbols"/>
              <a:buChar char="▪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Quicksand"/>
              <a:buChar char="»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Quicksand"/>
              <a:buChar char="-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8"/>
          <p:cNvSpPr txBox="1"/>
          <p:nvPr>
            <p:ph idx="2" type="body"/>
          </p:nvPr>
        </p:nvSpPr>
        <p:spPr>
          <a:xfrm>
            <a:off x="340519" y="1350000"/>
            <a:ext cx="40020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3" type="body"/>
          </p:nvPr>
        </p:nvSpPr>
        <p:spPr>
          <a:xfrm>
            <a:off x="4572001" y="1350169"/>
            <a:ext cx="4231500" cy="3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Text">
  <p:cSld name="Simple 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40572" y="477825"/>
            <a:ext cx="77409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b="0" i="0" sz="2400" u="none" cap="none" strike="noStrik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4342500" y="4892172"/>
            <a:ext cx="4590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 lnSpcReduction="10000"/>
          </a:bodyPr>
          <a:lstStyle>
            <a:lvl1pPr indent="0" lvl="0" marL="0" rtl="0" algn="ctr">
              <a:spcBef>
                <a:spcPts val="0"/>
              </a:spcBef>
              <a:buNone/>
              <a:defRPr/>
            </a:lvl1pPr>
            <a:lvl2pPr indent="0" lvl="1" marL="0" rtl="0" algn="ctr">
              <a:spcBef>
                <a:spcPts val="0"/>
              </a:spcBef>
              <a:buNone/>
              <a:defRPr/>
            </a:lvl2pPr>
            <a:lvl3pPr indent="0" lvl="2" marL="0" rtl="0" algn="ctr">
              <a:spcBef>
                <a:spcPts val="0"/>
              </a:spcBef>
              <a:buNone/>
              <a:defRPr/>
            </a:lvl3pPr>
            <a:lvl4pPr indent="0" lvl="3" marL="0" rtl="0" algn="ctr">
              <a:spcBef>
                <a:spcPts val="0"/>
              </a:spcBef>
              <a:buNone/>
              <a:defRPr/>
            </a:lvl4pPr>
            <a:lvl5pPr indent="0" lvl="4" marL="0" rtl="0" algn="ctr">
              <a:spcBef>
                <a:spcPts val="0"/>
              </a:spcBef>
              <a:buNone/>
              <a:defRPr/>
            </a:lvl5pPr>
            <a:lvl6pPr indent="0" lvl="5" marL="0" rtl="0" algn="ctr">
              <a:spcBef>
                <a:spcPts val="0"/>
              </a:spcBef>
              <a:buNone/>
              <a:defRPr/>
            </a:lvl6pPr>
            <a:lvl7pPr indent="0" lvl="6" marL="0" rtl="0" algn="ctr">
              <a:spcBef>
                <a:spcPts val="0"/>
              </a:spcBef>
              <a:buNone/>
              <a:defRPr/>
            </a:lvl7pPr>
            <a:lvl8pPr indent="0" lvl="7" marL="0" rtl="0" algn="ctr">
              <a:spcBef>
                <a:spcPts val="0"/>
              </a:spcBef>
              <a:buNone/>
              <a:defRPr/>
            </a:lvl8pPr>
            <a:lvl9pPr indent="0" lvl="8" marL="0" rt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40572" y="2052000"/>
            <a:ext cx="7740600" cy="12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Noto Sans Symbols"/>
              <a:buChar char="▪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Quicksand"/>
              <a:buChar char="»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Quicksand"/>
              <a:buChar char="-"/>
              <a:defRPr b="0" i="0" sz="1500" u="none" cap="none" strike="noStrike">
                <a:solidFill>
                  <a:schemeClr val="accent5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idx="2" type="body"/>
          </p:nvPr>
        </p:nvSpPr>
        <p:spPr>
          <a:xfrm>
            <a:off x="340519" y="1350000"/>
            <a:ext cx="77403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420329" y="451322"/>
            <a:ext cx="8307029" cy="534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  <a:defRPr sz="2100"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420329" y="1192306"/>
            <a:ext cx="8307029" cy="34404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6457949" y="4767263"/>
            <a:ext cx="22694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1963" y="116948"/>
            <a:ext cx="1237874" cy="386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/>
          <p:nvPr/>
        </p:nvSpPr>
        <p:spPr>
          <a:xfrm>
            <a:off x="-900" y="3943350"/>
            <a:ext cx="9144900" cy="1200150"/>
          </a:xfrm>
          <a:prstGeom prst="rect">
            <a:avLst/>
          </a:prstGeom>
          <a:solidFill>
            <a:srgbClr val="B8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Arial"/>
              <a:buNone/>
              <a:defRPr sz="41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2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7" name="Google Shape;127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black and white sign with white text&#10;&#10;Description automatically generated" id="130" name="Google Shape;13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00600" y="4219526"/>
            <a:ext cx="2057400" cy="6425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with a lion and text&#10;&#10;Description automatically generated" id="131" name="Google Shape;1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4862" y="4082502"/>
            <a:ext cx="1159727" cy="916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48" name="Google Shape;148;p25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9" name="Google Shape;149;p25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0" name="Google Shape;150;p25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1" name="Google Shape;151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66" name="Google Shape;166;p28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67" name="Google Shape;167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29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74" name="Google Shape;174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0" name="Google Shape;180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31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6" name="Google Shape;186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emlearn/emlearn-micropython" TargetMode="External"/><Relationship Id="rId4" Type="http://schemas.openxmlformats.org/officeDocument/2006/relationships/hyperlink" Target="mailto:jononor@gmail.com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20.png"/><Relationship Id="rId7" Type="http://schemas.openxmlformats.org/officeDocument/2006/relationships/image" Target="../media/image18.jpg"/><Relationship Id="rId8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jonnor/micropython-iot-sensors-course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18.jpg"/><Relationship Id="rId7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hyperlink" Target="https://github.com/jonnor/spectrometer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hyperlink" Target="https://github.com/jonnor/motion-machine" TargetMode="External"/><Relationship Id="rId9" Type="http://schemas.openxmlformats.org/officeDocument/2006/relationships/hyperlink" Target="https://github.com/jonnor/spectrometer" TargetMode="External"/><Relationship Id="rId5" Type="http://schemas.openxmlformats.org/officeDocument/2006/relationships/hyperlink" Target="https://github.com/jonnor/motion-machine" TargetMode="External"/><Relationship Id="rId6" Type="http://schemas.openxmlformats.org/officeDocument/2006/relationships/hyperlink" Target="https://github.com/jonnor/motion-machine" TargetMode="External"/><Relationship Id="rId7" Type="http://schemas.openxmlformats.org/officeDocument/2006/relationships/image" Target="../media/image8.jpg"/><Relationship Id="rId8" Type="http://schemas.openxmlformats.org/officeDocument/2006/relationships/hyperlink" Target="https://github.com/jonnor/spectrometer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hyperlink" Target="https://www.youtube.com/watch?v=VmVQu9cygMI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6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micropython.org" TargetMode="External"/><Relationship Id="rId4" Type="http://schemas.openxmlformats.org/officeDocument/2006/relationships/image" Target="../media/image22.jpg"/><Relationship Id="rId9" Type="http://schemas.openxmlformats.org/officeDocument/2006/relationships/hyperlink" Target="https://www.youtube.com/watch?v=8Ao7DsTkpS4" TargetMode="External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hyperlink" Target="https://openmv.io/" TargetMode="External"/><Relationship Id="rId5" Type="http://schemas.openxmlformats.org/officeDocument/2006/relationships/hyperlink" Target="https://github.com/v923z/micropython-ulab" TargetMode="External"/><Relationship Id="rId6" Type="http://schemas.openxmlformats.org/officeDocument/2006/relationships/image" Target="../media/image17.jpg"/><Relationship Id="rId7" Type="http://schemas.openxmlformats.org/officeDocument/2006/relationships/hyperlink" Target="http://github.com/emlearn/emlearn-micropython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emlearn/emlearn-micropython" TargetMode="External"/><Relationship Id="rId4" Type="http://schemas.openxmlformats.org/officeDocument/2006/relationships/hyperlink" Target="https://github.com/emlearn/emlearn-micropython" TargetMode="External"/><Relationship Id="rId5" Type="http://schemas.openxmlformats.org/officeDocument/2006/relationships/hyperlink" Target="https://github.com/emlearn/emlearn-micropython" TargetMode="External"/><Relationship Id="rId6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23.png"/><Relationship Id="rId13" Type="http://schemas.openxmlformats.org/officeDocument/2006/relationships/image" Target="../media/image28.jpg"/><Relationship Id="rId1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17.jpg"/><Relationship Id="rId9" Type="http://schemas.openxmlformats.org/officeDocument/2006/relationships/image" Target="../media/image42.png"/><Relationship Id="rId14" Type="http://schemas.openxmlformats.org/officeDocument/2006/relationships/image" Target="../media/image39.png"/><Relationship Id="rId5" Type="http://schemas.openxmlformats.org/officeDocument/2006/relationships/image" Target="../media/image31.jpg"/><Relationship Id="rId6" Type="http://schemas.openxmlformats.org/officeDocument/2006/relationships/image" Target="../media/image21.png"/><Relationship Id="rId7" Type="http://schemas.openxmlformats.org/officeDocument/2006/relationships/image" Target="../media/image27.png"/><Relationship Id="rId8" Type="http://schemas.openxmlformats.org/officeDocument/2006/relationships/image" Target="../media/image6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jp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1.png"/><Relationship Id="rId4" Type="http://schemas.openxmlformats.org/officeDocument/2006/relationships/image" Target="../media/image13.png"/><Relationship Id="rId5" Type="http://schemas.openxmlformats.org/officeDocument/2006/relationships/hyperlink" Target="https://github.com/emlearn/emlearn/" TargetMode="External"/><Relationship Id="rId6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7.jpg"/><Relationship Id="rId5" Type="http://schemas.openxmlformats.org/officeDocument/2006/relationships/image" Target="../media/image7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emlearn-micropython.readthedocs.io/en/latest/getting_started_browser.html#" TargetMode="External"/><Relationship Id="rId4" Type="http://schemas.openxmlformats.org/officeDocument/2006/relationships/image" Target="../media/image17.jpg"/><Relationship Id="rId5" Type="http://schemas.openxmlformats.org/officeDocument/2006/relationships/image" Target="../media/image68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hyperlink" Target="https://github.com" TargetMode="External"/><Relationship Id="rId10" Type="http://schemas.openxmlformats.org/officeDocument/2006/relationships/hyperlink" Target="https://github.com" TargetMode="External"/><Relationship Id="rId13" Type="http://schemas.openxmlformats.org/officeDocument/2006/relationships/hyperlink" Target="https://github.com" TargetMode="External"/><Relationship Id="rId12" Type="http://schemas.openxmlformats.org/officeDocument/2006/relationships/hyperlink" Target="https://github.com" TargetMode="External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jpg"/><Relationship Id="rId4" Type="http://schemas.openxmlformats.org/officeDocument/2006/relationships/image" Target="../media/image37.png"/><Relationship Id="rId9" Type="http://schemas.openxmlformats.org/officeDocument/2006/relationships/hyperlink" Target="https://github.com" TargetMode="External"/><Relationship Id="rId5" Type="http://schemas.openxmlformats.org/officeDocument/2006/relationships/image" Target="../media/image91.jpg"/><Relationship Id="rId6" Type="http://schemas.openxmlformats.org/officeDocument/2006/relationships/image" Target="../media/image43.jpg"/><Relationship Id="rId7" Type="http://schemas.openxmlformats.org/officeDocument/2006/relationships/image" Target="../media/image112.jpg"/><Relationship Id="rId8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jonnor/spectrometer" TargetMode="External"/><Relationship Id="rId4" Type="http://schemas.openxmlformats.org/officeDocument/2006/relationships/hyperlink" Target="https://github.com/jonnor/spectrometer" TargetMode="External"/><Relationship Id="rId5" Type="http://schemas.openxmlformats.org/officeDocument/2006/relationships/hyperlink" Target="https://github.com/jonnor/spectrometer" TargetMode="External"/><Relationship Id="rId6" Type="http://schemas.openxmlformats.org/officeDocument/2006/relationships/image" Target="../media/image13.png"/><Relationship Id="rId7" Type="http://schemas.openxmlformats.org/officeDocument/2006/relationships/image" Target="../media/image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jpg"/><Relationship Id="rId4" Type="http://schemas.openxmlformats.org/officeDocument/2006/relationships/image" Target="../media/image46.png"/><Relationship Id="rId5" Type="http://schemas.openxmlformats.org/officeDocument/2006/relationships/image" Target="../media/image53.png"/><Relationship Id="rId6" Type="http://schemas.openxmlformats.org/officeDocument/2006/relationships/image" Target="../media/image4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5.jpg"/><Relationship Id="rId4" Type="http://schemas.openxmlformats.org/officeDocument/2006/relationships/image" Target="../media/image8.jpg"/><Relationship Id="rId5" Type="http://schemas.openxmlformats.org/officeDocument/2006/relationships/image" Target="../media/image49.png"/><Relationship Id="rId6" Type="http://schemas.openxmlformats.org/officeDocument/2006/relationships/image" Target="../media/image80.png"/><Relationship Id="rId7" Type="http://schemas.openxmlformats.org/officeDocument/2006/relationships/hyperlink" Target="https://ams-osram.com/products/sensor-solutions/ambient-light-color-spectral-proximity-sensors/ams-as7343-spectral-sensor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ithub.com/jonnor/spectrometer" TargetMode="External"/><Relationship Id="rId4" Type="http://schemas.openxmlformats.org/officeDocument/2006/relationships/hyperlink" Target="https://github.com/miguelgrinberg/microdot" TargetMode="External"/><Relationship Id="rId5" Type="http://schemas.openxmlformats.org/officeDocument/2006/relationships/image" Target="../media/image5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7.png"/><Relationship Id="rId4" Type="http://schemas.openxmlformats.org/officeDocument/2006/relationships/image" Target="../media/image85.png"/><Relationship Id="rId5" Type="http://schemas.openxmlformats.org/officeDocument/2006/relationships/image" Target="../media/image8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png"/><Relationship Id="rId4" Type="http://schemas.openxmlformats.org/officeDocument/2006/relationships/image" Target="../media/image54.png"/><Relationship Id="rId5" Type="http://schemas.openxmlformats.org/officeDocument/2006/relationships/hyperlink" Target="https://scikit-learn.org/stable/lite/lab/?fromURL=http://localhost:8000/static/notebook.ipynb" TargetMode="External"/><Relationship Id="rId6" Type="http://schemas.openxmlformats.org/officeDocument/2006/relationships/hyperlink" Target="https://scikit-learn.org/stable/lite/lab/?fromURL=http://localhost:8000/static/notebook.ipynb" TargetMode="External"/><Relationship Id="rId7" Type="http://schemas.openxmlformats.org/officeDocument/2006/relationships/hyperlink" Target="https://scikit-learn.org/stable/lite/lab/?fromURL=http://localhost:8000/static/notebook.ipynb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ithub.com/jonnor/motion-machine/" TargetMode="External"/><Relationship Id="rId4" Type="http://schemas.openxmlformats.org/officeDocument/2006/relationships/hyperlink" Target="https://github.com/jonnor/motion-machine/" TargetMode="External"/><Relationship Id="rId5" Type="http://schemas.openxmlformats.org/officeDocument/2006/relationships/hyperlink" Target="https://github.com/jonnor/motion-machine/" TargetMode="External"/><Relationship Id="rId6" Type="http://schemas.openxmlformats.org/officeDocument/2006/relationships/image" Target="../media/image13.png"/><Relationship Id="rId7" Type="http://schemas.openxmlformats.org/officeDocument/2006/relationships/image" Target="../media/image9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51.png"/></Relationships>
</file>

<file path=ppt/slides/_rels/slide27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youtube.com/watch?v=vBiji9IFJJs" TargetMode="External"/><Relationship Id="rId10" Type="http://schemas.openxmlformats.org/officeDocument/2006/relationships/hyperlink" Target="https://www.youtube.com/watch?v=vBiji9IFJJs" TargetMode="External"/><Relationship Id="rId12" Type="http://schemas.openxmlformats.org/officeDocument/2006/relationships/hyperlink" Target="https://www.youtube.com/watch?v=vBiji9IFJJs" TargetMode="External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png"/><Relationship Id="rId4" Type="http://schemas.openxmlformats.org/officeDocument/2006/relationships/image" Target="../media/image55.png"/><Relationship Id="rId9" Type="http://schemas.openxmlformats.org/officeDocument/2006/relationships/hyperlink" Target="https://github.com/emlearn/emlearn-micropython/tree/master/examples/har_trees" TargetMode="External"/><Relationship Id="rId5" Type="http://schemas.openxmlformats.org/officeDocument/2006/relationships/hyperlink" Target="https://github.com/emlearn/emlearn-micropython/tree/master/examples/har_trees" TargetMode="External"/><Relationship Id="rId6" Type="http://schemas.openxmlformats.org/officeDocument/2006/relationships/hyperlink" Target="https://github.com/emlearn/emlearn-micropython/tree/master/examples/har_trees" TargetMode="External"/><Relationship Id="rId7" Type="http://schemas.openxmlformats.org/officeDocument/2006/relationships/hyperlink" Target="https://github.com/emlearn/emlearn-micropython/tree/master/examples/har_trees" TargetMode="External"/><Relationship Id="rId8" Type="http://schemas.openxmlformats.org/officeDocument/2006/relationships/hyperlink" Target="https://github.com/emlearn/emlearn-micropython/tree/master/examples/har_trees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9.png"/><Relationship Id="rId4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6.png"/><Relationship Id="rId4" Type="http://schemas.openxmlformats.org/officeDocument/2006/relationships/hyperlink" Target="https://github.com/jonnor/micropython-tsdb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ithub.com/jonnor/micropython-tsdb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comments" Target="../comments/comment1.xml"/><Relationship Id="rId4" Type="http://schemas.openxmlformats.org/officeDocument/2006/relationships/hyperlink" Target="https://github.com/micropython/micropython-lib/blob/master/micropython/umqtt.simple/umqtt/simple.py" TargetMode="External"/><Relationship Id="rId5" Type="http://schemas.openxmlformats.org/officeDocument/2006/relationships/hyperlink" Target="https://docs.micropython.org/en/latest/library/socket.html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github.com/jonnor/micropython-iot-sensors-course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18.jpg"/><Relationship Id="rId7" Type="http://schemas.openxmlformats.org/officeDocument/2006/relationships/image" Target="../media/image17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github.com/emlearn/emlearn-micropython" TargetMode="External"/><Relationship Id="rId4" Type="http://schemas.openxmlformats.org/officeDocument/2006/relationships/hyperlink" Target="mailto:jononor@gmail.com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20.png"/><Relationship Id="rId7" Type="http://schemas.openxmlformats.org/officeDocument/2006/relationships/image" Target="../media/image18.jpg"/><Relationship Id="rId8" Type="http://schemas.openxmlformats.org/officeDocument/2006/relationships/image" Target="../media/image17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2.jpg"/><Relationship Id="rId4" Type="http://schemas.openxmlformats.org/officeDocument/2006/relationships/image" Target="../media/image57.png"/><Relationship Id="rId5" Type="http://schemas.openxmlformats.org/officeDocument/2006/relationships/image" Target="../media/image65.png"/><Relationship Id="rId6" Type="http://schemas.openxmlformats.org/officeDocument/2006/relationships/image" Target="../media/image6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github.com/emlearn/emlearn-micropython/tree/master/examples/har_trees" TargetMode="External"/><Relationship Id="rId4" Type="http://schemas.openxmlformats.org/officeDocument/2006/relationships/hyperlink" Target="https://github.com/jonnor/toothbrush/" TargetMode="External"/><Relationship Id="rId5" Type="http://schemas.openxmlformats.org/officeDocument/2006/relationships/hyperlink" Target="https://github.com/jonnor/toothbrush/" TargetMode="External"/><Relationship Id="rId6" Type="http://schemas.openxmlformats.org/officeDocument/2006/relationships/hyperlink" Target="https://github.com/jonnor/toothbrush/" TargetMode="External"/><Relationship Id="rId7" Type="http://schemas.openxmlformats.org/officeDocument/2006/relationships/image" Target="../media/image9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4.jpg"/><Relationship Id="rId4" Type="http://schemas.openxmlformats.org/officeDocument/2006/relationships/image" Target="../media/image67.png"/><Relationship Id="rId5" Type="http://schemas.openxmlformats.org/officeDocument/2006/relationships/image" Target="../media/image70.png"/><Relationship Id="rId6" Type="http://schemas.openxmlformats.org/officeDocument/2006/relationships/image" Target="../media/image6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emlearn.readthedocs.io/en/latest/model_optimization.html" TargetMode="External"/><Relationship Id="rId4" Type="http://schemas.openxmlformats.org/officeDocument/2006/relationships/hyperlink" Target="https://emlearn.readthedocs.io/en/latest/tree_based_models.html" TargetMode="External"/><Relationship Id="rId5" Type="http://schemas.openxmlformats.org/officeDocument/2006/relationships/image" Target="../media/image1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emlearn.readthedocs.io/en/latest/evaluate.html" TargetMode="External"/><Relationship Id="rId4" Type="http://schemas.openxmlformats.org/officeDocument/2006/relationships/hyperlink" Target="https://emlearn.readthedocs.io/en/latest/auto_examples/trees_hyperparameters.html" TargetMode="External"/><Relationship Id="rId5" Type="http://schemas.openxmlformats.org/officeDocument/2006/relationships/image" Target="../media/image6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1.png"/><Relationship Id="rId4" Type="http://schemas.openxmlformats.org/officeDocument/2006/relationships/image" Target="../media/image7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emlearn.readthedocs.io/en/latest/auto_examples/trees_hyperparameters.html" TargetMode="External"/><Relationship Id="rId4" Type="http://schemas.openxmlformats.org/officeDocument/2006/relationships/image" Target="../media/image7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viper-ide.org/" TargetMode="External"/><Relationship Id="rId4" Type="http://schemas.openxmlformats.org/officeDocument/2006/relationships/image" Target="../media/image10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3.png"/><Relationship Id="rId4" Type="http://schemas.openxmlformats.org/officeDocument/2006/relationships/image" Target="../media/image7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2.jpg"/><Relationship Id="rId4" Type="http://schemas.openxmlformats.org/officeDocument/2006/relationships/image" Target="../media/image76.jpg"/><Relationship Id="rId5" Type="http://schemas.openxmlformats.org/officeDocument/2006/relationships/image" Target="../media/image81.jpg"/><Relationship Id="rId6" Type="http://schemas.openxmlformats.org/officeDocument/2006/relationships/image" Target="../media/image7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9.png"/><Relationship Id="rId4" Type="http://schemas.openxmlformats.org/officeDocument/2006/relationships/image" Target="../media/image13.png"/></Relationships>
</file>

<file path=ppt/slides/_rels/slide56.xml.rels><?xml version="1.0" encoding="UTF-8" standalone="yes"?><Relationships xmlns="http://schemas.openxmlformats.org/package/2006/relationships"><Relationship Id="rId11" Type="http://schemas.openxmlformats.org/officeDocument/2006/relationships/image" Target="../media/image93.jpg"/><Relationship Id="rId10" Type="http://schemas.openxmlformats.org/officeDocument/2006/relationships/image" Target="../media/image95.jp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23.jpg"/><Relationship Id="rId4" Type="http://schemas.openxmlformats.org/officeDocument/2006/relationships/image" Target="../media/image78.png"/><Relationship Id="rId9" Type="http://schemas.openxmlformats.org/officeDocument/2006/relationships/image" Target="../media/image103.png"/><Relationship Id="rId5" Type="http://schemas.openxmlformats.org/officeDocument/2006/relationships/image" Target="../media/image90.png"/><Relationship Id="rId6" Type="http://schemas.openxmlformats.org/officeDocument/2006/relationships/image" Target="../media/image84.png"/><Relationship Id="rId7" Type="http://schemas.openxmlformats.org/officeDocument/2006/relationships/image" Target="../media/image94.png"/><Relationship Id="rId8" Type="http://schemas.openxmlformats.org/officeDocument/2006/relationships/hyperlink" Target="https://github.com/jonnor/toothbrush/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s://github.com/jonnor/embeddedml/blob/master/applications/human-activity-recognition.md" TargetMode="External"/><Relationship Id="rId4" Type="http://schemas.openxmlformats.org/officeDocument/2006/relationships/hyperlink" Target="https://github.com/jonnor/embeddedml/blob/master/applications/animal-activity-recognition.md" TargetMode="External"/><Relationship Id="rId5" Type="http://schemas.openxmlformats.org/officeDocument/2006/relationships/hyperlink" Target="https://github.com/jonnor/embeddedml/blob/master/applications/gesture-recognition.md" TargetMode="External"/><Relationship Id="rId6" Type="http://schemas.openxmlformats.org/officeDocument/2006/relationships/hyperlink" Target="https://github.com/jonnor/condition-monitoring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3.png"/><Relationship Id="rId4" Type="http://schemas.openxmlformats.org/officeDocument/2006/relationships/hyperlink" Target="https://github.com/emlearn/emlearn/tree/master/examples/motion_recognition" TargetMode="External"/><Relationship Id="rId5" Type="http://schemas.openxmlformats.org/officeDocument/2006/relationships/hyperlink" Target="https://zephyrproject-rtos.github.io/zscilib/group___f_u_s_i_o_n___a_l_g_o_r_i_t_h_m_s.html" TargetMode="External"/><Relationship Id="rId6" Type="http://schemas.openxmlformats.org/officeDocument/2006/relationships/image" Target="../media/image13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3.png"/><Relationship Id="rId4" Type="http://schemas.openxmlformats.org/officeDocument/2006/relationships/hyperlink" Target="https://github.com/emlearn/emlearn/tree/master/examples/motion_recognition" TargetMode="External"/><Relationship Id="rId5" Type="http://schemas.openxmlformats.org/officeDocument/2006/relationships/hyperlink" Target="https://github.com/emlearn/emlearn-micropython/blob/master/paper/example.py" TargetMode="External"/><Relationship Id="rId6" Type="http://schemas.openxmlformats.org/officeDocument/2006/relationships/image" Target="../media/image98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29.png"/><Relationship Id="rId4" Type="http://schemas.openxmlformats.org/officeDocument/2006/relationships/image" Target="../media/image126.png"/><Relationship Id="rId5" Type="http://schemas.openxmlformats.org/officeDocument/2006/relationships/hyperlink" Target="https://github.com/emlearn/emlearn-micropython/tree/master/examples/har_trees" TargetMode="External"/><Relationship Id="rId6" Type="http://schemas.openxmlformats.org/officeDocument/2006/relationships/image" Target="../media/image9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7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hyperlink" Target="https://micropython.org" TargetMode="External"/><Relationship Id="rId4" Type="http://schemas.openxmlformats.org/officeDocument/2006/relationships/image" Target="../media/image22.jp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17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10.jpg"/><Relationship Id="rId4" Type="http://schemas.openxmlformats.org/officeDocument/2006/relationships/hyperlink" Target="https://micropython.org/download/?port=esp32" TargetMode="External"/><Relationship Id="rId5" Type="http://schemas.openxmlformats.org/officeDocument/2006/relationships/image" Target="../media/image100.png"/><Relationship Id="rId6" Type="http://schemas.openxmlformats.org/officeDocument/2006/relationships/image" Target="../media/image13.png"/></Relationships>
</file>

<file path=ppt/slides/_rels/slide66.xml.rels><?xml version="1.0" encoding="UTF-8" standalone="yes"?><Relationships xmlns="http://schemas.openxmlformats.org/package/2006/relationships"><Relationship Id="rId10" Type="http://schemas.openxmlformats.org/officeDocument/2006/relationships/image" Target="../media/image17.jp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Relationship Id="rId3" Type="http://schemas.openxmlformats.org/officeDocument/2006/relationships/hyperlink" Target="https://github.com/micropython/micropython-lib" TargetMode="External"/><Relationship Id="rId4" Type="http://schemas.openxmlformats.org/officeDocument/2006/relationships/hyperlink" Target="https://docs.micropython.org/en/latest/genrst/index.html#micropython-differences-from-cpython" TargetMode="External"/><Relationship Id="rId9" Type="http://schemas.openxmlformats.org/officeDocument/2006/relationships/hyperlink" Target="https://github.com/micropython/micropython/issues/7919#issuecomment-1025221807" TargetMode="External"/><Relationship Id="rId5" Type="http://schemas.openxmlformats.org/officeDocument/2006/relationships/hyperlink" Target="https://docs.micropython.org/en/latest/genrst/index.html#micropython-differences-from-cpython" TargetMode="External"/><Relationship Id="rId6" Type="http://schemas.openxmlformats.org/officeDocument/2006/relationships/hyperlink" Target="https://docs.micropython.org/en/latest/genrst/index.html#micropython-differences-from-cpython" TargetMode="External"/><Relationship Id="rId7" Type="http://schemas.openxmlformats.org/officeDocument/2006/relationships/hyperlink" Target="https://github.com/micropython/micropython/issues/7919#issuecomment-1025221807" TargetMode="External"/><Relationship Id="rId8" Type="http://schemas.openxmlformats.org/officeDocument/2006/relationships/hyperlink" Target="https://github.com/micropython/micropython/issues/7919#issuecomment-1025221807" TargetMode="Externa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Relationship Id="rId3" Type="http://schemas.openxmlformats.org/officeDocument/2006/relationships/hyperlink" Target="https://docs.micropython.org/en/latest/library/machine.html" TargetMode="External"/><Relationship Id="rId4" Type="http://schemas.openxmlformats.org/officeDocument/2006/relationships/image" Target="../media/image115.png"/><Relationship Id="rId5" Type="http://schemas.openxmlformats.org/officeDocument/2006/relationships/image" Target="../media/image17.jpg"/><Relationship Id="rId6" Type="http://schemas.openxmlformats.org/officeDocument/2006/relationships/image" Target="../media/image101.png"/></Relationships>
</file>

<file path=ppt/slides/_rels/slide6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4.png"/><Relationship Id="rId10" Type="http://schemas.openxmlformats.org/officeDocument/2006/relationships/image" Target="../media/image117.png"/><Relationship Id="rId13" Type="http://schemas.openxmlformats.org/officeDocument/2006/relationships/image" Target="../media/image105.jpg"/><Relationship Id="rId12" Type="http://schemas.openxmlformats.org/officeDocument/2006/relationships/image" Target="../media/image111.jp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Relationship Id="rId3" Type="http://schemas.openxmlformats.org/officeDocument/2006/relationships/hyperlink" Target="https://docs.micropython.org/en/latest/library/network.WLAN.html" TargetMode="External"/><Relationship Id="rId4" Type="http://schemas.openxmlformats.org/officeDocument/2006/relationships/hyperlink" Target="https://docs.micropython.org/en/latest/library/network.LAN.html" TargetMode="External"/><Relationship Id="rId9" Type="http://schemas.openxmlformats.org/officeDocument/2006/relationships/image" Target="../media/image99.png"/><Relationship Id="rId14" Type="http://schemas.openxmlformats.org/officeDocument/2006/relationships/image" Target="../media/image17.jpg"/><Relationship Id="rId5" Type="http://schemas.openxmlformats.org/officeDocument/2006/relationships/hyperlink" Target="https://github.com/micropython/micropython-lib/blob/master/micropython/bluetooth/aioble/README.md" TargetMode="External"/><Relationship Id="rId6" Type="http://schemas.openxmlformats.org/officeDocument/2006/relationships/hyperlink" Target="https://docs.micropython.org/en/latest/library/bluetooth.html" TargetMode="External"/><Relationship Id="rId7" Type="http://schemas.openxmlformats.org/officeDocument/2006/relationships/hyperlink" Target="https://docs.micropython.org/en/latest/library/network.PPP.html" TargetMode="External"/><Relationship Id="rId8" Type="http://schemas.openxmlformats.org/officeDocument/2006/relationships/hyperlink" Target="https://github.com/micropython/micropython-lib/tree/master/micropython/lora" TargetMode="External"/></Relationships>
</file>

<file path=ppt/slides/_rels/slide69.xml.rels><?xml version="1.0" encoding="UTF-8" standalone="yes"?><Relationships xmlns="http://schemas.openxmlformats.org/package/2006/relationships"><Relationship Id="rId10" Type="http://schemas.openxmlformats.org/officeDocument/2006/relationships/image" Target="../media/image17.jp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Relationship Id="rId3" Type="http://schemas.openxmlformats.org/officeDocument/2006/relationships/hyperlink" Target="https://docs.micropython.org/en/latest/reference/filesystem.html" TargetMode="External"/><Relationship Id="rId4" Type="http://schemas.openxmlformats.org/officeDocument/2006/relationships/hyperlink" Target="https://docs.micropython.org/en/latest/reference/filesystem.html" TargetMode="External"/><Relationship Id="rId9" Type="http://schemas.openxmlformats.org/officeDocument/2006/relationships/hyperlink" Target="https://github.com/jonnor/micropython-npyfile/" TargetMode="External"/><Relationship Id="rId5" Type="http://schemas.openxmlformats.org/officeDocument/2006/relationships/hyperlink" Target="https://docs.micropython.org/en/latest/reference/filesystem.html" TargetMode="External"/><Relationship Id="rId6" Type="http://schemas.openxmlformats.org/officeDocument/2006/relationships/hyperlink" Target="https://docs.micropython.org/en/latest/reference/mpremote.html" TargetMode="External"/><Relationship Id="rId7" Type="http://schemas.openxmlformats.org/officeDocument/2006/relationships/hyperlink" Target="https://docs.micropython.org/en/latest/reference/mpremote.html" TargetMode="External"/><Relationship Id="rId8" Type="http://schemas.openxmlformats.org/officeDocument/2006/relationships/hyperlink" Target="https://docs.micropython.org/en/latest/reference/mpremote.html" TargetMode="Externa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hyperlink" Target="https://example.net/" TargetMode="External"/><Relationship Id="rId4" Type="http://schemas.openxmlformats.org/officeDocument/2006/relationships/image" Target="../media/image17.jpg"/></Relationships>
</file>

<file path=ppt/slides/_rels/slide71.xml.rels><?xml version="1.0" encoding="UTF-8" standalone="yes"?><Relationships xmlns="http://schemas.openxmlformats.org/package/2006/relationships"><Relationship Id="rId11" Type="http://schemas.openxmlformats.org/officeDocument/2006/relationships/hyperlink" Target="https://za.pycon.org/talks/31-sensor-data-processing-on-microcontrollers-with-micropython/" TargetMode="External"/><Relationship Id="rId10" Type="http://schemas.openxmlformats.org/officeDocument/2006/relationships/hyperlink" Target="https://www.youtube.com/watch?v=vBiji9IFJJs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Relationship Id="rId3" Type="http://schemas.openxmlformats.org/officeDocument/2006/relationships/hyperlink" Target="https://docs.micropython.org/en/latest/reference/speed_python.html#the-native-code-emitter" TargetMode="External"/><Relationship Id="rId4" Type="http://schemas.openxmlformats.org/officeDocument/2006/relationships/hyperlink" Target="https://docs.micropython.org/en/latest/reference/speed_python.html#the-native-code-emitter" TargetMode="External"/><Relationship Id="rId9" Type="http://schemas.openxmlformats.org/officeDocument/2006/relationships/image" Target="../media/image17.jpg"/><Relationship Id="rId5" Type="http://schemas.openxmlformats.org/officeDocument/2006/relationships/hyperlink" Target="https://docs.micropython.org/en/latest/reference/speed_python.html#the-native-code-emitter" TargetMode="External"/><Relationship Id="rId6" Type="http://schemas.openxmlformats.org/officeDocument/2006/relationships/hyperlink" Target="https://docs.micropython.org/en/latest/pyboard/tutorial/assembler.html" TargetMode="External"/><Relationship Id="rId7" Type="http://schemas.openxmlformats.org/officeDocument/2006/relationships/hyperlink" Target="https://docs.micropython.org/en/latest/develop/cmodules.html" TargetMode="External"/><Relationship Id="rId8" Type="http://schemas.openxmlformats.org/officeDocument/2006/relationships/hyperlink" Target="https://docs.micropython.org/en/latest/develop/natmod.html" TargetMode="Externa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08.png"/><Relationship Id="rId4" Type="http://schemas.openxmlformats.org/officeDocument/2006/relationships/image" Target="../media/image17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3.png"/><Relationship Id="rId4" Type="http://schemas.openxmlformats.org/officeDocument/2006/relationships/hyperlink" Target="https://openmv.io/" TargetMode="External"/><Relationship Id="rId5" Type="http://schemas.openxmlformats.org/officeDocument/2006/relationships/hyperlink" Target="https://github.com/v923z/micropython-ulab" TargetMode="External"/><Relationship Id="rId6" Type="http://schemas.openxmlformats.org/officeDocument/2006/relationships/image" Target="../media/image17.jpg"/><Relationship Id="rId7" Type="http://schemas.openxmlformats.org/officeDocument/2006/relationships/hyperlink" Target="http://github.com/emlearn/emlearn-micropython" TargetMode="Externa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3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30.png"/><Relationship Id="rId4" Type="http://schemas.openxmlformats.org/officeDocument/2006/relationships/image" Target="../media/image128.png"/><Relationship Id="rId9" Type="http://schemas.openxmlformats.org/officeDocument/2006/relationships/image" Target="../media/image116.png"/><Relationship Id="rId5" Type="http://schemas.openxmlformats.org/officeDocument/2006/relationships/image" Target="../media/image23.png"/><Relationship Id="rId6" Type="http://schemas.openxmlformats.org/officeDocument/2006/relationships/image" Target="../media/image31.jpg"/><Relationship Id="rId7" Type="http://schemas.openxmlformats.org/officeDocument/2006/relationships/image" Target="../media/image60.png"/><Relationship Id="rId8" Type="http://schemas.openxmlformats.org/officeDocument/2006/relationships/image" Target="../media/image19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10.jpg"/><Relationship Id="rId4" Type="http://schemas.openxmlformats.org/officeDocument/2006/relationships/hyperlink" Target="https://micropython.org/download/?port=esp32" TargetMode="External"/><Relationship Id="rId5" Type="http://schemas.openxmlformats.org/officeDocument/2006/relationships/image" Target="../media/image100.png"/><Relationship Id="rId6" Type="http://schemas.openxmlformats.org/officeDocument/2006/relationships/image" Target="../media/image17.jpg"/></Relationships>
</file>

<file path=ppt/slides/_rels/slide77.xml.rels><?xml version="1.0" encoding="UTF-8" standalone="yes"?><Relationships xmlns="http://schemas.openxmlformats.org/package/2006/relationships"><Relationship Id="rId10" Type="http://schemas.openxmlformats.org/officeDocument/2006/relationships/image" Target="../media/image17.jp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Relationship Id="rId3" Type="http://schemas.openxmlformats.org/officeDocument/2006/relationships/hyperlink" Target="https://docs.micropython.org/en/latest/reference/filesystem.html" TargetMode="External"/><Relationship Id="rId4" Type="http://schemas.openxmlformats.org/officeDocument/2006/relationships/hyperlink" Target="https://docs.micropython.org/en/latest/reference/filesystem.html" TargetMode="External"/><Relationship Id="rId9" Type="http://schemas.openxmlformats.org/officeDocument/2006/relationships/hyperlink" Target="https://github.com/jonnor/micropython-npyfile/" TargetMode="External"/><Relationship Id="rId5" Type="http://schemas.openxmlformats.org/officeDocument/2006/relationships/hyperlink" Target="https://docs.micropython.org/en/latest/reference/filesystem.html" TargetMode="External"/><Relationship Id="rId6" Type="http://schemas.openxmlformats.org/officeDocument/2006/relationships/hyperlink" Target="https://docs.micropython.org/en/latest/reference/mpremote.html" TargetMode="External"/><Relationship Id="rId7" Type="http://schemas.openxmlformats.org/officeDocument/2006/relationships/hyperlink" Target="https://docs.micropython.org/en/latest/reference/mpremote.html" TargetMode="External"/><Relationship Id="rId8" Type="http://schemas.openxmlformats.org/officeDocument/2006/relationships/hyperlink" Target="https://docs.micropython.org/en/latest/reference/mpremote.html" TargetMode="Externa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hyperlink" Target="https://example.net/" TargetMode="External"/><Relationship Id="rId4" Type="http://schemas.openxmlformats.org/officeDocument/2006/relationships/image" Target="../media/image17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20.png"/><Relationship Id="rId4" Type="http://schemas.openxmlformats.org/officeDocument/2006/relationships/image" Target="../media/image13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.png"/><Relationship Id="rId4" Type="http://schemas.openxmlformats.org/officeDocument/2006/relationships/image" Target="../media/image125.png"/><Relationship Id="rId5" Type="http://schemas.openxmlformats.org/officeDocument/2006/relationships/hyperlink" Target="https://github.com/jonnor/motion-machine" TargetMode="Externa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hyperlink" Target="https://github.com/miguelgrinberg/microdot" TargetMode="External"/><Relationship Id="rId4" Type="http://schemas.openxmlformats.org/officeDocument/2006/relationships/image" Target="../media/image132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31.png"/><Relationship Id="rId4" Type="http://schemas.openxmlformats.org/officeDocument/2006/relationships/hyperlink" Target="https://github.com/orgs/micropython/discussions/15512" TargetMode="Externa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8.jpg"/><Relationship Id="rId4" Type="http://schemas.openxmlformats.org/officeDocument/2006/relationships/image" Target="../media/image119.png"/><Relationship Id="rId5" Type="http://schemas.openxmlformats.org/officeDocument/2006/relationships/image" Target="../media/image1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ctrTitle"/>
          </p:nvPr>
        </p:nvSpPr>
        <p:spPr>
          <a:xfrm>
            <a:off x="311708" y="253988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Embedding Data Science</a:t>
            </a:r>
            <a:br>
              <a:rPr b="1" lang="en" sz="4800"/>
            </a:br>
            <a:r>
              <a:rPr b="1" lang="en" sz="4800"/>
              <a:t>in IoT devices</a:t>
            </a:r>
            <a:br>
              <a:rPr b="1" lang="en" sz="4800"/>
            </a:br>
            <a:r>
              <a:rPr b="1" lang="en" sz="4800"/>
              <a:t>with MicroPython and emlearn</a:t>
            </a:r>
            <a:endParaRPr sz="4800"/>
          </a:p>
        </p:txBody>
      </p:sp>
      <p:sp>
        <p:nvSpPr>
          <p:cNvPr id="194" name="Google Shape;194;p32"/>
          <p:cNvSpPr txBox="1"/>
          <p:nvPr>
            <p:ph idx="1" type="subTitle"/>
          </p:nvPr>
        </p:nvSpPr>
        <p:spPr>
          <a:xfrm>
            <a:off x="311700" y="3604101"/>
            <a:ext cx="8520600" cy="5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hlink"/>
                </a:solidFill>
                <a:hlinkClick r:id="rId3"/>
              </a:rPr>
              <a:t>https://github.com/emlearn/emlearn-micropython</a:t>
            </a:r>
            <a:endParaRPr b="1" sz="2100"/>
          </a:p>
        </p:txBody>
      </p:sp>
      <p:sp>
        <p:nvSpPr>
          <p:cNvPr id="195" name="Google Shape;195;p32"/>
          <p:cNvSpPr txBox="1"/>
          <p:nvPr>
            <p:ph idx="1" type="subTitle"/>
          </p:nvPr>
        </p:nvSpPr>
        <p:spPr>
          <a:xfrm>
            <a:off x="1470525" y="4373213"/>
            <a:ext cx="44613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Jon Nordby </a:t>
            </a:r>
            <a:r>
              <a:rPr lang="en" sz="1800"/>
              <a:t>&lt;</a:t>
            </a:r>
            <a:r>
              <a:rPr lang="en" sz="1800" u="sng">
                <a:hlinkClick r:id="rId4"/>
              </a:rPr>
              <a:t>jononor@gmail.com</a:t>
            </a:r>
            <a:r>
              <a:rPr lang="en" sz="1800"/>
              <a:t>&gt;</a:t>
            </a:r>
            <a:br>
              <a:rPr lang="en" sz="1800"/>
            </a:br>
            <a:r>
              <a:rPr lang="en" sz="1800"/>
              <a:t>EuroSciPy, Krakow, July 2026</a:t>
            </a:r>
            <a:endParaRPr sz="1800"/>
          </a:p>
        </p:txBody>
      </p:sp>
      <p:pic>
        <p:nvPicPr>
          <p:cNvPr id="196" name="Google Shape;196;p32"/>
          <p:cNvPicPr preferRelativeResize="0"/>
          <p:nvPr/>
        </p:nvPicPr>
        <p:blipFill rotWithShape="1">
          <a:blip r:embed="rId5">
            <a:alphaModFix/>
          </a:blip>
          <a:srcRect b="30" l="0" r="0" t="40"/>
          <a:stretch/>
        </p:blipFill>
        <p:spPr>
          <a:xfrm>
            <a:off x="4001762" y="2419338"/>
            <a:ext cx="1140475" cy="114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2" title="euroscipy_logo.png"/>
          <p:cNvPicPr preferRelativeResize="0"/>
          <p:nvPr/>
        </p:nvPicPr>
        <p:blipFill rotWithShape="1">
          <a:blip r:embed="rId6">
            <a:alphaModFix/>
          </a:blip>
          <a:srcRect b="7786" l="32550" r="31681" t="6839"/>
          <a:stretch/>
        </p:blipFill>
        <p:spPr>
          <a:xfrm>
            <a:off x="5324950" y="4421163"/>
            <a:ext cx="740824" cy="66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2" title="python-logo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38750" y="4425189"/>
            <a:ext cx="691168" cy="7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2"/>
          <p:cNvPicPr preferRelativeResize="0"/>
          <p:nvPr/>
        </p:nvPicPr>
        <p:blipFill rotWithShape="1">
          <a:blip r:embed="rId8">
            <a:alphaModFix/>
          </a:blip>
          <a:srcRect b="20037" l="55534" r="0" t="6162"/>
          <a:stretch/>
        </p:blipFill>
        <p:spPr>
          <a:xfrm>
            <a:off x="6917016" y="4321200"/>
            <a:ext cx="857435" cy="7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ctrTitle"/>
          </p:nvPr>
        </p:nvSpPr>
        <p:spPr>
          <a:xfrm>
            <a:off x="311700" y="88741"/>
            <a:ext cx="8520600" cy="10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Reminder</a:t>
            </a:r>
            <a:endParaRPr sz="4800"/>
          </a:p>
        </p:txBody>
      </p:sp>
      <p:sp>
        <p:nvSpPr>
          <p:cNvPr id="205" name="Google Shape;205;p33"/>
          <p:cNvSpPr txBox="1"/>
          <p:nvPr>
            <p:ph idx="1" type="subTitle"/>
          </p:nvPr>
        </p:nvSpPr>
        <p:spPr>
          <a:xfrm>
            <a:off x="348450" y="1326253"/>
            <a:ext cx="8520600" cy="22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Tutorial: Developing IoT sensors with MicroPython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Wednesday 2026-07-22 </a:t>
            </a:r>
            <a:br>
              <a:rPr b="1" lang="en" sz="2400"/>
            </a:br>
            <a:r>
              <a:rPr b="1" lang="en" sz="2400"/>
              <a:t>11:00–12:30 @ Room 1.19</a:t>
            </a:r>
            <a:endParaRPr b="1"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 sz="2400"/>
            </a:br>
            <a:r>
              <a:rPr lang="en" sz="2400" u="sng">
                <a:solidFill>
                  <a:schemeClr val="hlink"/>
                </a:solidFill>
                <a:hlinkClick r:id="rId3"/>
              </a:rPr>
              <a:t>https://github.com/jonnor/micropython-iot-sensors-course</a:t>
            </a:r>
            <a:r>
              <a:rPr lang="en" sz="2400"/>
              <a:t>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206" name="Google Shape;206;p33"/>
          <p:cNvPicPr preferRelativeResize="0"/>
          <p:nvPr/>
        </p:nvPicPr>
        <p:blipFill rotWithShape="1">
          <a:blip r:embed="rId4">
            <a:alphaModFix/>
          </a:blip>
          <a:srcRect b="30" l="0" r="0" t="40"/>
          <a:stretch/>
        </p:blipFill>
        <p:spPr>
          <a:xfrm>
            <a:off x="5447504" y="4035547"/>
            <a:ext cx="740825" cy="742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3" title="euroscipy_logo.png"/>
          <p:cNvPicPr preferRelativeResize="0"/>
          <p:nvPr/>
        </p:nvPicPr>
        <p:blipFill rotWithShape="1">
          <a:blip r:embed="rId5">
            <a:alphaModFix/>
          </a:blip>
          <a:srcRect b="7786" l="32550" r="31681" t="6839"/>
          <a:stretch/>
        </p:blipFill>
        <p:spPr>
          <a:xfrm>
            <a:off x="2998000" y="4075083"/>
            <a:ext cx="740824" cy="66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3" title="python-logo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1800" y="4079109"/>
            <a:ext cx="691168" cy="7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3"/>
          <p:cNvPicPr preferRelativeResize="0"/>
          <p:nvPr/>
        </p:nvPicPr>
        <p:blipFill rotWithShape="1">
          <a:blip r:embed="rId7">
            <a:alphaModFix/>
          </a:blip>
          <a:srcRect b="20037" l="55534" r="0" t="6162"/>
          <a:stretch/>
        </p:blipFill>
        <p:spPr>
          <a:xfrm>
            <a:off x="4590066" y="3975120"/>
            <a:ext cx="857435" cy="7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4"/>
          <p:cNvPicPr preferRelativeResize="0"/>
          <p:nvPr/>
        </p:nvPicPr>
        <p:blipFill rotWithShape="1">
          <a:blip r:embed="rId4">
            <a:alphaModFix/>
          </a:blip>
          <a:srcRect b="0" l="0" r="27246" t="0"/>
          <a:stretch/>
        </p:blipFill>
        <p:spPr>
          <a:xfrm>
            <a:off x="421625" y="400425"/>
            <a:ext cx="2631475" cy="241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</p:txBody>
      </p:sp>
      <p:sp>
        <p:nvSpPr>
          <p:cNvPr id="221" name="Google Shape;221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5"/>
          <p:cNvSpPr txBox="1"/>
          <p:nvPr>
            <p:ph idx="2" type="body"/>
          </p:nvPr>
        </p:nvSpPr>
        <p:spPr>
          <a:xfrm>
            <a:off x="4802075" y="421050"/>
            <a:ext cx="4229400" cy="445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as a scientist, or an engineer supporting scientists,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become familiar with how to</a:t>
            </a:r>
            <a:br>
              <a:rPr lang="en"/>
            </a:br>
            <a:r>
              <a:rPr b="1" lang="en"/>
              <a:t>create custom sensor systems</a:t>
            </a:r>
            <a:br>
              <a:rPr b="1" lang="en"/>
            </a:br>
            <a:r>
              <a:rPr lang="en"/>
              <a:t>using microcontrollers and </a:t>
            </a:r>
            <a:r>
              <a:rPr b="1" lang="en"/>
              <a:t>MicroPython</a:t>
            </a:r>
            <a:r>
              <a:rPr lang="en"/>
              <a:t>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including on-device data processing</a:t>
            </a:r>
            <a:br>
              <a:rPr lang="en"/>
            </a:br>
            <a:r>
              <a:rPr lang="en"/>
              <a:t>like DSP and machine learning</a:t>
            </a:r>
            <a:br>
              <a:rPr lang="en"/>
            </a:br>
            <a:r>
              <a:rPr b="1" lang="en"/>
              <a:t>using emlearn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>
            <a:off x="311700" y="173963"/>
            <a:ext cx="47331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Motivating</a:t>
            </a:r>
            <a:r>
              <a:rPr lang="en"/>
              <a:t> projects</a:t>
            </a:r>
            <a:endParaRPr/>
          </a:p>
        </p:txBody>
      </p:sp>
      <p:sp>
        <p:nvSpPr>
          <p:cNvPr id="228" name="Google Shape;228;p36"/>
          <p:cNvSpPr txBox="1"/>
          <p:nvPr/>
        </p:nvSpPr>
        <p:spPr>
          <a:xfrm>
            <a:off x="271875" y="1040275"/>
            <a:ext cx="577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9" name="Google Shape;229;p36" title="Q200-1000-SY_2146b910-6820-44e1-866c-10be602f0af8.png"/>
          <p:cNvPicPr preferRelativeResize="0"/>
          <p:nvPr/>
        </p:nvPicPr>
        <p:blipFill rotWithShape="1">
          <a:blip r:embed="rId3">
            <a:alphaModFix/>
          </a:blip>
          <a:srcRect b="20092" l="23784" r="23351" t="21161"/>
          <a:stretch/>
        </p:blipFill>
        <p:spPr>
          <a:xfrm>
            <a:off x="4445753" y="2851056"/>
            <a:ext cx="1775703" cy="197339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6"/>
          <p:cNvSpPr txBox="1"/>
          <p:nvPr/>
        </p:nvSpPr>
        <p:spPr>
          <a:xfrm>
            <a:off x="6475253" y="3349025"/>
            <a:ext cx="2553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Activity Tracker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</a:t>
            </a:r>
            <a:br>
              <a:rPr lang="en" u="sng">
                <a:solidFill>
                  <a:schemeClr val="hlink"/>
                </a:solidFill>
                <a:hlinkClick r:id="rId5"/>
              </a:rPr>
            </a:br>
            <a:r>
              <a:rPr lang="en" u="sng">
                <a:solidFill>
                  <a:schemeClr val="hlink"/>
                </a:solidFill>
                <a:hlinkClick r:id="rId6"/>
              </a:rPr>
              <a:t>jonnor/motion-machine</a:t>
            </a:r>
            <a:r>
              <a:rPr lang="en"/>
              <a:t> </a:t>
            </a:r>
            <a:endParaRPr/>
          </a:p>
        </p:txBody>
      </p:sp>
      <p:pic>
        <p:nvPicPr>
          <p:cNvPr id="231" name="Google Shape;231;p36" title="edible-oils-classification-crop.jpg"/>
          <p:cNvPicPr preferRelativeResize="0"/>
          <p:nvPr/>
        </p:nvPicPr>
        <p:blipFill rotWithShape="1">
          <a:blip r:embed="rId7">
            <a:alphaModFix/>
          </a:blip>
          <a:srcRect b="0" l="2962" r="4170" t="3456"/>
          <a:stretch/>
        </p:blipFill>
        <p:spPr>
          <a:xfrm>
            <a:off x="4055643" y="931425"/>
            <a:ext cx="2187233" cy="17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6"/>
          <p:cNvSpPr txBox="1"/>
          <p:nvPr/>
        </p:nvSpPr>
        <p:spPr>
          <a:xfrm>
            <a:off x="6475253" y="1297925"/>
            <a:ext cx="1884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Spectrometer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8"/>
              </a:rPr>
              <a:t>https://github.com/</a:t>
            </a:r>
            <a:br>
              <a:rPr lang="en" u="sng">
                <a:solidFill>
                  <a:schemeClr val="hlink"/>
                </a:solidFill>
                <a:hlinkClick r:id="rId9"/>
              </a:rPr>
            </a:br>
            <a:r>
              <a:rPr lang="en" u="sng">
                <a:solidFill>
                  <a:schemeClr val="hlink"/>
                </a:solidFill>
                <a:hlinkClick r:id="rId10"/>
              </a:rPr>
              <a:t>jonnor/spectrometer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3" name="Google Shape;233;p36"/>
          <p:cNvSpPr txBox="1"/>
          <p:nvPr/>
        </p:nvSpPr>
        <p:spPr>
          <a:xfrm>
            <a:off x="358575" y="919077"/>
            <a:ext cx="3513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Goal: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Make device that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actively support &amp; encourage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data science workflows</a:t>
            </a:r>
            <a:br>
              <a:rPr lang="en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(with Python)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Workflows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Capture data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Exploratory Data Analysis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Annotating data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Predictive modelling (classification/regression)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Acting on the data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/>
          <p:nvPr/>
        </p:nvSpPr>
        <p:spPr>
          <a:xfrm>
            <a:off x="4388925" y="735175"/>
            <a:ext cx="4363500" cy="4245300"/>
          </a:xfrm>
          <a:prstGeom prst="rect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7"/>
          <p:cNvSpPr txBox="1"/>
          <p:nvPr>
            <p:ph type="title"/>
          </p:nvPr>
        </p:nvSpPr>
        <p:spPr>
          <a:xfrm>
            <a:off x="311700" y="70675"/>
            <a:ext cx="85206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IoT system architectures</a:t>
            </a:r>
            <a:endParaRPr/>
          </a:p>
        </p:txBody>
      </p:sp>
      <p:pic>
        <p:nvPicPr>
          <p:cNvPr id="240" name="Google Shape;240;p37" title="http-webserver-images.png"/>
          <p:cNvPicPr preferRelativeResize="0"/>
          <p:nvPr/>
        </p:nvPicPr>
        <p:blipFill rotWithShape="1">
          <a:blip r:embed="rId3">
            <a:alphaModFix/>
          </a:blip>
          <a:srcRect b="0" l="564" r="9854" t="6725"/>
          <a:stretch/>
        </p:blipFill>
        <p:spPr>
          <a:xfrm>
            <a:off x="4435300" y="1189625"/>
            <a:ext cx="4270751" cy="194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7" title="iot-420046767.png"/>
          <p:cNvPicPr preferRelativeResize="0"/>
          <p:nvPr/>
        </p:nvPicPr>
        <p:blipFill rotWithShape="1">
          <a:blip r:embed="rId4">
            <a:alphaModFix/>
          </a:blip>
          <a:srcRect b="2654" l="31208" r="2365" t="7069"/>
          <a:stretch/>
        </p:blipFill>
        <p:spPr>
          <a:xfrm>
            <a:off x="452775" y="1419200"/>
            <a:ext cx="3553174" cy="28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7"/>
          <p:cNvSpPr txBox="1"/>
          <p:nvPr/>
        </p:nvSpPr>
        <p:spPr>
          <a:xfrm>
            <a:off x="391625" y="702125"/>
            <a:ext cx="367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Cloud-based + </a:t>
            </a:r>
            <a:br>
              <a:rPr b="1" lang="en" sz="1800">
                <a:solidFill>
                  <a:schemeClr val="dk1"/>
                </a:solidFill>
              </a:rPr>
            </a:br>
            <a:r>
              <a:rPr b="1" lang="en" sz="1800">
                <a:solidFill>
                  <a:schemeClr val="dk1"/>
                </a:solidFill>
              </a:rPr>
              <a:t>Wireless Sensor Networks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448125" y="702125"/>
            <a:ext cx="297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Standalone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493225" y="3214838"/>
            <a:ext cx="4115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</a:pPr>
            <a:r>
              <a:rPr lang="en" sz="1800">
                <a:solidFill>
                  <a:schemeClr val="dk2"/>
                </a:solidFill>
              </a:rPr>
              <a:t>Simple. Few system components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</a:pPr>
            <a:r>
              <a:rPr lang="en" sz="1800">
                <a:solidFill>
                  <a:schemeClr val="dk2"/>
                </a:solidFill>
              </a:rPr>
              <a:t>Low-cost. From 10 USD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</a:pPr>
            <a:r>
              <a:rPr lang="en" sz="1800">
                <a:solidFill>
                  <a:schemeClr val="dk2"/>
                </a:solidFill>
              </a:rPr>
              <a:t>Zero running/operating costs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</a:pPr>
            <a:r>
              <a:rPr lang="en" sz="1800">
                <a:solidFill>
                  <a:schemeClr val="dk2"/>
                </a:solidFill>
              </a:rPr>
              <a:t>Internet </a:t>
            </a:r>
            <a:r>
              <a:rPr i="1" lang="en" sz="1800">
                <a:solidFill>
                  <a:schemeClr val="dk2"/>
                </a:solidFill>
              </a:rPr>
              <a:t>optional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!    More resource constrained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8800" y="4287800"/>
            <a:ext cx="3553200" cy="692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Sensor data processing on microcontrollers with MicroPython</a:t>
            </a:r>
            <a:r>
              <a:rPr lang="en" sz="1100"/>
              <a:t> (EuroSciPy 2025)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https://www.youtube.com/watch?v=VmVQu9cygMI</a:t>
            </a:r>
            <a:r>
              <a:rPr lang="en" sz="1100"/>
              <a:t> 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8"/>
          <p:cNvSpPr txBox="1"/>
          <p:nvPr>
            <p:ph type="title"/>
          </p:nvPr>
        </p:nvSpPr>
        <p:spPr>
          <a:xfrm>
            <a:off x="311700" y="445025"/>
            <a:ext cx="8520600" cy="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microcontroller?</a:t>
            </a:r>
            <a:endParaRPr/>
          </a:p>
        </p:txBody>
      </p:sp>
      <p:sp>
        <p:nvSpPr>
          <p:cNvPr id="251" name="Google Shape;251;p38"/>
          <p:cNvSpPr txBox="1"/>
          <p:nvPr/>
        </p:nvSpPr>
        <p:spPr>
          <a:xfrm>
            <a:off x="4260325" y="4378075"/>
            <a:ext cx="460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Espressif ESP32-S3FH4R2 chip: 		2.5 	USD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Waveshare ESP32-S3-Tiny board: 	6 	USD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52" name="Google Shape;25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4350" y="455525"/>
            <a:ext cx="743850" cy="74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8"/>
          <p:cNvPicPr preferRelativeResize="0"/>
          <p:nvPr/>
        </p:nvPicPr>
        <p:blipFill rotWithShape="1">
          <a:blip r:embed="rId4">
            <a:alphaModFix/>
          </a:blip>
          <a:srcRect b="29839" l="32972" r="41537" t="26550"/>
          <a:stretch/>
        </p:blipFill>
        <p:spPr>
          <a:xfrm>
            <a:off x="4572000" y="1097150"/>
            <a:ext cx="3212352" cy="309175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8"/>
          <p:cNvSpPr txBox="1"/>
          <p:nvPr/>
        </p:nvSpPr>
        <p:spPr>
          <a:xfrm>
            <a:off x="311700" y="1290100"/>
            <a:ext cx="49221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Modern microcontroller: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A complete programmable System-on-Chip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Example: ESP32-S3FH4R2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32 bit CPU, 240 Mhz</a:t>
            </a:r>
            <a:br>
              <a:rPr b="1" lang="en" sz="1800">
                <a:solidFill>
                  <a:schemeClr val="dk2"/>
                </a:solidFill>
              </a:rPr>
            </a:br>
            <a:r>
              <a:rPr b="1" lang="en" sz="1800">
                <a:solidFill>
                  <a:schemeClr val="dk2"/>
                </a:solidFill>
              </a:rPr>
              <a:t>Floating Point Unit</a:t>
            </a:r>
            <a:br>
              <a:rPr b="1" lang="en" sz="1800">
                <a:solidFill>
                  <a:schemeClr val="dk2"/>
                </a:solidFill>
              </a:rPr>
            </a:br>
            <a:r>
              <a:rPr b="1" lang="en" sz="1800">
                <a:solidFill>
                  <a:schemeClr val="dk2"/>
                </a:solidFill>
              </a:rPr>
              <a:t>2 MB RAM</a:t>
            </a:r>
            <a:br>
              <a:rPr b="1" lang="en" sz="1800">
                <a:solidFill>
                  <a:schemeClr val="dk2"/>
                </a:solidFill>
              </a:rPr>
            </a:br>
            <a:r>
              <a:rPr b="1" lang="en" sz="1800">
                <a:solidFill>
                  <a:schemeClr val="dk2"/>
                </a:solidFill>
              </a:rPr>
              <a:t>4 MB FLASH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WiFi</a:t>
            </a:r>
            <a:br>
              <a:rPr b="1" lang="en" sz="1800">
                <a:solidFill>
                  <a:schemeClr val="dk2"/>
                </a:solidFill>
              </a:rPr>
            </a:br>
            <a:r>
              <a:rPr b="1" lang="en" sz="1800">
                <a:solidFill>
                  <a:schemeClr val="dk2"/>
                </a:solidFill>
              </a:rPr>
              <a:t>Bluetooth Low Energy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USB-C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MicroPython - Introduction</a:t>
            </a:r>
            <a:endParaRPr/>
          </a:p>
        </p:txBody>
      </p:sp>
      <p:sp>
        <p:nvSpPr>
          <p:cNvPr id="260" name="Google Shape;260;p39"/>
          <p:cNvSpPr txBox="1"/>
          <p:nvPr>
            <p:ph idx="1" type="body"/>
          </p:nvPr>
        </p:nvSpPr>
        <p:spPr>
          <a:xfrm>
            <a:off x="311700" y="1152475"/>
            <a:ext cx="5955900" cy="38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Implements a subset of Python 3.x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devices with 128 kB+ RAM</a:t>
            </a:r>
            <a:br>
              <a:rPr lang="en"/>
            </a:br>
            <a:r>
              <a:rPr lang="en"/>
              <a:t>Supports 8+ microcontroller families directly,</a:t>
            </a:r>
            <a:br>
              <a:rPr lang="en"/>
            </a:br>
            <a:r>
              <a:rPr lang="en"/>
              <a:t>many more via Zephyr RTOS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Mature - started in 2010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Official webpage: </a:t>
            </a:r>
            <a:r>
              <a:rPr b="1" lang="en" u="sng">
                <a:solidFill>
                  <a:schemeClr val="hlink"/>
                </a:solidFill>
                <a:hlinkClick r:id="rId3"/>
              </a:rPr>
              <a:t>https://micropython.org</a:t>
            </a:r>
            <a:endParaRPr b="1"/>
          </a:p>
        </p:txBody>
      </p:sp>
      <p:grpSp>
        <p:nvGrpSpPr>
          <p:cNvPr id="261" name="Google Shape;261;p39"/>
          <p:cNvGrpSpPr/>
          <p:nvPr/>
        </p:nvGrpSpPr>
        <p:grpSpPr>
          <a:xfrm>
            <a:off x="418839" y="3287495"/>
            <a:ext cx="5662508" cy="1187877"/>
            <a:chOff x="311700" y="2492667"/>
            <a:chExt cx="6481809" cy="1359749"/>
          </a:xfrm>
        </p:grpSpPr>
        <p:pic>
          <p:nvPicPr>
            <p:cNvPr id="262" name="Google Shape;262;p39"/>
            <p:cNvPicPr preferRelativeResize="0"/>
            <p:nvPr/>
          </p:nvPicPr>
          <p:blipFill rotWithShape="1">
            <a:blip r:embed="rId4">
              <a:alphaModFix/>
            </a:blip>
            <a:srcRect b="8651" l="1954" r="60186" t="6696"/>
            <a:stretch/>
          </p:blipFill>
          <p:spPr>
            <a:xfrm>
              <a:off x="311700" y="2492667"/>
              <a:ext cx="1010320" cy="1359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3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954210" y="2525384"/>
              <a:ext cx="1294265" cy="1294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3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509374" y="2525404"/>
              <a:ext cx="1294265" cy="1294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39" title="Zephyr_color-13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313175" y="2525375"/>
              <a:ext cx="2480334" cy="129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6" name="Google Shape;266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20249" y="4420525"/>
            <a:ext cx="1154225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9"/>
          <p:cNvSpPr txBox="1"/>
          <p:nvPr>
            <p:ph idx="1" type="body"/>
          </p:nvPr>
        </p:nvSpPr>
        <p:spPr>
          <a:xfrm>
            <a:off x="5614950" y="834600"/>
            <a:ext cx="3261300" cy="20457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MicroPython - 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Python for microcontrollers and embedded linux (FOSDEM 2025)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hlink"/>
                </a:solidFill>
                <a:hlinkClick r:id="rId9"/>
              </a:rPr>
              <a:t>https://www.youtube.com/watch?v=8Ao7DsTkpS4</a:t>
            </a:r>
            <a:r>
              <a:rPr b="1" lang="en"/>
              <a:t> 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MicroPython Data Science ecosystem</a:t>
            </a:r>
            <a:endParaRPr/>
          </a:p>
        </p:txBody>
      </p:sp>
      <p:sp>
        <p:nvSpPr>
          <p:cNvPr id="273" name="Google Shape;273;p40"/>
          <p:cNvSpPr txBox="1"/>
          <p:nvPr>
            <p:ph idx="1" type="body"/>
          </p:nvPr>
        </p:nvSpPr>
        <p:spPr>
          <a:xfrm>
            <a:off x="311700" y="4539475"/>
            <a:ext cx="85206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Libraries existing that implement a lot of embedded-relevant functionality from PyData stack.</a:t>
            </a:r>
            <a:endParaRPr b="1" sz="1400"/>
          </a:p>
        </p:txBody>
      </p:sp>
      <p:pic>
        <p:nvPicPr>
          <p:cNvPr id="274" name="Google Shape;27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4350" y="531725"/>
            <a:ext cx="743850" cy="74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0"/>
          <p:cNvSpPr/>
          <p:nvPr/>
        </p:nvSpPr>
        <p:spPr>
          <a:xfrm>
            <a:off x="1378650" y="2661850"/>
            <a:ext cx="1783500" cy="5007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OpenCV</a:t>
            </a:r>
            <a:endParaRPr sz="1800"/>
          </a:p>
        </p:txBody>
      </p:sp>
      <p:sp>
        <p:nvSpPr>
          <p:cNvPr id="276" name="Google Shape;276;p40"/>
          <p:cNvSpPr/>
          <p:nvPr/>
        </p:nvSpPr>
        <p:spPr>
          <a:xfrm>
            <a:off x="1378650" y="3815325"/>
            <a:ext cx="1783500" cy="5007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numpy</a:t>
            </a:r>
            <a:endParaRPr sz="1800"/>
          </a:p>
        </p:txBody>
      </p:sp>
      <p:sp>
        <p:nvSpPr>
          <p:cNvPr id="277" name="Google Shape;277;p40"/>
          <p:cNvSpPr/>
          <p:nvPr/>
        </p:nvSpPr>
        <p:spPr>
          <a:xfrm>
            <a:off x="1378650" y="1508375"/>
            <a:ext cx="1783500" cy="5007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Tensorflow</a:t>
            </a:r>
            <a:endParaRPr sz="1800"/>
          </a:p>
        </p:txBody>
      </p:sp>
      <p:sp>
        <p:nvSpPr>
          <p:cNvPr id="278" name="Google Shape;278;p40"/>
          <p:cNvSpPr/>
          <p:nvPr/>
        </p:nvSpPr>
        <p:spPr>
          <a:xfrm>
            <a:off x="1378650" y="2085113"/>
            <a:ext cx="1783500" cy="5007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scikit-learn</a:t>
            </a:r>
            <a:endParaRPr sz="1800"/>
          </a:p>
        </p:txBody>
      </p:sp>
      <p:sp>
        <p:nvSpPr>
          <p:cNvPr id="279" name="Google Shape;279;p40"/>
          <p:cNvSpPr/>
          <p:nvPr/>
        </p:nvSpPr>
        <p:spPr>
          <a:xfrm>
            <a:off x="3534925" y="2661857"/>
            <a:ext cx="2350500" cy="5007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OpenMV</a:t>
            </a:r>
            <a:endParaRPr sz="1800"/>
          </a:p>
        </p:txBody>
      </p:sp>
      <p:sp>
        <p:nvSpPr>
          <p:cNvPr id="280" name="Google Shape;280;p40"/>
          <p:cNvSpPr/>
          <p:nvPr/>
        </p:nvSpPr>
        <p:spPr>
          <a:xfrm>
            <a:off x="3534925" y="3262301"/>
            <a:ext cx="2350500" cy="5007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ulab</a:t>
            </a:r>
            <a:endParaRPr sz="1800"/>
          </a:p>
        </p:txBody>
      </p:sp>
      <p:sp>
        <p:nvSpPr>
          <p:cNvPr id="281" name="Google Shape;281;p40"/>
          <p:cNvSpPr/>
          <p:nvPr/>
        </p:nvSpPr>
        <p:spPr>
          <a:xfrm>
            <a:off x="3534925" y="2061400"/>
            <a:ext cx="2350500" cy="5007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emlearn-micropython</a:t>
            </a:r>
            <a:endParaRPr sz="1800"/>
          </a:p>
        </p:txBody>
      </p:sp>
      <p:sp>
        <p:nvSpPr>
          <p:cNvPr id="282" name="Google Shape;282;p40"/>
          <p:cNvSpPr/>
          <p:nvPr/>
        </p:nvSpPr>
        <p:spPr>
          <a:xfrm>
            <a:off x="1378650" y="3238588"/>
            <a:ext cx="1783500" cy="5007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scipy</a:t>
            </a:r>
            <a:endParaRPr sz="1800"/>
          </a:p>
        </p:txBody>
      </p:sp>
      <p:cxnSp>
        <p:nvCxnSpPr>
          <p:cNvPr id="283" name="Google Shape;283;p40"/>
          <p:cNvCxnSpPr/>
          <p:nvPr/>
        </p:nvCxnSpPr>
        <p:spPr>
          <a:xfrm>
            <a:off x="3320625" y="1337075"/>
            <a:ext cx="0" cy="312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40"/>
          <p:cNvSpPr txBox="1"/>
          <p:nvPr>
            <p:ph idx="1" type="body"/>
          </p:nvPr>
        </p:nvSpPr>
        <p:spPr>
          <a:xfrm>
            <a:off x="196300" y="1322294"/>
            <a:ext cx="144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CPython</a:t>
            </a:r>
            <a:endParaRPr b="1"/>
          </a:p>
        </p:txBody>
      </p:sp>
      <p:sp>
        <p:nvSpPr>
          <p:cNvPr id="285" name="Google Shape;285;p40"/>
          <p:cNvSpPr txBox="1"/>
          <p:nvPr>
            <p:ph idx="1" type="body"/>
          </p:nvPr>
        </p:nvSpPr>
        <p:spPr>
          <a:xfrm>
            <a:off x="3534925" y="1322294"/>
            <a:ext cx="32454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MicroPython</a:t>
            </a:r>
            <a:endParaRPr b="1"/>
          </a:p>
        </p:txBody>
      </p:sp>
      <p:sp>
        <p:nvSpPr>
          <p:cNvPr id="286" name="Google Shape;286;p40"/>
          <p:cNvSpPr txBox="1"/>
          <p:nvPr/>
        </p:nvSpPr>
        <p:spPr>
          <a:xfrm>
            <a:off x="5938450" y="2723538"/>
            <a:ext cx="184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https://openmv.io/</a:t>
            </a:r>
            <a:r>
              <a:rPr lang="en" sz="1200"/>
              <a:t> </a:t>
            </a:r>
            <a:endParaRPr sz="1200"/>
          </a:p>
        </p:txBody>
      </p:sp>
      <p:sp>
        <p:nvSpPr>
          <p:cNvPr id="287" name="Google Shape;287;p40"/>
          <p:cNvSpPr txBox="1"/>
          <p:nvPr/>
        </p:nvSpPr>
        <p:spPr>
          <a:xfrm>
            <a:off x="5938450" y="3320000"/>
            <a:ext cx="289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github.com/v923z/micropython-ulab</a:t>
            </a:r>
            <a:r>
              <a:rPr lang="en" sz="1200"/>
              <a:t> </a:t>
            </a:r>
            <a:endParaRPr sz="1200"/>
          </a:p>
        </p:txBody>
      </p:sp>
      <p:pic>
        <p:nvPicPr>
          <p:cNvPr id="288" name="Google Shape;288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20249" y="4420525"/>
            <a:ext cx="1154225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0"/>
          <p:cNvSpPr txBox="1"/>
          <p:nvPr/>
        </p:nvSpPr>
        <p:spPr>
          <a:xfrm>
            <a:off x="5885475" y="2127100"/>
            <a:ext cx="302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7"/>
              </a:rPr>
              <a:t>github.com/emlearn/emlearn-micropython</a:t>
            </a:r>
            <a:r>
              <a:rPr lang="en" sz="1200"/>
              <a:t> 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1"/>
          <p:cNvSpPr txBox="1"/>
          <p:nvPr>
            <p:ph type="title"/>
          </p:nvPr>
        </p:nvSpPr>
        <p:spPr>
          <a:xfrm>
            <a:off x="265500" y="22634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emlearn</a:t>
            </a:r>
            <a:br>
              <a:rPr lang="en"/>
            </a:br>
            <a:r>
              <a:rPr lang="en"/>
              <a:t>for</a:t>
            </a:r>
            <a:br>
              <a:rPr lang="en"/>
            </a:br>
            <a:r>
              <a:rPr lang="en"/>
              <a:t>MicroPython</a:t>
            </a:r>
            <a:endParaRPr/>
          </a:p>
        </p:txBody>
      </p:sp>
      <p:sp>
        <p:nvSpPr>
          <p:cNvPr id="295" name="Google Shape;295;p41"/>
          <p:cNvSpPr txBox="1"/>
          <p:nvPr>
            <p:ph idx="1" type="subTitle"/>
          </p:nvPr>
        </p:nvSpPr>
        <p:spPr>
          <a:xfrm>
            <a:off x="265500" y="37571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</a:t>
            </a:r>
            <a:br>
              <a:rPr lang="en" u="sng">
                <a:solidFill>
                  <a:schemeClr val="hlink"/>
                </a:solidFill>
                <a:hlinkClick r:id="rId4"/>
              </a:rPr>
            </a:br>
            <a:r>
              <a:rPr lang="en" u="sng">
                <a:solidFill>
                  <a:schemeClr val="hlink"/>
                </a:solidFill>
                <a:hlinkClick r:id="rId5"/>
              </a:rPr>
              <a:t>emlearn/emlearn-micropython</a:t>
            </a:r>
            <a:r>
              <a:rPr lang="en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6" name="Google Shape;296;p41"/>
          <p:cNvSpPr txBox="1"/>
          <p:nvPr>
            <p:ph idx="2" type="body"/>
          </p:nvPr>
        </p:nvSpPr>
        <p:spPr>
          <a:xfrm>
            <a:off x="4939500" y="724075"/>
            <a:ext cx="3869700" cy="403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“scikit learn” for microcontrollers</a:t>
            </a:r>
            <a:endParaRPr/>
          </a:p>
        </p:txBody>
      </p:sp>
      <p:pic>
        <p:nvPicPr>
          <p:cNvPr id="297" name="Google Shape;297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6175" y="890425"/>
            <a:ext cx="743850" cy="74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2"/>
          <p:cNvSpPr txBox="1"/>
          <p:nvPr>
            <p:ph idx="2" type="body"/>
          </p:nvPr>
        </p:nvSpPr>
        <p:spPr>
          <a:xfrm>
            <a:off x="253000" y="1552475"/>
            <a:ext cx="2944200" cy="18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Convenient training</a:t>
            </a:r>
            <a:endParaRPr b="1">
              <a:solidFill>
                <a:schemeClr val="dk1"/>
              </a:solidFill>
            </a:endParaRPr>
          </a:p>
          <a:p>
            <a:pPr indent="-254000" lvl="0" marL="342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Model creation </a:t>
            </a:r>
            <a:r>
              <a:rPr b="1" lang="en"/>
              <a:t>in Python</a:t>
            </a:r>
            <a:endParaRPr b="1"/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/>
              <a:t>Use standard libraries</a:t>
            </a:r>
            <a:endParaRPr b="1"/>
          </a:p>
          <a:p>
            <a:pPr indent="-2540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 sz="1400"/>
              <a:t>scikit-learn</a:t>
            </a:r>
            <a:endParaRPr sz="1400"/>
          </a:p>
          <a:p>
            <a:pPr indent="-2540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 sz="1400"/>
              <a:t>Keras</a:t>
            </a:r>
            <a:endParaRPr sz="1400"/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One-line to </a:t>
            </a:r>
            <a:r>
              <a:rPr b="1" lang="en"/>
              <a:t>export to device</a:t>
            </a:r>
            <a:endParaRPr b="1"/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Verification tools included</a:t>
            </a:r>
            <a:endParaRPr/>
          </a:p>
        </p:txBody>
      </p:sp>
      <p:sp>
        <p:nvSpPr>
          <p:cNvPr id="303" name="Google Shape;303;p42"/>
          <p:cNvSpPr txBox="1"/>
          <p:nvPr>
            <p:ph idx="4294967295" type="body"/>
          </p:nvPr>
        </p:nvSpPr>
        <p:spPr>
          <a:xfrm>
            <a:off x="6428400" y="908975"/>
            <a:ext cx="2944200" cy="1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Embedded Friendly</a:t>
            </a:r>
            <a:endParaRPr b="1" sz="1400">
              <a:solidFill>
                <a:schemeClr val="dk1"/>
              </a:solidFill>
            </a:endParaRPr>
          </a:p>
          <a:p>
            <a:pPr indent="-2540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/>
              <a:t>Portable C99</a:t>
            </a:r>
            <a:r>
              <a:rPr lang="en" sz="1400"/>
              <a:t> code</a:t>
            </a:r>
            <a:endParaRPr sz="1400"/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/>
              <a:t>No dynamic allocations</a:t>
            </a:r>
            <a:endParaRPr sz="1400"/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/>
              <a:t>Header-only</a:t>
            </a:r>
            <a:endParaRPr b="1" sz="1400"/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/>
              <a:t>High </a:t>
            </a:r>
            <a:r>
              <a:rPr b="1" lang="en" sz="1400"/>
              <a:t>test coverage</a:t>
            </a:r>
            <a:endParaRPr b="1" sz="1400"/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/>
              <a:t>Integer/</a:t>
            </a:r>
            <a:r>
              <a:rPr b="1" lang="en" sz="1400"/>
              <a:t>fixed-point</a:t>
            </a:r>
            <a:r>
              <a:rPr lang="en" sz="1400"/>
              <a:t> math *</a:t>
            </a:r>
            <a:endParaRPr sz="1400"/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/>
              <a:t>Small</a:t>
            </a:r>
            <a:r>
              <a:rPr lang="en" sz="1400"/>
              <a:t>. 2 kB+ FLASH</a:t>
            </a:r>
            <a:endParaRPr sz="1400"/>
          </a:p>
        </p:txBody>
      </p:sp>
      <p:pic>
        <p:nvPicPr>
          <p:cNvPr id="304" name="Google Shape;30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1738" y="3165513"/>
            <a:ext cx="1882446" cy="61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0350" y="3969310"/>
            <a:ext cx="1670751" cy="891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42"/>
          <p:cNvGrpSpPr/>
          <p:nvPr/>
        </p:nvGrpSpPr>
        <p:grpSpPr>
          <a:xfrm>
            <a:off x="344950" y="3649122"/>
            <a:ext cx="2420200" cy="1397578"/>
            <a:chOff x="192550" y="2658522"/>
            <a:chExt cx="2420200" cy="1397578"/>
          </a:xfrm>
        </p:grpSpPr>
        <p:pic>
          <p:nvPicPr>
            <p:cNvPr id="307" name="Google Shape;307;p42"/>
            <p:cNvPicPr preferRelativeResize="0"/>
            <p:nvPr/>
          </p:nvPicPr>
          <p:blipFill rotWithShape="1">
            <a:blip r:embed="rId5">
              <a:alphaModFix/>
            </a:blip>
            <a:srcRect b="20923" l="17786" r="18075" t="17900"/>
            <a:stretch/>
          </p:blipFill>
          <p:spPr>
            <a:xfrm>
              <a:off x="192550" y="2660213"/>
              <a:ext cx="1131024" cy="606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4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81725" y="2658522"/>
              <a:ext cx="1131023" cy="6102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4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146750" y="3368587"/>
              <a:ext cx="1466000" cy="61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4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41175" y="3445875"/>
              <a:ext cx="556026" cy="610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1" name="Google Shape;311;p42"/>
          <p:cNvSpPr txBox="1"/>
          <p:nvPr>
            <p:ph idx="4294967295" type="body"/>
          </p:nvPr>
        </p:nvSpPr>
        <p:spPr>
          <a:xfrm>
            <a:off x="6464300" y="3142975"/>
            <a:ext cx="2944200" cy="1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Convenient &amp; Efficient</a:t>
            </a:r>
            <a:endParaRPr b="1" sz="1400">
              <a:solidFill>
                <a:schemeClr val="dk1"/>
              </a:solidFill>
            </a:endParaRPr>
          </a:p>
          <a:p>
            <a:pPr indent="-2540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/>
              <a:t>Portable MicroPython</a:t>
            </a:r>
            <a:endParaRPr sz="1400"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/>
              <a:t>Single .mpy file</a:t>
            </a:r>
            <a:endParaRPr sz="1400"/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/>
              <a:t>No dynamic allocations</a:t>
            </a:r>
            <a:endParaRPr b="1" sz="1400"/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/>
              <a:t>High </a:t>
            </a:r>
            <a:r>
              <a:rPr b="1" lang="en" sz="1400"/>
              <a:t>test coverage</a:t>
            </a:r>
            <a:endParaRPr b="1" sz="1400"/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/>
              <a:t>Integer/</a:t>
            </a:r>
            <a:r>
              <a:rPr b="1" lang="en" sz="1400"/>
              <a:t>fixed-point</a:t>
            </a:r>
            <a:r>
              <a:rPr lang="en" sz="1400"/>
              <a:t> math *</a:t>
            </a:r>
            <a:endParaRPr sz="1400"/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/>
              <a:t>Small</a:t>
            </a:r>
            <a:r>
              <a:rPr lang="en" sz="1400"/>
              <a:t>. 2 kB+ FLASH</a:t>
            </a:r>
            <a:endParaRPr sz="1400"/>
          </a:p>
        </p:txBody>
      </p:sp>
      <p:cxnSp>
        <p:nvCxnSpPr>
          <p:cNvPr id="312" name="Google Shape;312;p42"/>
          <p:cNvCxnSpPr/>
          <p:nvPr/>
        </p:nvCxnSpPr>
        <p:spPr>
          <a:xfrm>
            <a:off x="3826300" y="2895750"/>
            <a:ext cx="4859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42"/>
          <p:cNvCxnSpPr/>
          <p:nvPr/>
        </p:nvCxnSpPr>
        <p:spPr>
          <a:xfrm>
            <a:off x="3445575" y="201625"/>
            <a:ext cx="0" cy="458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4" name="Google Shape;314;p42"/>
          <p:cNvGrpSpPr/>
          <p:nvPr/>
        </p:nvGrpSpPr>
        <p:grpSpPr>
          <a:xfrm>
            <a:off x="3672024" y="844350"/>
            <a:ext cx="2541587" cy="610225"/>
            <a:chOff x="3748224" y="844350"/>
            <a:chExt cx="2541587" cy="610225"/>
          </a:xfrm>
        </p:grpSpPr>
        <p:pic>
          <p:nvPicPr>
            <p:cNvPr id="315" name="Google Shape;315;p42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748224" y="844350"/>
              <a:ext cx="1881882" cy="61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p42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5768701" y="856329"/>
              <a:ext cx="521111" cy="586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7" name="Google Shape;317;p42"/>
          <p:cNvSpPr txBox="1"/>
          <p:nvPr/>
        </p:nvSpPr>
        <p:spPr>
          <a:xfrm>
            <a:off x="253000" y="118850"/>
            <a:ext cx="247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1. Train on PC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318" name="Google Shape;318;p42"/>
          <p:cNvSpPr txBox="1"/>
          <p:nvPr/>
        </p:nvSpPr>
        <p:spPr>
          <a:xfrm>
            <a:off x="3757479" y="118850"/>
            <a:ext cx="322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2. Deploy on device</a:t>
            </a:r>
            <a:endParaRPr b="1" sz="1800">
              <a:solidFill>
                <a:schemeClr val="dk1"/>
              </a:solidFill>
            </a:endParaRPr>
          </a:p>
        </p:txBody>
      </p:sp>
      <p:grpSp>
        <p:nvGrpSpPr>
          <p:cNvPr id="319" name="Google Shape;319;p42"/>
          <p:cNvGrpSpPr/>
          <p:nvPr/>
        </p:nvGrpSpPr>
        <p:grpSpPr>
          <a:xfrm>
            <a:off x="4063236" y="1669429"/>
            <a:ext cx="1882450" cy="999470"/>
            <a:chOff x="4139436" y="1669429"/>
            <a:chExt cx="1882450" cy="999470"/>
          </a:xfrm>
        </p:grpSpPr>
        <p:pic>
          <p:nvPicPr>
            <p:cNvPr id="320" name="Google Shape;320;p42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5179773" y="1691995"/>
              <a:ext cx="656005" cy="44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42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139436" y="1669429"/>
              <a:ext cx="968970" cy="502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p42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4993650" y="2271361"/>
              <a:ext cx="1028236" cy="384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42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4396334" y="2222459"/>
              <a:ext cx="446436" cy="4464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4" name="Google Shape;324;p42"/>
          <p:cNvSpPr txBox="1"/>
          <p:nvPr/>
        </p:nvSpPr>
        <p:spPr>
          <a:xfrm>
            <a:off x="488800" y="908975"/>
            <a:ext cx="224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pip install emlearn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3"/>
          <p:cNvSpPr txBox="1"/>
          <p:nvPr>
            <p:ph type="title"/>
          </p:nvPr>
        </p:nvSpPr>
        <p:spPr>
          <a:xfrm>
            <a:off x="311700" y="445025"/>
            <a:ext cx="852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Supported tasks</a:t>
            </a:r>
            <a:endParaRPr/>
          </a:p>
        </p:txBody>
      </p:sp>
      <p:sp>
        <p:nvSpPr>
          <p:cNvPr id="330" name="Google Shape;330;p43"/>
          <p:cNvSpPr txBox="1"/>
          <p:nvPr>
            <p:ph idx="2" type="body"/>
          </p:nvPr>
        </p:nvSpPr>
        <p:spPr>
          <a:xfrm>
            <a:off x="4785600" y="1581950"/>
            <a:ext cx="4046700" cy="21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1800"/>
              <a:t>Supports the most common tasks</a:t>
            </a:r>
            <a:br>
              <a:rPr lang="en" sz="1800"/>
            </a:br>
            <a:r>
              <a:rPr lang="en" sz="1800"/>
              <a:t>for embedded</a:t>
            </a:r>
            <a:br>
              <a:rPr lang="en" sz="1800"/>
            </a:br>
            <a:r>
              <a:rPr lang="en" sz="1800"/>
              <a:t>&amp; sensor data use cases. 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Classification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Regression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Anomaly Detection</a:t>
            </a:r>
            <a:endParaRPr sz="1800"/>
          </a:p>
        </p:txBody>
      </p:sp>
      <p:pic>
        <p:nvPicPr>
          <p:cNvPr id="331" name="Google Shape;33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900" y="1111550"/>
            <a:ext cx="4157100" cy="381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4350" y="531725"/>
            <a:ext cx="743850" cy="74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emlearn-micropython:</a:t>
            </a:r>
            <a:br>
              <a:rPr lang="en"/>
            </a:br>
            <a:r>
              <a:rPr lang="en"/>
              <a:t>MicroPython bindings for emlearn</a:t>
            </a:r>
            <a:endParaRPr/>
          </a:p>
        </p:txBody>
      </p:sp>
      <p:sp>
        <p:nvSpPr>
          <p:cNvPr id="338" name="Google Shape;338;p44"/>
          <p:cNvSpPr txBox="1"/>
          <p:nvPr>
            <p:ph idx="1" type="body"/>
          </p:nvPr>
        </p:nvSpPr>
        <p:spPr>
          <a:xfrm>
            <a:off x="311700" y="1769025"/>
            <a:ext cx="6494700" cy="32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Modules installable at runtime (.mpy)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1 - 10 kB in size</a:t>
            </a:r>
            <a:endParaRPr/>
          </a:p>
        </p:txBody>
      </p:sp>
      <p:pic>
        <p:nvPicPr>
          <p:cNvPr id="339" name="Google Shape;33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7625" y="958475"/>
            <a:ext cx="3464675" cy="173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4350" y="531725"/>
            <a:ext cx="743850" cy="74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4"/>
          <p:cNvSpPr txBox="1"/>
          <p:nvPr>
            <p:ph idx="4294967295" type="body"/>
          </p:nvPr>
        </p:nvSpPr>
        <p:spPr>
          <a:xfrm>
            <a:off x="361000" y="1361700"/>
            <a:ext cx="4888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800"/>
              <a:buNone/>
            </a:pPr>
            <a:r>
              <a:rPr b="1" lang="en" sz="1400" u="sng">
                <a:solidFill>
                  <a:schemeClr val="hlink"/>
                </a:solidFill>
                <a:hlinkClick r:id="rId5"/>
              </a:rPr>
              <a:t>https://github.com/emlearn/emlearn-micropython/</a:t>
            </a:r>
            <a:r>
              <a:rPr b="1" lang="en" sz="1400"/>
              <a:t> </a:t>
            </a:r>
            <a:endParaRPr b="1" sz="1400"/>
          </a:p>
        </p:txBody>
      </p:sp>
      <p:sp>
        <p:nvSpPr>
          <p:cNvPr id="342" name="Google Shape;342;p44"/>
          <p:cNvSpPr txBox="1"/>
          <p:nvPr/>
        </p:nvSpPr>
        <p:spPr>
          <a:xfrm>
            <a:off x="6626500" y="1518588"/>
            <a:ext cx="200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5x - 20x faster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than plain Python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43" name="Google Shape;343;p44" title="emlearn-micropython-modules.png"/>
          <p:cNvPicPr preferRelativeResize="0"/>
          <p:nvPr/>
        </p:nvPicPr>
        <p:blipFill rotWithShape="1">
          <a:blip r:embed="rId6">
            <a:alphaModFix/>
          </a:blip>
          <a:srcRect b="6309" l="0" r="0" t="21510"/>
          <a:stretch/>
        </p:blipFill>
        <p:spPr>
          <a:xfrm>
            <a:off x="399225" y="2758375"/>
            <a:ext cx="8433077" cy="219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4"/>
          <p:cNvSpPr/>
          <p:nvPr/>
        </p:nvSpPr>
        <p:spPr>
          <a:xfrm>
            <a:off x="5749775" y="2758375"/>
            <a:ext cx="2976600" cy="2353500"/>
          </a:xfrm>
          <a:prstGeom prst="rect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4"/>
          <p:cNvSpPr txBox="1"/>
          <p:nvPr/>
        </p:nvSpPr>
        <p:spPr>
          <a:xfrm>
            <a:off x="6660275" y="4650050"/>
            <a:ext cx="211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8000"/>
                </a:solidFill>
              </a:rPr>
              <a:t>PyData friendly</a:t>
            </a:r>
            <a:endParaRPr b="1" sz="1800">
              <a:solidFill>
                <a:srgbClr val="008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models using</a:t>
            </a:r>
            <a:r>
              <a:rPr lang="en"/>
              <a:t> emlearn-micropython</a:t>
            </a:r>
            <a:endParaRPr/>
          </a:p>
        </p:txBody>
      </p:sp>
      <p:sp>
        <p:nvSpPr>
          <p:cNvPr id="351" name="Google Shape;351;p45"/>
          <p:cNvSpPr txBox="1"/>
          <p:nvPr>
            <p:ph idx="1" type="body"/>
          </p:nvPr>
        </p:nvSpPr>
        <p:spPr>
          <a:xfrm>
            <a:off x="311700" y="1152475"/>
            <a:ext cx="5907000" cy="3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Supported since April 2026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Designed for low RAM. From 10-100 kB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Iterative training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Tested on device. Mostly ESP32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Classification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emlearn_extratrees: Extremely Randomized Trees</a:t>
            </a:r>
            <a:br>
              <a:rPr lang="en"/>
            </a:br>
            <a:r>
              <a:rPr lang="en"/>
              <a:t>emlearn_logreg: Logistic Regression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Regression</a:t>
            </a:r>
            <a:br>
              <a:rPr lang="en"/>
            </a:br>
            <a:r>
              <a:rPr lang="en"/>
              <a:t>emlearn_linreg: Linear Regression</a:t>
            </a:r>
            <a:br>
              <a:rPr lang="en"/>
            </a:br>
            <a:r>
              <a:rPr lang="en"/>
              <a:t>emlearn_plsr: Partial Least Squares Regression</a:t>
            </a:r>
            <a:endParaRPr/>
          </a:p>
        </p:txBody>
      </p:sp>
      <p:pic>
        <p:nvPicPr>
          <p:cNvPr id="352" name="Google Shape;35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4350" y="531725"/>
            <a:ext cx="743850" cy="74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0249" y="4420525"/>
            <a:ext cx="1154225" cy="6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5" title="Screenshot from 2026-07-21 12-11-46.png"/>
          <p:cNvPicPr preferRelativeResize="0"/>
          <p:nvPr/>
        </p:nvPicPr>
        <p:blipFill rotWithShape="1">
          <a:blip r:embed="rId5">
            <a:alphaModFix/>
          </a:blip>
          <a:srcRect b="13022" l="4977" r="61952" t="38007"/>
          <a:stretch/>
        </p:blipFill>
        <p:spPr>
          <a:xfrm>
            <a:off x="5540575" y="1123700"/>
            <a:ext cx="3499550" cy="32385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6"/>
          <p:cNvSpPr txBox="1"/>
          <p:nvPr>
            <p:ph type="title"/>
          </p:nvPr>
        </p:nvSpPr>
        <p:spPr>
          <a:xfrm>
            <a:off x="311700" y="119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Browser support in emlearn-micropython</a:t>
            </a:r>
            <a:endParaRPr/>
          </a:p>
        </p:txBody>
      </p:sp>
      <p:sp>
        <p:nvSpPr>
          <p:cNvPr id="360" name="Google Shape;360;p46"/>
          <p:cNvSpPr txBox="1"/>
          <p:nvPr>
            <p:ph idx="1" type="body"/>
          </p:nvPr>
        </p:nvSpPr>
        <p:spPr>
          <a:xfrm>
            <a:off x="311700" y="792875"/>
            <a:ext cx="6075900" cy="42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Supported since May 2026 (</a:t>
            </a:r>
            <a:r>
              <a:rPr lang="en"/>
              <a:t>0.11.1)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Run models/pipelines client-side browser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 training or interactive analysis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Powered by WebAssembly + PyScript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700 kB bundle. Includes MicroPython!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be served directly from device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Documentation:</a:t>
            </a:r>
            <a:br>
              <a:rPr lang="en"/>
            </a:br>
            <a:r>
              <a:rPr lang="en" sz="1200" u="sng">
                <a:solidFill>
                  <a:schemeClr val="hlink"/>
                </a:solidFill>
                <a:hlinkClick r:id="rId3"/>
              </a:rPr>
              <a:t>https://emlearn-micropython.readthedocs.io/en/latest/getting_started_browser.html#</a:t>
            </a:r>
            <a:r>
              <a:rPr lang="en" sz="1200"/>
              <a:t> </a:t>
            </a:r>
            <a:endParaRPr b="1" sz="1200"/>
          </a:p>
        </p:txBody>
      </p:sp>
      <p:pic>
        <p:nvPicPr>
          <p:cNvPr id="361" name="Google Shape;361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0249" y="4420525"/>
            <a:ext cx="1154225" cy="6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6" title="Screenshot from 2026-07-21 10-30-30.png"/>
          <p:cNvPicPr preferRelativeResize="0"/>
          <p:nvPr/>
        </p:nvPicPr>
        <p:blipFill rotWithShape="1">
          <a:blip r:embed="rId5">
            <a:alphaModFix/>
          </a:blip>
          <a:srcRect b="14044" l="425" r="45783" t="5056"/>
          <a:stretch/>
        </p:blipFill>
        <p:spPr>
          <a:xfrm>
            <a:off x="5137725" y="714525"/>
            <a:ext cx="3919598" cy="36838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47"/>
          <p:cNvPicPr preferRelativeResize="0"/>
          <p:nvPr/>
        </p:nvPicPr>
        <p:blipFill rotWithShape="1">
          <a:blip r:embed="rId3">
            <a:alphaModFix/>
          </a:blip>
          <a:srcRect b="13572" l="8945" r="46507" t="23858"/>
          <a:stretch/>
        </p:blipFill>
        <p:spPr>
          <a:xfrm>
            <a:off x="5017154" y="1292350"/>
            <a:ext cx="913200" cy="12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7"/>
          <p:cNvSpPr txBox="1"/>
          <p:nvPr>
            <p:ph type="title"/>
          </p:nvPr>
        </p:nvSpPr>
        <p:spPr>
          <a:xfrm>
            <a:off x="553113" y="102750"/>
            <a:ext cx="21192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Activity</a:t>
            </a:r>
            <a:br>
              <a:rPr lang="en"/>
            </a:br>
            <a:r>
              <a:rPr lang="en"/>
              <a:t>tracker</a:t>
            </a:r>
            <a:endParaRPr/>
          </a:p>
        </p:txBody>
      </p:sp>
      <p:pic>
        <p:nvPicPr>
          <p:cNvPr id="369" name="Google Shape;369;p47"/>
          <p:cNvPicPr preferRelativeResize="0"/>
          <p:nvPr/>
        </p:nvPicPr>
        <p:blipFill rotWithShape="1">
          <a:blip r:embed="rId4">
            <a:alphaModFix/>
          </a:blip>
          <a:srcRect b="0" l="53065" r="0" t="49620"/>
          <a:stretch/>
        </p:blipFill>
        <p:spPr>
          <a:xfrm>
            <a:off x="304937" y="2542748"/>
            <a:ext cx="1942025" cy="1424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7"/>
          <p:cNvPicPr preferRelativeResize="0"/>
          <p:nvPr/>
        </p:nvPicPr>
        <p:blipFill rotWithShape="1">
          <a:blip r:embed="rId5">
            <a:alphaModFix/>
          </a:blip>
          <a:srcRect b="4915" l="13993" r="12048" t="5230"/>
          <a:stretch/>
        </p:blipFill>
        <p:spPr>
          <a:xfrm>
            <a:off x="602611" y="1268550"/>
            <a:ext cx="1276977" cy="13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7"/>
          <p:cNvSpPr txBox="1"/>
          <p:nvPr>
            <p:ph type="title"/>
          </p:nvPr>
        </p:nvSpPr>
        <p:spPr>
          <a:xfrm>
            <a:off x="2630959" y="102750"/>
            <a:ext cx="17466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Noise</a:t>
            </a:r>
            <a:br>
              <a:rPr lang="en"/>
            </a:br>
            <a:r>
              <a:rPr lang="en"/>
              <a:t>monitor</a:t>
            </a:r>
            <a:endParaRPr/>
          </a:p>
        </p:txBody>
      </p:sp>
      <p:pic>
        <p:nvPicPr>
          <p:cNvPr id="372" name="Google Shape;372;p47"/>
          <p:cNvPicPr preferRelativeResize="0"/>
          <p:nvPr/>
        </p:nvPicPr>
        <p:blipFill rotWithShape="1">
          <a:blip r:embed="rId3">
            <a:alphaModFix/>
          </a:blip>
          <a:srcRect b="2957" l="8945" r="46510" t="23858"/>
          <a:stretch/>
        </p:blipFill>
        <p:spPr>
          <a:xfrm>
            <a:off x="2955943" y="1292350"/>
            <a:ext cx="913179" cy="14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7"/>
          <p:cNvSpPr txBox="1"/>
          <p:nvPr>
            <p:ph type="title"/>
          </p:nvPr>
        </p:nvSpPr>
        <p:spPr>
          <a:xfrm>
            <a:off x="4729604" y="102750"/>
            <a:ext cx="17466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Image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Classifier</a:t>
            </a:r>
            <a:endParaRPr/>
          </a:p>
        </p:txBody>
      </p:sp>
      <p:cxnSp>
        <p:nvCxnSpPr>
          <p:cNvPr id="374" name="Google Shape;374;p47"/>
          <p:cNvCxnSpPr/>
          <p:nvPr/>
        </p:nvCxnSpPr>
        <p:spPr>
          <a:xfrm>
            <a:off x="4433604" y="368157"/>
            <a:ext cx="0" cy="4638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5" name="Google Shape;375;p47"/>
          <p:cNvSpPr txBox="1"/>
          <p:nvPr/>
        </p:nvSpPr>
        <p:spPr>
          <a:xfrm>
            <a:off x="468863" y="867425"/>
            <a:ext cx="174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Accelerometer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6" name="Google Shape;376;p47"/>
          <p:cNvSpPr txBox="1"/>
          <p:nvPr/>
        </p:nvSpPr>
        <p:spPr>
          <a:xfrm>
            <a:off x="2604997" y="847550"/>
            <a:ext cx="174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Microphone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77" name="Google Shape;377;p47"/>
          <p:cNvPicPr preferRelativeResize="0"/>
          <p:nvPr/>
        </p:nvPicPr>
        <p:blipFill rotWithShape="1">
          <a:blip r:embed="rId6">
            <a:alphaModFix/>
          </a:blip>
          <a:srcRect b="11642" l="19929" r="56896" t="67004"/>
          <a:stretch/>
        </p:blipFill>
        <p:spPr>
          <a:xfrm>
            <a:off x="2286600" y="2716876"/>
            <a:ext cx="2076000" cy="1075888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7"/>
          <p:cNvSpPr txBox="1"/>
          <p:nvPr/>
        </p:nvSpPr>
        <p:spPr>
          <a:xfrm>
            <a:off x="4780592" y="847550"/>
            <a:ext cx="174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Camera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79" name="Google Shape;379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7579" y="2193800"/>
            <a:ext cx="1425433" cy="1424151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7"/>
          <p:cNvSpPr txBox="1"/>
          <p:nvPr/>
        </p:nvSpPr>
        <p:spPr>
          <a:xfrm>
            <a:off x="4563542" y="3506675"/>
            <a:ext cx="1746600" cy="615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if is_MyCat(img):</a:t>
            </a:r>
            <a:br>
              <a:rPr b="1" lang="en">
                <a:solidFill>
                  <a:schemeClr val="dk2"/>
                </a:solidFill>
              </a:rPr>
            </a:br>
            <a:r>
              <a:rPr b="1" lang="en">
                <a:solidFill>
                  <a:schemeClr val="dk2"/>
                </a:solidFill>
              </a:rPr>
              <a:t>   open_door()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381" name="Google Shape;381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8420" y="4216975"/>
            <a:ext cx="614506" cy="6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9599" y="4216975"/>
            <a:ext cx="614506" cy="6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41429" y="4216975"/>
            <a:ext cx="614506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7"/>
          <p:cNvSpPr txBox="1"/>
          <p:nvPr/>
        </p:nvSpPr>
        <p:spPr>
          <a:xfrm>
            <a:off x="910988" y="4179700"/>
            <a:ext cx="136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Random Forest classifier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emlearn_trees</a:t>
            </a:r>
            <a:br>
              <a:rPr lang="en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</p:txBody>
      </p:sp>
      <p:sp>
        <p:nvSpPr>
          <p:cNvPr id="385" name="Google Shape;385;p47"/>
          <p:cNvSpPr txBox="1"/>
          <p:nvPr/>
        </p:nvSpPr>
        <p:spPr>
          <a:xfrm>
            <a:off x="3059272" y="4179700"/>
            <a:ext cx="142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Infinite Impulse Response filters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emlearn_iir</a:t>
            </a:r>
            <a:br>
              <a:rPr lang="en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</p:txBody>
      </p:sp>
      <p:sp>
        <p:nvSpPr>
          <p:cNvPr id="386" name="Google Shape;386;p47"/>
          <p:cNvSpPr txBox="1"/>
          <p:nvPr/>
        </p:nvSpPr>
        <p:spPr>
          <a:xfrm>
            <a:off x="5229886" y="4159014"/>
            <a:ext cx="142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Convolutional Neural Network</a:t>
            </a:r>
            <a:br>
              <a:rPr b="1"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emlearn_cnn</a:t>
            </a:r>
            <a:br>
              <a:rPr lang="en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</p:txBody>
      </p:sp>
      <p:sp>
        <p:nvSpPr>
          <p:cNvPr id="387" name="Google Shape;387;p47"/>
          <p:cNvSpPr txBox="1"/>
          <p:nvPr/>
        </p:nvSpPr>
        <p:spPr>
          <a:xfrm>
            <a:off x="6476200" y="163050"/>
            <a:ext cx="2612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Examples at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9"/>
              </a:rPr>
              <a:t>https://github.com</a:t>
            </a:r>
            <a:br>
              <a:rPr lang="en" u="sng">
                <a:solidFill>
                  <a:schemeClr val="hlink"/>
                </a:solidFill>
                <a:hlinkClick r:id="rId10"/>
              </a:rPr>
            </a:br>
            <a:r>
              <a:rPr lang="en" u="sng">
                <a:solidFill>
                  <a:schemeClr val="hlink"/>
                </a:solidFill>
                <a:hlinkClick r:id="rId11"/>
              </a:rPr>
              <a:t>/emlearn/emlearn-micropython</a:t>
            </a:r>
            <a:br>
              <a:rPr lang="en" u="sng">
                <a:solidFill>
                  <a:schemeClr val="hlink"/>
                </a:solidFill>
                <a:hlinkClick r:id="rId12"/>
              </a:rPr>
            </a:br>
            <a:r>
              <a:rPr lang="en" u="sng">
                <a:solidFill>
                  <a:schemeClr val="hlink"/>
                </a:solidFill>
                <a:hlinkClick r:id="rId13"/>
              </a:rPr>
              <a:t>#examples</a:t>
            </a:r>
            <a:endParaRPr/>
          </a:p>
        </p:txBody>
      </p:sp>
      <p:cxnSp>
        <p:nvCxnSpPr>
          <p:cNvPr id="388" name="Google Shape;388;p47"/>
          <p:cNvCxnSpPr/>
          <p:nvPr/>
        </p:nvCxnSpPr>
        <p:spPr>
          <a:xfrm>
            <a:off x="2213004" y="402818"/>
            <a:ext cx="0" cy="4638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8"/>
          <p:cNvSpPr txBox="1"/>
          <p:nvPr>
            <p:ph type="title"/>
          </p:nvPr>
        </p:nvSpPr>
        <p:spPr>
          <a:xfrm>
            <a:off x="265500" y="22634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Case:</a:t>
            </a:r>
            <a:br>
              <a:rPr lang="en"/>
            </a:br>
            <a:r>
              <a:rPr lang="en"/>
              <a:t>Spectrometer</a:t>
            </a:r>
            <a:endParaRPr/>
          </a:p>
        </p:txBody>
      </p:sp>
      <p:sp>
        <p:nvSpPr>
          <p:cNvPr id="394" name="Google Shape;394;p48"/>
          <p:cNvSpPr txBox="1"/>
          <p:nvPr>
            <p:ph idx="1" type="subTitle"/>
          </p:nvPr>
        </p:nvSpPr>
        <p:spPr>
          <a:xfrm>
            <a:off x="265500" y="37571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</a:t>
            </a:r>
            <a:br>
              <a:rPr lang="en" u="sng">
                <a:solidFill>
                  <a:schemeClr val="hlink"/>
                </a:solidFill>
                <a:hlinkClick r:id="rId4"/>
              </a:rPr>
            </a:br>
            <a:r>
              <a:rPr lang="en" u="sng">
                <a:solidFill>
                  <a:schemeClr val="hlink"/>
                </a:solidFill>
                <a:hlinkClick r:id="rId5"/>
              </a:rPr>
              <a:t>jonnor/spectrometer</a:t>
            </a:r>
            <a:r>
              <a:rPr lang="en"/>
              <a:t> </a:t>
            </a:r>
            <a:endParaRPr/>
          </a:p>
        </p:txBody>
      </p:sp>
      <p:sp>
        <p:nvSpPr>
          <p:cNvPr id="395" name="Google Shape;395;p48"/>
          <p:cNvSpPr txBox="1"/>
          <p:nvPr>
            <p:ph idx="2" type="body"/>
          </p:nvPr>
        </p:nvSpPr>
        <p:spPr>
          <a:xfrm>
            <a:off x="4939500" y="724075"/>
            <a:ext cx="3869700" cy="403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396" name="Google Shape;396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6175" y="890425"/>
            <a:ext cx="743850" cy="74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8" title="edible-oils-classification-crop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66375" y="1365525"/>
            <a:ext cx="3017751" cy="230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>
            <p:ph type="title"/>
          </p:nvPr>
        </p:nvSpPr>
        <p:spPr>
          <a:xfrm>
            <a:off x="311700" y="70675"/>
            <a:ext cx="85206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Absorption Spectroscopy</a:t>
            </a:r>
            <a:endParaRPr/>
          </a:p>
        </p:txBody>
      </p:sp>
      <p:sp>
        <p:nvSpPr>
          <p:cNvPr id="403" name="Google Shape;403;p49"/>
          <p:cNvSpPr txBox="1"/>
          <p:nvPr/>
        </p:nvSpPr>
        <p:spPr>
          <a:xfrm>
            <a:off x="2461475" y="1159050"/>
            <a:ext cx="577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04" name="Google Shape;404;p49" title="How-Cuvette-Spectrophotometry-Works.jpeg"/>
          <p:cNvPicPr preferRelativeResize="0"/>
          <p:nvPr/>
        </p:nvPicPr>
        <p:blipFill rotWithShape="1">
          <a:blip r:embed="rId3">
            <a:alphaModFix/>
          </a:blip>
          <a:srcRect b="4401" l="0" r="0" t="11615"/>
          <a:stretch/>
        </p:blipFill>
        <p:spPr>
          <a:xfrm>
            <a:off x="311700" y="843175"/>
            <a:ext cx="5648451" cy="25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9"/>
          <p:cNvSpPr txBox="1"/>
          <p:nvPr/>
        </p:nvSpPr>
        <p:spPr>
          <a:xfrm>
            <a:off x="341700" y="3363175"/>
            <a:ext cx="5093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Which light did not pass</a:t>
            </a:r>
            <a:r>
              <a:rPr lang="en" sz="1800">
                <a:solidFill>
                  <a:schemeClr val="dk2"/>
                </a:solidFill>
              </a:rPr>
              <a:t> through?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Absorbed spectra =</a:t>
            </a:r>
            <a:endParaRPr sz="18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Reference spectra </a:t>
            </a:r>
            <a:r>
              <a:rPr lang="en" sz="1800">
                <a:solidFill>
                  <a:schemeClr val="dk2"/>
                </a:solidFill>
              </a:rPr>
              <a:t>(no sample)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	- Sample spectra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0"/>
          <p:cNvSpPr txBox="1"/>
          <p:nvPr>
            <p:ph type="title"/>
          </p:nvPr>
        </p:nvSpPr>
        <p:spPr>
          <a:xfrm>
            <a:off x="311700" y="70675"/>
            <a:ext cx="85206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Reflectance Spectroscopy</a:t>
            </a:r>
            <a:endParaRPr/>
          </a:p>
        </p:txBody>
      </p:sp>
      <p:sp>
        <p:nvSpPr>
          <p:cNvPr id="411" name="Google Shape;411;p50"/>
          <p:cNvSpPr txBox="1"/>
          <p:nvPr/>
        </p:nvSpPr>
        <p:spPr>
          <a:xfrm>
            <a:off x="374400" y="4321050"/>
            <a:ext cx="448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the spectrum of reflected light?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12" name="Google Shape;412;p50" title="Principle-of-near-infrared-diffuse-reflectance-spectroscopy-Source-Pulp-Paper-Canad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400" y="901050"/>
            <a:ext cx="5016217" cy="32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1"/>
          <p:cNvSpPr txBox="1"/>
          <p:nvPr>
            <p:ph type="title"/>
          </p:nvPr>
        </p:nvSpPr>
        <p:spPr>
          <a:xfrm>
            <a:off x="311700" y="70675"/>
            <a:ext cx="85206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Fluorescence</a:t>
            </a:r>
            <a:r>
              <a:rPr lang="en"/>
              <a:t> Spectroscopy</a:t>
            </a:r>
            <a:endParaRPr/>
          </a:p>
        </p:txBody>
      </p:sp>
      <p:sp>
        <p:nvSpPr>
          <p:cNvPr id="418" name="Google Shape;418;p51"/>
          <p:cNvSpPr txBox="1"/>
          <p:nvPr/>
        </p:nvSpPr>
        <p:spPr>
          <a:xfrm>
            <a:off x="2461475" y="1159050"/>
            <a:ext cx="577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19" name="Google Shape;419;p51" title="edible-oils-fluoresence.svg.jpg"/>
          <p:cNvPicPr preferRelativeResize="0"/>
          <p:nvPr/>
        </p:nvPicPr>
        <p:blipFill rotWithShape="1">
          <a:blip r:embed="rId3">
            <a:alphaModFix/>
          </a:blip>
          <a:srcRect b="14120" l="0" r="0" t="23344"/>
          <a:stretch/>
        </p:blipFill>
        <p:spPr>
          <a:xfrm>
            <a:off x="379700" y="3278150"/>
            <a:ext cx="8458427" cy="178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51" title="csm_1_fluorescence_excitation_spectrum_7c96371912.png"/>
          <p:cNvPicPr preferRelativeResize="0"/>
          <p:nvPr/>
        </p:nvPicPr>
        <p:blipFill rotWithShape="1">
          <a:blip r:embed="rId4">
            <a:alphaModFix/>
          </a:blip>
          <a:srcRect b="0" l="26165" r="15315" t="0"/>
          <a:stretch/>
        </p:blipFill>
        <p:spPr>
          <a:xfrm>
            <a:off x="2862300" y="781727"/>
            <a:ext cx="2929461" cy="22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51" title="csm_2_fluorescence_emission_spectra_145f0b1d58.png"/>
          <p:cNvPicPr preferRelativeResize="0"/>
          <p:nvPr/>
        </p:nvPicPr>
        <p:blipFill rotWithShape="1">
          <a:blip r:embed="rId5">
            <a:alphaModFix/>
          </a:blip>
          <a:srcRect b="0" l="11894" r="0" t="0"/>
          <a:stretch/>
        </p:blipFill>
        <p:spPr>
          <a:xfrm>
            <a:off x="5858400" y="308075"/>
            <a:ext cx="3177726" cy="2777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51" title="Fluorescence Spectroscopy instrument - The basic instrument is a spectrofluorometer.jpg"/>
          <p:cNvPicPr preferRelativeResize="0"/>
          <p:nvPr/>
        </p:nvPicPr>
        <p:blipFill rotWithShape="1">
          <a:blip r:embed="rId6">
            <a:alphaModFix/>
          </a:blip>
          <a:srcRect b="4816" l="0" r="39442" t="0"/>
          <a:stretch/>
        </p:blipFill>
        <p:spPr>
          <a:xfrm>
            <a:off x="379700" y="781725"/>
            <a:ext cx="2343074" cy="235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52" title="sparkfun-as7343.jpg"/>
          <p:cNvPicPr preferRelativeResize="0"/>
          <p:nvPr/>
        </p:nvPicPr>
        <p:blipFill rotWithShape="1">
          <a:blip r:embed="rId3">
            <a:alphaModFix/>
          </a:blip>
          <a:srcRect b="17206" l="26686" r="16561" t="24270"/>
          <a:stretch/>
        </p:blipFill>
        <p:spPr>
          <a:xfrm>
            <a:off x="4249325" y="303201"/>
            <a:ext cx="1274350" cy="13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2"/>
          <p:cNvSpPr txBox="1"/>
          <p:nvPr>
            <p:ph type="title"/>
          </p:nvPr>
        </p:nvSpPr>
        <p:spPr>
          <a:xfrm>
            <a:off x="311700" y="70675"/>
            <a:ext cx="85206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</a:t>
            </a:r>
            <a:endParaRPr/>
          </a:p>
        </p:txBody>
      </p:sp>
      <p:sp>
        <p:nvSpPr>
          <p:cNvPr id="429" name="Google Shape;429;p52"/>
          <p:cNvSpPr txBox="1"/>
          <p:nvPr/>
        </p:nvSpPr>
        <p:spPr>
          <a:xfrm>
            <a:off x="259925" y="735175"/>
            <a:ext cx="3989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For 10 mm cuvettes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3d-printed cuvette holder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Reflectance: White LED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Fluorescence: 405 nm UV LED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(Absorption: TODO)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30" name="Google Shape;430;p52" title="edible-oils-classification-crop.jpg"/>
          <p:cNvPicPr preferRelativeResize="0"/>
          <p:nvPr/>
        </p:nvPicPr>
        <p:blipFill rotWithShape="1">
          <a:blip r:embed="rId4">
            <a:alphaModFix/>
          </a:blip>
          <a:srcRect b="18239" l="0" r="0" t="3008"/>
          <a:stretch/>
        </p:blipFill>
        <p:spPr>
          <a:xfrm>
            <a:off x="400250" y="2591881"/>
            <a:ext cx="3989400" cy="2395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52" title="as7343-channels-spectrum.png"/>
          <p:cNvPicPr preferRelativeResize="0"/>
          <p:nvPr/>
        </p:nvPicPr>
        <p:blipFill rotWithShape="1">
          <a:blip r:embed="rId5">
            <a:alphaModFix/>
          </a:blip>
          <a:srcRect b="0" l="0" r="0" t="23177"/>
          <a:stretch/>
        </p:blipFill>
        <p:spPr>
          <a:xfrm>
            <a:off x="4811075" y="2504050"/>
            <a:ext cx="4161950" cy="254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52" title="Screenshot from 2026-07-21 12-23-40.png"/>
          <p:cNvPicPr preferRelativeResize="0"/>
          <p:nvPr/>
        </p:nvPicPr>
        <p:blipFill rotWithShape="1">
          <a:blip r:embed="rId6">
            <a:alphaModFix/>
          </a:blip>
          <a:srcRect b="16413" l="36102" r="27063" t="14916"/>
          <a:stretch/>
        </p:blipFill>
        <p:spPr>
          <a:xfrm>
            <a:off x="5523677" y="127809"/>
            <a:ext cx="1314322" cy="15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2"/>
          <p:cNvSpPr txBox="1"/>
          <p:nvPr/>
        </p:nvSpPr>
        <p:spPr>
          <a:xfrm>
            <a:off x="6703199" y="221338"/>
            <a:ext cx="23487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    ams AS7343 Spectral Sensor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14 channels (11 narrowband)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50-100 nm width per band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Visible + Near Infrared (NIR)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25 USD breakout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6 USD chip @ 1k units</a:t>
            </a:r>
            <a:endParaRPr sz="1000"/>
          </a:p>
        </p:txBody>
      </p:sp>
      <p:sp>
        <p:nvSpPr>
          <p:cNvPr id="434" name="Google Shape;434;p52"/>
          <p:cNvSpPr txBox="1"/>
          <p:nvPr/>
        </p:nvSpPr>
        <p:spPr>
          <a:xfrm>
            <a:off x="4811075" y="1905175"/>
            <a:ext cx="398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https://ams-osram.com/products/sensor-solutions/ambient-light-color-spectral-proximity-sensors/ams-as7343-spectral-sensor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stack</a:t>
            </a:r>
            <a:endParaRPr/>
          </a:p>
        </p:txBody>
      </p:sp>
      <p:sp>
        <p:nvSpPr>
          <p:cNvPr id="440" name="Google Shape;440;p53"/>
          <p:cNvSpPr txBox="1"/>
          <p:nvPr/>
        </p:nvSpPr>
        <p:spPr>
          <a:xfrm>
            <a:off x="2461475" y="1159050"/>
            <a:ext cx="577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41" name="Google Shape;441;p53"/>
          <p:cNvSpPr txBox="1"/>
          <p:nvPr/>
        </p:nvSpPr>
        <p:spPr>
          <a:xfrm>
            <a:off x="5050200" y="4568875"/>
            <a:ext cx="359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3"/>
              </a:rPr>
              <a:t>https://github.com/jonnor/spectrometer</a:t>
            </a:r>
            <a:r>
              <a:rPr lang="en" sz="1000"/>
              <a:t> 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442" name="Google Shape;442;p53"/>
          <p:cNvSpPr txBox="1"/>
          <p:nvPr>
            <p:ph idx="1" type="body"/>
          </p:nvPr>
        </p:nvSpPr>
        <p:spPr>
          <a:xfrm>
            <a:off x="311700" y="1152475"/>
            <a:ext cx="511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(device)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MicroPython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emlearn-micropython for PCA + logreg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micropython-npyfile for .npy files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MicroDot</a:t>
            </a:r>
            <a:r>
              <a:rPr lang="en"/>
              <a:t> for web server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Frontend (browser/UI)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Plotly for plotting. Minimal: 350 kB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Preact for JavaScript UI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43" name="Google Shape;443;p53" title="webui-visualiz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8300" y="680000"/>
            <a:ext cx="3967249" cy="378347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4"/>
          <p:cNvSpPr txBox="1"/>
          <p:nvPr>
            <p:ph type="title"/>
          </p:nvPr>
        </p:nvSpPr>
        <p:spPr>
          <a:xfrm>
            <a:off x="311700" y="15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download</a:t>
            </a:r>
            <a:r>
              <a:rPr lang="en"/>
              <a:t> &amp; API integration</a:t>
            </a:r>
            <a:endParaRPr/>
          </a:p>
        </p:txBody>
      </p:sp>
      <p:pic>
        <p:nvPicPr>
          <p:cNvPr id="449" name="Google Shape;449;p54" title="webui-samples.png"/>
          <p:cNvPicPr preferRelativeResize="0"/>
          <p:nvPr/>
        </p:nvPicPr>
        <p:blipFill rotWithShape="1">
          <a:blip r:embed="rId3">
            <a:alphaModFix/>
          </a:blip>
          <a:srcRect b="0" l="764" r="0" t="6533"/>
          <a:stretch/>
        </p:blipFill>
        <p:spPr>
          <a:xfrm>
            <a:off x="400825" y="991339"/>
            <a:ext cx="4171175" cy="4020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0" name="Google Shape;450;p54"/>
          <p:cNvSpPr/>
          <p:nvPr/>
        </p:nvSpPr>
        <p:spPr>
          <a:xfrm>
            <a:off x="429050" y="2060089"/>
            <a:ext cx="1014900" cy="299400"/>
          </a:xfrm>
          <a:prstGeom prst="rect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4"/>
          <p:cNvSpPr txBox="1"/>
          <p:nvPr>
            <p:ph idx="2" type="body"/>
          </p:nvPr>
        </p:nvSpPr>
        <p:spPr>
          <a:xfrm>
            <a:off x="5341500" y="1345425"/>
            <a:ext cx="3503100" cy="10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Use device programmatically</a:t>
            </a:r>
            <a:br>
              <a:rPr lang="en"/>
            </a:br>
            <a:r>
              <a:rPr lang="en"/>
              <a:t>from Python (on PC)</a:t>
            </a:r>
            <a:br>
              <a:rPr lang="en"/>
            </a:br>
            <a:r>
              <a:rPr lang="en"/>
              <a:t>via HTTP API</a:t>
            </a:r>
            <a:endParaRPr/>
          </a:p>
        </p:txBody>
      </p:sp>
      <p:pic>
        <p:nvPicPr>
          <p:cNvPr id="452" name="Google Shape;452;p54" title="Screenshot from 2026-07-21 13-39-08.png"/>
          <p:cNvPicPr preferRelativeResize="0"/>
          <p:nvPr/>
        </p:nvPicPr>
        <p:blipFill rotWithShape="1">
          <a:blip r:embed="rId4">
            <a:alphaModFix/>
          </a:blip>
          <a:srcRect b="47254" l="1765" r="69441" t="17469"/>
          <a:stretch/>
        </p:blipFill>
        <p:spPr>
          <a:xfrm>
            <a:off x="5329300" y="2442300"/>
            <a:ext cx="3527501" cy="27012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3" name="Google Shape;453;p54" title="Screenshot from 2026-07-21 13-40-39.png"/>
          <p:cNvPicPr preferRelativeResize="0"/>
          <p:nvPr/>
        </p:nvPicPr>
        <p:blipFill rotWithShape="1">
          <a:blip r:embed="rId5">
            <a:alphaModFix/>
          </a:blip>
          <a:srcRect b="73710" l="28669" r="54043" t="5253"/>
          <a:stretch/>
        </p:blipFill>
        <p:spPr>
          <a:xfrm>
            <a:off x="2152475" y="822225"/>
            <a:ext cx="2679926" cy="2037999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454" name="Google Shape;454;p54"/>
          <p:cNvCxnSpPr/>
          <p:nvPr/>
        </p:nvCxnSpPr>
        <p:spPr>
          <a:xfrm flipH="1" rot="10800000">
            <a:off x="1622775" y="1704114"/>
            <a:ext cx="793800" cy="48360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5"/>
          <p:cNvSpPr txBox="1"/>
          <p:nvPr>
            <p:ph type="title"/>
          </p:nvPr>
        </p:nvSpPr>
        <p:spPr>
          <a:xfrm>
            <a:off x="311700" y="222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Jupyter Lite integration</a:t>
            </a:r>
            <a:endParaRPr/>
          </a:p>
        </p:txBody>
      </p:sp>
      <p:pic>
        <p:nvPicPr>
          <p:cNvPr id="460" name="Google Shape;460;p55" title="webui-samples.png"/>
          <p:cNvPicPr preferRelativeResize="0"/>
          <p:nvPr/>
        </p:nvPicPr>
        <p:blipFill rotWithShape="1">
          <a:blip r:embed="rId3">
            <a:alphaModFix/>
          </a:blip>
          <a:srcRect b="0" l="764" r="0" t="6533"/>
          <a:stretch/>
        </p:blipFill>
        <p:spPr>
          <a:xfrm>
            <a:off x="400825" y="975864"/>
            <a:ext cx="4171175" cy="4020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61" name="Google Shape;461;p55"/>
          <p:cNvSpPr/>
          <p:nvPr/>
        </p:nvSpPr>
        <p:spPr>
          <a:xfrm>
            <a:off x="1379275" y="2042600"/>
            <a:ext cx="830400" cy="265200"/>
          </a:xfrm>
          <a:prstGeom prst="rect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2" name="Google Shape;462;p55" title="spectrometer-jupyter-lite-integration.png"/>
          <p:cNvPicPr preferRelativeResize="0"/>
          <p:nvPr/>
        </p:nvPicPr>
        <p:blipFill rotWithShape="1">
          <a:blip r:embed="rId4">
            <a:alphaModFix/>
          </a:blip>
          <a:srcRect b="0" l="2610" r="0" t="0"/>
          <a:stretch/>
        </p:blipFill>
        <p:spPr>
          <a:xfrm>
            <a:off x="4899675" y="492675"/>
            <a:ext cx="3886749" cy="4456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63" name="Google Shape;463;p55"/>
          <p:cNvSpPr txBox="1"/>
          <p:nvPr>
            <p:ph idx="1" type="body"/>
          </p:nvPr>
        </p:nvSpPr>
        <p:spPr>
          <a:xfrm>
            <a:off x="3795375" y="222975"/>
            <a:ext cx="5115300" cy="5727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" sz="1430" u="sng">
                <a:solidFill>
                  <a:schemeClr val="hlink"/>
                </a:solidFill>
                <a:hlinkClick r:id="rId5"/>
              </a:rPr>
              <a:t>https://scikit-learn.org/stable/lite/lab/?</a:t>
            </a:r>
            <a:br>
              <a:rPr lang="en" sz="1430" u="sng">
                <a:solidFill>
                  <a:schemeClr val="hlink"/>
                </a:solidFill>
                <a:hlinkClick r:id="rId6"/>
              </a:rPr>
            </a:br>
            <a:r>
              <a:rPr b="1" lang="en" sz="1430" u="sng">
                <a:solidFill>
                  <a:schemeClr val="hlink"/>
                </a:solidFill>
                <a:hlinkClick r:id="rId7"/>
              </a:rPr>
              <a:t>fromURL=http://10.13.37.100:8000/static/notebook.ipynb</a:t>
            </a:r>
            <a:r>
              <a:rPr b="1" lang="en" sz="1430"/>
              <a:t> </a:t>
            </a:r>
            <a:endParaRPr b="1" sz="1430"/>
          </a:p>
        </p:txBody>
      </p:sp>
      <p:cxnSp>
        <p:nvCxnSpPr>
          <p:cNvPr id="464" name="Google Shape;464;p55"/>
          <p:cNvCxnSpPr/>
          <p:nvPr/>
        </p:nvCxnSpPr>
        <p:spPr>
          <a:xfrm flipH="1" rot="10800000">
            <a:off x="2344275" y="2174600"/>
            <a:ext cx="2757300" cy="1200"/>
          </a:xfrm>
          <a:prstGeom prst="straightConnector1">
            <a:avLst/>
          </a:prstGeom>
          <a:noFill/>
          <a:ln cap="flat" cmpd="sng" w="762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5" name="Google Shape;465;p55"/>
          <p:cNvSpPr txBox="1"/>
          <p:nvPr/>
        </p:nvSpPr>
        <p:spPr>
          <a:xfrm>
            <a:off x="6838875" y="1832850"/>
            <a:ext cx="207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Load device data via HTTP API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6"/>
          <p:cNvSpPr txBox="1"/>
          <p:nvPr>
            <p:ph type="title"/>
          </p:nvPr>
        </p:nvSpPr>
        <p:spPr>
          <a:xfrm>
            <a:off x="265500" y="22634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Case:</a:t>
            </a:r>
            <a:br>
              <a:rPr lang="en"/>
            </a:br>
            <a:r>
              <a:rPr lang="en"/>
              <a:t>Activity Tracker</a:t>
            </a:r>
            <a:endParaRPr/>
          </a:p>
        </p:txBody>
      </p:sp>
      <p:sp>
        <p:nvSpPr>
          <p:cNvPr id="471" name="Google Shape;471;p56"/>
          <p:cNvSpPr txBox="1"/>
          <p:nvPr>
            <p:ph idx="1" type="subTitle"/>
          </p:nvPr>
        </p:nvSpPr>
        <p:spPr>
          <a:xfrm>
            <a:off x="265500" y="37571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</a:t>
            </a:r>
            <a:br>
              <a:rPr lang="en" u="sng">
                <a:solidFill>
                  <a:schemeClr val="hlink"/>
                </a:solidFill>
                <a:hlinkClick r:id="rId4"/>
              </a:rPr>
            </a:br>
            <a:r>
              <a:rPr lang="en" u="sng">
                <a:solidFill>
                  <a:schemeClr val="hlink"/>
                </a:solidFill>
                <a:hlinkClick r:id="rId5"/>
              </a:rPr>
              <a:t>jonnor/motion-machine/</a:t>
            </a:r>
            <a:r>
              <a:rPr lang="en"/>
              <a:t> </a:t>
            </a:r>
            <a:endParaRPr/>
          </a:p>
        </p:txBody>
      </p:sp>
      <p:sp>
        <p:nvSpPr>
          <p:cNvPr id="472" name="Google Shape;472;p56"/>
          <p:cNvSpPr txBox="1"/>
          <p:nvPr>
            <p:ph idx="2" type="body"/>
          </p:nvPr>
        </p:nvSpPr>
        <p:spPr>
          <a:xfrm>
            <a:off x="4939500" y="724075"/>
            <a:ext cx="3869700" cy="403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473" name="Google Shape;473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6175" y="890425"/>
            <a:ext cx="743850" cy="74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56"/>
          <p:cNvPicPr preferRelativeResize="0"/>
          <p:nvPr/>
        </p:nvPicPr>
        <p:blipFill rotWithShape="1">
          <a:blip r:embed="rId7">
            <a:alphaModFix/>
          </a:blip>
          <a:srcRect b="6684" l="18597" r="17782" t="8714"/>
          <a:stretch/>
        </p:blipFill>
        <p:spPr>
          <a:xfrm>
            <a:off x="6020775" y="1404575"/>
            <a:ext cx="1983051" cy="228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7"/>
          <p:cNvSpPr txBox="1"/>
          <p:nvPr>
            <p:ph type="title"/>
          </p:nvPr>
        </p:nvSpPr>
        <p:spPr>
          <a:xfrm>
            <a:off x="311700" y="445025"/>
            <a:ext cx="2936100" cy="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hardware</a:t>
            </a:r>
            <a:endParaRPr/>
          </a:p>
        </p:txBody>
      </p:sp>
      <p:sp>
        <p:nvSpPr>
          <p:cNvPr id="480" name="Google Shape;480;p57"/>
          <p:cNvSpPr txBox="1"/>
          <p:nvPr/>
        </p:nvSpPr>
        <p:spPr>
          <a:xfrm>
            <a:off x="3549025" y="4270047"/>
            <a:ext cx="55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481" name="Google Shape;48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4350" y="455525"/>
            <a:ext cx="743850" cy="74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57"/>
          <p:cNvSpPr txBox="1"/>
          <p:nvPr/>
        </p:nvSpPr>
        <p:spPr>
          <a:xfrm>
            <a:off x="311700" y="1290100"/>
            <a:ext cx="2971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LilyGo T-Watch S3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ESP32-S3 microcontroller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800">
                <a:solidFill>
                  <a:schemeClr val="dk2"/>
                </a:solidFill>
              </a:rPr>
            </a:br>
            <a:r>
              <a:rPr b="1" lang="en" sz="1800">
                <a:solidFill>
                  <a:schemeClr val="dk2"/>
                </a:solidFill>
              </a:rPr>
              <a:t>- </a:t>
            </a:r>
            <a:r>
              <a:rPr b="1" lang="en" sz="1800">
                <a:solidFill>
                  <a:schemeClr val="dk2"/>
                </a:solidFill>
              </a:rPr>
              <a:t>16 MB FLASH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- </a:t>
            </a:r>
            <a:r>
              <a:rPr b="1" lang="en" sz="1800">
                <a:solidFill>
                  <a:schemeClr val="dk2"/>
                </a:solidFill>
              </a:rPr>
              <a:t>16 MB RAM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- WiFi + BLE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- 3-axis accelerometer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83" name="Google Shape;483;p57" title="watch2020V3_S3_a0c58be7-8f5f-4f20-a1bc-775c1942a7f3_600x6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5300" y="1433925"/>
            <a:ext cx="5198276" cy="367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8"/>
          <p:cNvSpPr txBox="1"/>
          <p:nvPr>
            <p:ph type="title"/>
          </p:nvPr>
        </p:nvSpPr>
        <p:spPr>
          <a:xfrm>
            <a:off x="311700" y="195600"/>
            <a:ext cx="77460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Activity tracker</a:t>
            </a:r>
            <a:r>
              <a:rPr lang="en"/>
              <a:t> - processing pipeline</a:t>
            </a:r>
            <a:endParaRPr/>
          </a:p>
        </p:txBody>
      </p:sp>
      <p:sp>
        <p:nvSpPr>
          <p:cNvPr id="489" name="Google Shape;489;p58"/>
          <p:cNvSpPr txBox="1"/>
          <p:nvPr/>
        </p:nvSpPr>
        <p:spPr>
          <a:xfrm>
            <a:off x="311700" y="1154525"/>
            <a:ext cx="499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90" name="Google Shape;49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700" y="947455"/>
            <a:ext cx="4991100" cy="3409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58" title="Datasheet-pic-tindie2.png"/>
          <p:cNvPicPr preferRelativeResize="0"/>
          <p:nvPr/>
        </p:nvPicPr>
        <p:blipFill rotWithShape="1">
          <a:blip r:embed="rId4">
            <a:alphaModFix/>
          </a:blip>
          <a:srcRect b="67806" l="0" r="52365" t="0"/>
          <a:stretch/>
        </p:blipFill>
        <p:spPr>
          <a:xfrm>
            <a:off x="5711750" y="911459"/>
            <a:ext cx="1447524" cy="1334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58" title="Datasheet-pic-tindie2.png"/>
          <p:cNvPicPr preferRelativeResize="0"/>
          <p:nvPr/>
        </p:nvPicPr>
        <p:blipFill rotWithShape="1">
          <a:blip r:embed="rId4">
            <a:alphaModFix/>
          </a:blip>
          <a:srcRect b="11687" l="26459" r="19653" t="50059"/>
          <a:stretch/>
        </p:blipFill>
        <p:spPr>
          <a:xfrm>
            <a:off x="6988189" y="894775"/>
            <a:ext cx="1581361" cy="153187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58"/>
          <p:cNvSpPr txBox="1"/>
          <p:nvPr/>
        </p:nvSpPr>
        <p:spPr>
          <a:xfrm>
            <a:off x="5401950" y="2516450"/>
            <a:ext cx="3525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har_trees - emlearn-micropython example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https://github.com/emlearn/</a:t>
            </a:r>
            <a:br>
              <a:rPr lang="en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emlearn-micropython/</a:t>
            </a:r>
            <a:br>
              <a:rPr lang="en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lang="en" u="sng">
                <a:solidFill>
                  <a:schemeClr val="accent5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tree/master/examples/har_trees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on Microcontrollers With Zephyr and emlearn (Open Source Summit 2025)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0"/>
              </a:rPr>
              <a:t>https://www.youtube.com/</a:t>
            </a:r>
            <a:br>
              <a:rPr lang="en" u="sng">
                <a:solidFill>
                  <a:schemeClr val="hlink"/>
                </a:solidFill>
                <a:hlinkClick r:id="rId11"/>
              </a:rPr>
            </a:br>
            <a:r>
              <a:rPr lang="en" u="sng">
                <a:solidFill>
                  <a:schemeClr val="hlink"/>
                </a:solidFill>
                <a:hlinkClick r:id="rId12"/>
              </a:rPr>
              <a:t>watch?v=vBiji9IFJJs</a:t>
            </a:r>
            <a:r>
              <a:rPr lang="en"/>
              <a:t> </a:t>
            </a:r>
            <a:endParaRPr/>
          </a:p>
        </p:txBody>
      </p:sp>
      <p:sp>
        <p:nvSpPr>
          <p:cNvPr id="494" name="Google Shape;494;p58"/>
          <p:cNvSpPr txBox="1"/>
          <p:nvPr/>
        </p:nvSpPr>
        <p:spPr>
          <a:xfrm>
            <a:off x="390000" y="4260000"/>
            <a:ext cx="439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on </a:t>
            </a:r>
            <a:r>
              <a:rPr lang="en"/>
              <a:t>streams</a:t>
            </a:r>
            <a:r>
              <a:rPr lang="en"/>
              <a:t>: Continuous classification</a:t>
            </a:r>
            <a:endParaRPr/>
          </a:p>
        </p:txBody>
      </p:sp>
      <p:sp>
        <p:nvSpPr>
          <p:cNvPr id="500" name="Google Shape;500;p59"/>
          <p:cNvSpPr txBox="1"/>
          <p:nvPr>
            <p:ph idx="1" type="body"/>
          </p:nvPr>
        </p:nvSpPr>
        <p:spPr>
          <a:xfrm>
            <a:off x="4380500" y="1292575"/>
            <a:ext cx="4739700" cy="14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Example config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- 4 second window, every 1 second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- 100 Hz samplerate / 10 ms sample interval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- Window processing budget: 60 ms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501" name="Google Shape;501;p59"/>
          <p:cNvPicPr preferRelativeResize="0"/>
          <p:nvPr/>
        </p:nvPicPr>
        <p:blipFill rotWithShape="1">
          <a:blip r:embed="rId3">
            <a:alphaModFix/>
          </a:blip>
          <a:srcRect b="0" l="2176" r="7547" t="8767"/>
          <a:stretch/>
        </p:blipFill>
        <p:spPr>
          <a:xfrm>
            <a:off x="120200" y="1164275"/>
            <a:ext cx="4260300" cy="29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59"/>
          <p:cNvSpPr/>
          <p:nvPr/>
        </p:nvSpPr>
        <p:spPr>
          <a:xfrm>
            <a:off x="1450700" y="3272091"/>
            <a:ext cx="1978500" cy="37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 sensor data</a:t>
            </a:r>
            <a:endParaRPr/>
          </a:p>
        </p:txBody>
      </p:sp>
      <p:sp>
        <p:nvSpPr>
          <p:cNvPr id="503" name="Google Shape;503;p59"/>
          <p:cNvSpPr/>
          <p:nvPr/>
        </p:nvSpPr>
        <p:spPr>
          <a:xfrm>
            <a:off x="5284863" y="3287838"/>
            <a:ext cx="1017600" cy="34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</a:t>
            </a:r>
            <a:endParaRPr/>
          </a:p>
        </p:txBody>
      </p:sp>
      <p:sp>
        <p:nvSpPr>
          <p:cNvPr id="504" name="Google Shape;504;p59"/>
          <p:cNvSpPr/>
          <p:nvPr/>
        </p:nvSpPr>
        <p:spPr>
          <a:xfrm>
            <a:off x="7903425" y="3296358"/>
            <a:ext cx="819000" cy="34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</a:t>
            </a:r>
            <a:endParaRPr/>
          </a:p>
        </p:txBody>
      </p:sp>
      <p:sp>
        <p:nvSpPr>
          <p:cNvPr id="505" name="Google Shape;505;p59"/>
          <p:cNvSpPr/>
          <p:nvPr/>
        </p:nvSpPr>
        <p:spPr>
          <a:xfrm>
            <a:off x="3898150" y="3051130"/>
            <a:ext cx="1186200" cy="8655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</a:t>
            </a:r>
            <a:endParaRPr/>
          </a:p>
        </p:txBody>
      </p:sp>
      <p:sp>
        <p:nvSpPr>
          <p:cNvPr id="506" name="Google Shape;506;p59"/>
          <p:cNvSpPr/>
          <p:nvPr/>
        </p:nvSpPr>
        <p:spPr>
          <a:xfrm>
            <a:off x="6509854" y="3071006"/>
            <a:ext cx="1186200" cy="8655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cxnSp>
        <p:nvCxnSpPr>
          <p:cNvPr id="507" name="Google Shape;507;p59"/>
          <p:cNvCxnSpPr/>
          <p:nvPr/>
        </p:nvCxnSpPr>
        <p:spPr>
          <a:xfrm>
            <a:off x="3348750" y="3729075"/>
            <a:ext cx="823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8" name="Google Shape;508;p59"/>
          <p:cNvCxnSpPr/>
          <p:nvPr/>
        </p:nvCxnSpPr>
        <p:spPr>
          <a:xfrm>
            <a:off x="4758900" y="3693050"/>
            <a:ext cx="823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9" name="Google Shape;509;p59"/>
          <p:cNvCxnSpPr/>
          <p:nvPr/>
        </p:nvCxnSpPr>
        <p:spPr>
          <a:xfrm>
            <a:off x="5997175" y="3693050"/>
            <a:ext cx="823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0" name="Google Shape;510;p59"/>
          <p:cNvCxnSpPr/>
          <p:nvPr/>
        </p:nvCxnSpPr>
        <p:spPr>
          <a:xfrm>
            <a:off x="7417575" y="3693050"/>
            <a:ext cx="823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11" name="Google Shape;51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4350" y="531725"/>
            <a:ext cx="743850" cy="74517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59"/>
          <p:cNvSpPr txBox="1"/>
          <p:nvPr/>
        </p:nvSpPr>
        <p:spPr>
          <a:xfrm>
            <a:off x="4462875" y="4043863"/>
            <a:ext cx="23751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[ 42, 4002, … , 329 ]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3" name="Google Shape;513;p59"/>
          <p:cNvSpPr txBox="1"/>
          <p:nvPr/>
        </p:nvSpPr>
        <p:spPr>
          <a:xfrm>
            <a:off x="6977700" y="4012700"/>
            <a:ext cx="20901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“Jumping Jacks”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4" name="Google Shape;514;p59"/>
          <p:cNvSpPr txBox="1"/>
          <p:nvPr/>
        </p:nvSpPr>
        <p:spPr>
          <a:xfrm>
            <a:off x="1828700" y="4043875"/>
            <a:ext cx="180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[ x1 y1 z1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x2 y2 z2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…. 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0"/>
          <p:cNvSpPr txBox="1"/>
          <p:nvPr>
            <p:ph type="title"/>
          </p:nvPr>
        </p:nvSpPr>
        <p:spPr>
          <a:xfrm>
            <a:off x="311700" y="176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micropython-tsdb:</a:t>
            </a:r>
            <a:br>
              <a:rPr lang="en"/>
            </a:br>
            <a:r>
              <a:rPr lang="en"/>
              <a:t>time-series database on device</a:t>
            </a:r>
            <a:endParaRPr/>
          </a:p>
        </p:txBody>
      </p:sp>
      <p:sp>
        <p:nvSpPr>
          <p:cNvPr id="520" name="Google Shape;520;p60"/>
          <p:cNvSpPr txBox="1"/>
          <p:nvPr>
            <p:ph idx="1" type="body"/>
          </p:nvPr>
        </p:nvSpPr>
        <p:spPr>
          <a:xfrm>
            <a:off x="311700" y="1266075"/>
            <a:ext cx="5000700" cy="24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Stores to disk using Python file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Apache Hive-style partitioning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Row-based or columnar chunks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Time-series aware compression</a:t>
            </a:r>
            <a:br>
              <a:rPr lang="en"/>
            </a:br>
            <a:r>
              <a:rPr lang="en"/>
              <a:t>(delta-encoding + Simple9b)</a:t>
            </a:r>
            <a:endParaRPr/>
          </a:p>
        </p:txBody>
      </p:sp>
      <p:pic>
        <p:nvPicPr>
          <p:cNvPr id="521" name="Google Shape;521;p60" title="Screenshot from 2026-04-16 06-48-22.png"/>
          <p:cNvPicPr preferRelativeResize="0"/>
          <p:nvPr/>
        </p:nvPicPr>
        <p:blipFill rotWithShape="1">
          <a:blip r:embed="rId3">
            <a:alphaModFix/>
          </a:blip>
          <a:srcRect b="35865" l="1928" r="77566" t="10267"/>
          <a:stretch/>
        </p:blipFill>
        <p:spPr>
          <a:xfrm>
            <a:off x="5657200" y="137163"/>
            <a:ext cx="3307176" cy="488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60"/>
          <p:cNvSpPr txBox="1"/>
          <p:nvPr/>
        </p:nvSpPr>
        <p:spPr>
          <a:xfrm>
            <a:off x="311700" y="4375875"/>
            <a:ext cx="5267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</a:rPr>
              <a:t>Repository:</a:t>
            </a:r>
            <a:br>
              <a:rPr lang="en">
                <a:solidFill>
                  <a:schemeClr val="dk2"/>
                </a:solidFill>
              </a:rPr>
            </a:b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https://github.com/jonnor/micropython-tsdb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1"/>
          <p:cNvSpPr txBox="1"/>
          <p:nvPr>
            <p:ph type="title"/>
          </p:nvPr>
        </p:nvSpPr>
        <p:spPr>
          <a:xfrm>
            <a:off x="311700" y="2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Time-series data storage on device - performance</a:t>
            </a:r>
            <a:endParaRPr/>
          </a:p>
        </p:txBody>
      </p:sp>
      <p:sp>
        <p:nvSpPr>
          <p:cNvPr id="528" name="Google Shape;528;p61"/>
          <p:cNvSpPr txBox="1"/>
          <p:nvPr>
            <p:ph idx="1" type="body"/>
          </p:nvPr>
        </p:nvSpPr>
        <p:spPr>
          <a:xfrm>
            <a:off x="311700" y="878775"/>
            <a:ext cx="6591300" cy="36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performance on ESP32S3 with internal FLASH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Reading 0.10 - 0.25 MB/second </a:t>
            </a:r>
            <a:r>
              <a:rPr b="1" lang="en" sz="1800"/>
              <a:t>~</a:t>
            </a:r>
            <a:r>
              <a:rPr b="1" lang="en" sz="1800"/>
              <a:t>100k datapoints</a:t>
            </a:r>
            <a:endParaRPr b="1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2 hours of 1 second</a:t>
            </a:r>
            <a:r>
              <a:rPr lang="en" sz="1800"/>
              <a:t> resolution data, 10 columns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1 year of 1 hour resolution data, 10 columns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IO / filesystem bound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Compression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Tested on raw accelerometer data (PAMAP2 dataset)</a:t>
            </a:r>
            <a:br>
              <a:rPr lang="en"/>
            </a:br>
            <a:r>
              <a:rPr lang="en"/>
              <a:t>!! only 5% net savings - high entropy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Expecting 2x+ on ML features and predictions (quantized)</a:t>
            </a:r>
            <a:endParaRPr/>
          </a:p>
        </p:txBody>
      </p:sp>
      <p:sp>
        <p:nvSpPr>
          <p:cNvPr id="529" name="Google Shape;529;p61"/>
          <p:cNvSpPr txBox="1"/>
          <p:nvPr/>
        </p:nvSpPr>
        <p:spPr>
          <a:xfrm>
            <a:off x="6902950" y="1179798"/>
            <a:ext cx="2091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 hours </a:t>
            </a:r>
            <a:br>
              <a:rPr lang="en"/>
            </a:br>
            <a:r>
              <a:rPr lang="en"/>
              <a:t>3-axis </a:t>
            </a:r>
            <a:r>
              <a:rPr lang="en">
                <a:solidFill>
                  <a:schemeClr val="dk1"/>
                </a:solidFill>
              </a:rPr>
              <a:t>accelerometer at 25 Hz</a:t>
            </a:r>
            <a:r>
              <a:rPr lang="en"/>
              <a:t> int16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 12.96 MB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Possible but tight</a:t>
            </a:r>
            <a:br>
              <a:rPr lang="en"/>
            </a:br>
            <a:r>
              <a:rPr lang="en"/>
              <a:t>on 16 MB total space.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 MB other timeseries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1 MB MicroPython fw</a:t>
            </a:r>
            <a:br>
              <a:rPr lang="en"/>
            </a:br>
            <a:r>
              <a:rPr lang="en"/>
              <a:t>1 MB frontend</a:t>
            </a:r>
            <a:br>
              <a:rPr lang="en"/>
            </a:br>
            <a:endParaRPr/>
          </a:p>
        </p:txBody>
      </p:sp>
      <p:sp>
        <p:nvSpPr>
          <p:cNvPr id="530" name="Google Shape;530;p61"/>
          <p:cNvSpPr txBox="1"/>
          <p:nvPr/>
        </p:nvSpPr>
        <p:spPr>
          <a:xfrm>
            <a:off x="311700" y="4375875"/>
            <a:ext cx="5267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</a:rPr>
              <a:t>Repository:</a:t>
            </a:r>
            <a:br>
              <a:rPr lang="en">
                <a:solidFill>
                  <a:schemeClr val="dk2"/>
                </a:solidFill>
              </a:rPr>
            </a:b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https://github.com/jonnor/micropython-tsdb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2"/>
          <p:cNvSpPr txBox="1"/>
          <p:nvPr>
            <p:ph type="title"/>
          </p:nvPr>
        </p:nvSpPr>
        <p:spPr>
          <a:xfrm>
            <a:off x="311700" y="445025"/>
            <a:ext cx="375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interface</a:t>
            </a:r>
            <a:endParaRPr/>
          </a:p>
        </p:txBody>
      </p:sp>
      <p:sp>
        <p:nvSpPr>
          <p:cNvPr id="536" name="Google Shape;536;p62"/>
          <p:cNvSpPr txBox="1"/>
          <p:nvPr>
            <p:ph idx="1" type="body"/>
          </p:nvPr>
        </p:nvSpPr>
        <p:spPr>
          <a:xfrm>
            <a:off x="0" y="1152475"/>
            <a:ext cx="42105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WIP</a:t>
            </a:r>
            <a:endParaRPr/>
          </a:p>
        </p:txBody>
      </p:sp>
      <p:pic>
        <p:nvPicPr>
          <p:cNvPr id="537" name="Google Shape;537;p62" title="Screenshot from 2026-04-16 07-22-19.png"/>
          <p:cNvPicPr preferRelativeResize="0"/>
          <p:nvPr/>
        </p:nvPicPr>
        <p:blipFill rotWithShape="1">
          <a:blip r:embed="rId3">
            <a:alphaModFix/>
          </a:blip>
          <a:srcRect b="3142" l="0" r="45758" t="13288"/>
          <a:stretch/>
        </p:blipFill>
        <p:spPr>
          <a:xfrm>
            <a:off x="3714143" y="364175"/>
            <a:ext cx="5294131" cy="458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Pushing data via HTTP or MQTT</a:t>
            </a:r>
            <a:endParaRPr/>
          </a:p>
        </p:txBody>
      </p:sp>
      <p:sp>
        <p:nvSpPr>
          <p:cNvPr id="543" name="Google Shape;543;p63"/>
          <p:cNvSpPr txBox="1"/>
          <p:nvPr>
            <p:ph idx="1" type="body"/>
          </p:nvPr>
        </p:nvSpPr>
        <p:spPr>
          <a:xfrm>
            <a:off x="311700" y="1020214"/>
            <a:ext cx="7102200" cy="18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 the data to send in an in-memory queue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remove from queue after successful send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 timeout to handle WiFi/network/server problems</a:t>
            </a:r>
            <a:endParaRPr/>
          </a:p>
        </p:txBody>
      </p:sp>
      <p:sp>
        <p:nvSpPr>
          <p:cNvPr id="544" name="Google Shape;544;p63"/>
          <p:cNvSpPr txBox="1"/>
          <p:nvPr/>
        </p:nvSpPr>
        <p:spPr>
          <a:xfrm>
            <a:off x="426175" y="4467500"/>
            <a:ext cx="86118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000" u="sng">
                <a:solidFill>
                  <a:schemeClr val="hlink"/>
                </a:solidFill>
                <a:hlinkClick r:id="rId4"/>
              </a:rPr>
              <a:t>https://github.com/micropython/micropython-lib/blob/master/micropython/umqtt.simple/umqtt/simple.py</a:t>
            </a:r>
            <a:r>
              <a:rPr b="1" lang="en" sz="1000">
                <a:solidFill>
                  <a:schemeClr val="dk2"/>
                </a:solidFill>
              </a:rPr>
              <a:t> </a:t>
            </a:r>
            <a:br>
              <a:rPr b="1" lang="en" sz="1000">
                <a:solidFill>
                  <a:schemeClr val="dk2"/>
                </a:solidFill>
              </a:rPr>
            </a:br>
            <a:r>
              <a:rPr b="1" lang="en" sz="1000" u="sng">
                <a:solidFill>
                  <a:schemeClr val="hlink"/>
                </a:solidFill>
                <a:hlinkClick r:id="rId5"/>
              </a:rPr>
              <a:t>https://docs.micropython.org/en/latest/library/socket.html</a:t>
            </a:r>
            <a:r>
              <a:rPr b="1" lang="en" sz="1000">
                <a:solidFill>
                  <a:schemeClr val="dk2"/>
                </a:solidFill>
              </a:rPr>
              <a:t> </a:t>
            </a:r>
            <a:endParaRPr sz="1000"/>
          </a:p>
        </p:txBody>
      </p:sp>
      <p:sp>
        <p:nvSpPr>
          <p:cNvPr id="545" name="Google Shape;545;p63"/>
          <p:cNvSpPr txBox="1"/>
          <p:nvPr>
            <p:ph idx="1" type="body"/>
          </p:nvPr>
        </p:nvSpPr>
        <p:spPr>
          <a:xfrm>
            <a:off x="4827509" y="2693003"/>
            <a:ext cx="4254300" cy="13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MQTT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common IoT protocol.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Ex: </a:t>
            </a:r>
            <a:r>
              <a:rPr lang="en"/>
              <a:t>data ingestion to IoT platforms</a:t>
            </a:r>
            <a:br>
              <a:rPr lang="en"/>
            </a:br>
            <a:endParaRPr/>
          </a:p>
        </p:txBody>
      </p:sp>
      <p:sp>
        <p:nvSpPr>
          <p:cNvPr id="546" name="Google Shape;546;p63"/>
          <p:cNvSpPr txBox="1"/>
          <p:nvPr/>
        </p:nvSpPr>
        <p:spPr>
          <a:xfrm>
            <a:off x="311700" y="2693003"/>
            <a:ext cx="4577700" cy="1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HTTP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Most common general protocol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Ex: notification to Slack, etc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MicroPython aiohttp no timeouts!! :(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4"/>
          <p:cNvSpPr txBox="1"/>
          <p:nvPr>
            <p:ph type="title"/>
          </p:nvPr>
        </p:nvSpPr>
        <p:spPr>
          <a:xfrm>
            <a:off x="265500" y="22237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Outro</a:t>
            </a:r>
            <a:endParaRPr/>
          </a:p>
        </p:txBody>
      </p:sp>
      <p:sp>
        <p:nvSpPr>
          <p:cNvPr id="552" name="Google Shape;552;p64"/>
          <p:cNvSpPr txBox="1"/>
          <p:nvPr>
            <p:ph idx="1" type="subTitle"/>
          </p:nvPr>
        </p:nvSpPr>
        <p:spPr>
          <a:xfrm>
            <a:off x="265500" y="37936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6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54" name="Google Shape;55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175" y="890425"/>
            <a:ext cx="743850" cy="74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5"/>
          <p:cNvSpPr txBox="1"/>
          <p:nvPr/>
        </p:nvSpPr>
        <p:spPr>
          <a:xfrm>
            <a:off x="271875" y="920061"/>
            <a:ext cx="865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60" name="Google Shape;560;p65"/>
          <p:cNvSpPr txBox="1"/>
          <p:nvPr>
            <p:ph idx="1" type="body"/>
          </p:nvPr>
        </p:nvSpPr>
        <p:spPr>
          <a:xfrm>
            <a:off x="311700" y="1152475"/>
            <a:ext cx="8520600" cy="35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MicroPython allows making custom sensors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MicroPython on microcontroller scales down to </a:t>
            </a:r>
            <a:r>
              <a:rPr lang="en"/>
              <a:t>10 USD </a:t>
            </a:r>
            <a:r>
              <a:rPr lang="en"/>
              <a:t>hardware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emlearn-micropython enables DSP and ML models in MicroPython</a:t>
            </a:r>
            <a:br>
              <a:rPr lang="en"/>
            </a:br>
            <a:r>
              <a:rPr lang="en"/>
              <a:t>Both inference and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MicroPython and emlearn-micropython can also run in the browser. Interactive data analysis, training pipelines,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WiFi + webui + on-device storage</a:t>
            </a:r>
            <a:br>
              <a:rPr lang="en"/>
            </a:br>
            <a:r>
              <a:rPr lang="en"/>
              <a:t>allows building standalone measurement devices</a:t>
            </a:r>
            <a:br>
              <a:rPr lang="en"/>
            </a:br>
            <a:r>
              <a:rPr lang="en"/>
              <a:t>with </a:t>
            </a:r>
            <a:r>
              <a:rPr i="1" lang="en"/>
              <a:t>optional</a:t>
            </a:r>
            <a:r>
              <a:rPr lang="en"/>
              <a:t> integration with other systems</a:t>
            </a:r>
            <a:endParaRPr/>
          </a:p>
        </p:txBody>
      </p:sp>
      <p:sp>
        <p:nvSpPr>
          <p:cNvPr id="561" name="Google Shape;561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6"/>
          <p:cNvSpPr txBox="1"/>
          <p:nvPr>
            <p:ph type="ctrTitle"/>
          </p:nvPr>
        </p:nvSpPr>
        <p:spPr>
          <a:xfrm>
            <a:off x="311700" y="88741"/>
            <a:ext cx="8520600" cy="10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Call to Action</a:t>
            </a:r>
            <a:endParaRPr sz="4800"/>
          </a:p>
        </p:txBody>
      </p:sp>
      <p:sp>
        <p:nvSpPr>
          <p:cNvPr id="567" name="Google Shape;567;p66"/>
          <p:cNvSpPr txBox="1"/>
          <p:nvPr>
            <p:ph idx="1" type="subTitle"/>
          </p:nvPr>
        </p:nvSpPr>
        <p:spPr>
          <a:xfrm>
            <a:off x="348450" y="1326253"/>
            <a:ext cx="8520600" cy="22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Tutorial: Developing IoT sensors with MicroPython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Wednesday </a:t>
            </a:r>
            <a:r>
              <a:rPr b="1" lang="en" sz="2400"/>
              <a:t>2026-07-22 </a:t>
            </a:r>
            <a:br>
              <a:rPr b="1" lang="en" sz="2400"/>
            </a:br>
            <a:r>
              <a:rPr b="1" lang="en" sz="2400"/>
              <a:t>11:00–12:30 @ Room 1.19</a:t>
            </a:r>
            <a:endParaRPr b="1"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 sz="2400"/>
            </a:br>
            <a:r>
              <a:rPr lang="en" sz="2400" u="sng">
                <a:solidFill>
                  <a:schemeClr val="hlink"/>
                </a:solidFill>
                <a:hlinkClick r:id="rId3"/>
              </a:rPr>
              <a:t>https://github.com/jonnor/micropython-iot-sensors-course</a:t>
            </a:r>
            <a:r>
              <a:rPr lang="en" sz="2400"/>
              <a:t>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</p:txBody>
      </p:sp>
      <p:pic>
        <p:nvPicPr>
          <p:cNvPr id="568" name="Google Shape;568;p66"/>
          <p:cNvPicPr preferRelativeResize="0"/>
          <p:nvPr/>
        </p:nvPicPr>
        <p:blipFill rotWithShape="1">
          <a:blip r:embed="rId4">
            <a:alphaModFix/>
          </a:blip>
          <a:srcRect b="30" l="0" r="0" t="40"/>
          <a:stretch/>
        </p:blipFill>
        <p:spPr>
          <a:xfrm>
            <a:off x="5447504" y="4035547"/>
            <a:ext cx="740825" cy="742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66" title="euroscipy_logo.png"/>
          <p:cNvPicPr preferRelativeResize="0"/>
          <p:nvPr/>
        </p:nvPicPr>
        <p:blipFill rotWithShape="1">
          <a:blip r:embed="rId5">
            <a:alphaModFix/>
          </a:blip>
          <a:srcRect b="7786" l="32550" r="31681" t="6839"/>
          <a:stretch/>
        </p:blipFill>
        <p:spPr>
          <a:xfrm>
            <a:off x="2998000" y="4075083"/>
            <a:ext cx="740824" cy="66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66" title="python-logo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1800" y="4079109"/>
            <a:ext cx="691168" cy="7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66"/>
          <p:cNvPicPr preferRelativeResize="0"/>
          <p:nvPr/>
        </p:nvPicPr>
        <p:blipFill rotWithShape="1">
          <a:blip r:embed="rId7">
            <a:alphaModFix/>
          </a:blip>
          <a:srcRect b="20037" l="55534" r="0" t="6162"/>
          <a:stretch/>
        </p:blipFill>
        <p:spPr>
          <a:xfrm>
            <a:off x="4590066" y="3975120"/>
            <a:ext cx="857435" cy="7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7"/>
          <p:cNvSpPr txBox="1"/>
          <p:nvPr>
            <p:ph type="ctrTitle"/>
          </p:nvPr>
        </p:nvSpPr>
        <p:spPr>
          <a:xfrm>
            <a:off x="311708" y="253988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Embedding Data Science</a:t>
            </a:r>
            <a:br>
              <a:rPr b="1" lang="en" sz="4800"/>
            </a:br>
            <a:r>
              <a:rPr b="1" lang="en" sz="4800"/>
              <a:t>in IoT devices</a:t>
            </a:r>
            <a:br>
              <a:rPr b="1" lang="en" sz="4800"/>
            </a:br>
            <a:r>
              <a:rPr b="1" lang="en" sz="4800"/>
              <a:t>with MicroPython and emlearn</a:t>
            </a:r>
            <a:endParaRPr sz="4800"/>
          </a:p>
        </p:txBody>
      </p:sp>
      <p:sp>
        <p:nvSpPr>
          <p:cNvPr id="577" name="Google Shape;577;p67"/>
          <p:cNvSpPr txBox="1"/>
          <p:nvPr>
            <p:ph idx="1" type="subTitle"/>
          </p:nvPr>
        </p:nvSpPr>
        <p:spPr>
          <a:xfrm>
            <a:off x="311700" y="3604101"/>
            <a:ext cx="8520600" cy="5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hlink"/>
                </a:solidFill>
                <a:hlinkClick r:id="rId3"/>
              </a:rPr>
              <a:t>https://github.com/emlearn/emlearn-micropython</a:t>
            </a:r>
            <a:endParaRPr b="1" sz="2100"/>
          </a:p>
        </p:txBody>
      </p:sp>
      <p:sp>
        <p:nvSpPr>
          <p:cNvPr id="578" name="Google Shape;578;p67"/>
          <p:cNvSpPr txBox="1"/>
          <p:nvPr>
            <p:ph idx="1" type="subTitle"/>
          </p:nvPr>
        </p:nvSpPr>
        <p:spPr>
          <a:xfrm>
            <a:off x="1470525" y="4373213"/>
            <a:ext cx="44613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Jon Nordby &lt;</a:t>
            </a:r>
            <a:r>
              <a:rPr lang="en" sz="1800" u="sng">
                <a:hlinkClick r:id="rId4"/>
              </a:rPr>
              <a:t>jononor@gmail.com</a:t>
            </a:r>
            <a:r>
              <a:rPr lang="en" sz="1800"/>
              <a:t>&gt;</a:t>
            </a:r>
            <a:br>
              <a:rPr lang="en" sz="1800"/>
            </a:br>
            <a:r>
              <a:rPr lang="en" sz="1800"/>
              <a:t>EuroSciPy, Krakow, April 2026</a:t>
            </a:r>
            <a:endParaRPr sz="1800"/>
          </a:p>
        </p:txBody>
      </p:sp>
      <p:pic>
        <p:nvPicPr>
          <p:cNvPr id="579" name="Google Shape;579;p67"/>
          <p:cNvPicPr preferRelativeResize="0"/>
          <p:nvPr/>
        </p:nvPicPr>
        <p:blipFill rotWithShape="1">
          <a:blip r:embed="rId5">
            <a:alphaModFix/>
          </a:blip>
          <a:srcRect b="30" l="0" r="0" t="40"/>
          <a:stretch/>
        </p:blipFill>
        <p:spPr>
          <a:xfrm>
            <a:off x="4001762" y="2419338"/>
            <a:ext cx="1140475" cy="114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67" title="euroscipy_logo.png"/>
          <p:cNvPicPr preferRelativeResize="0"/>
          <p:nvPr/>
        </p:nvPicPr>
        <p:blipFill rotWithShape="1">
          <a:blip r:embed="rId6">
            <a:alphaModFix/>
          </a:blip>
          <a:srcRect b="7786" l="32550" r="31681" t="6839"/>
          <a:stretch/>
        </p:blipFill>
        <p:spPr>
          <a:xfrm>
            <a:off x="5324950" y="4421163"/>
            <a:ext cx="740824" cy="66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67" title="python-logo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38750" y="4425189"/>
            <a:ext cx="691168" cy="7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67"/>
          <p:cNvPicPr preferRelativeResize="0"/>
          <p:nvPr/>
        </p:nvPicPr>
        <p:blipFill rotWithShape="1">
          <a:blip r:embed="rId8">
            <a:alphaModFix/>
          </a:blip>
          <a:srcRect b="20037" l="55534" r="0" t="6162"/>
          <a:stretch/>
        </p:blipFill>
        <p:spPr>
          <a:xfrm>
            <a:off x="6917016" y="4321200"/>
            <a:ext cx="857435" cy="7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Bonus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9"/>
          <p:cNvSpPr txBox="1"/>
          <p:nvPr>
            <p:ph type="title"/>
          </p:nvPr>
        </p:nvSpPr>
        <p:spPr>
          <a:xfrm>
            <a:off x="265500" y="22237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Made with emlearn</a:t>
            </a:r>
            <a:endParaRPr/>
          </a:p>
        </p:txBody>
      </p:sp>
      <p:sp>
        <p:nvSpPr>
          <p:cNvPr id="593" name="Google Shape;593;p69"/>
          <p:cNvSpPr txBox="1"/>
          <p:nvPr>
            <p:ph idx="1" type="subTitle"/>
          </p:nvPr>
        </p:nvSpPr>
        <p:spPr>
          <a:xfrm>
            <a:off x="265500" y="37936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6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95" name="Google Shape;59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175" y="890425"/>
            <a:ext cx="743850" cy="74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600;p70"/>
          <p:cNvPicPr preferRelativeResize="0"/>
          <p:nvPr/>
        </p:nvPicPr>
        <p:blipFill rotWithShape="1">
          <a:blip r:embed="rId3">
            <a:alphaModFix/>
          </a:blip>
          <a:srcRect b="1963" l="10398" r="27559" t="8807"/>
          <a:stretch/>
        </p:blipFill>
        <p:spPr>
          <a:xfrm>
            <a:off x="0" y="0"/>
            <a:ext cx="47682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70"/>
          <p:cNvSpPr txBox="1"/>
          <p:nvPr>
            <p:ph type="title"/>
          </p:nvPr>
        </p:nvSpPr>
        <p:spPr>
          <a:xfrm>
            <a:off x="5014375" y="216425"/>
            <a:ext cx="385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 monitoring earable</a:t>
            </a:r>
            <a:endParaRPr/>
          </a:p>
        </p:txBody>
      </p:sp>
      <p:sp>
        <p:nvSpPr>
          <p:cNvPr id="602" name="Google Shape;602;p70"/>
          <p:cNvSpPr txBox="1"/>
          <p:nvPr/>
        </p:nvSpPr>
        <p:spPr>
          <a:xfrm>
            <a:off x="4906775" y="4366025"/>
            <a:ext cx="416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100">
                <a:solidFill>
                  <a:srgbClr val="595959"/>
                </a:solidFill>
              </a:rPr>
              <a:t>Remote Breathing Rate Tracking in Stationary Position</a:t>
            </a:r>
            <a:endParaRPr b="1" i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rgbClr val="595959"/>
                </a:solidFill>
              </a:rPr>
              <a:t>Using the Motion and Acoustic Sensors of Earables</a:t>
            </a:r>
            <a:endParaRPr b="1" i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595959"/>
                </a:solidFill>
              </a:rPr>
              <a:t>Tousif Ahmed et.al (2023)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603" name="Google Shape;603;p70"/>
          <p:cNvSpPr txBox="1"/>
          <p:nvPr>
            <p:ph idx="1" type="body"/>
          </p:nvPr>
        </p:nvSpPr>
        <p:spPr>
          <a:xfrm>
            <a:off x="5014500" y="923875"/>
            <a:ext cx="3817800" cy="31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595959"/>
                </a:solidFill>
              </a:rPr>
              <a:t>Breathing rate</a:t>
            </a:r>
            <a:r>
              <a:rPr lang="en" sz="1400">
                <a:solidFill>
                  <a:srgbClr val="595959"/>
                </a:solidFill>
              </a:rPr>
              <a:t> is critical to monitor for persons with </a:t>
            </a:r>
            <a:r>
              <a:rPr b="1" lang="en" sz="1400">
                <a:solidFill>
                  <a:srgbClr val="595959"/>
                </a:solidFill>
              </a:rPr>
              <a:t>respiratory health problems</a:t>
            </a:r>
            <a:r>
              <a:rPr lang="en" sz="1400">
                <a:solidFill>
                  <a:srgbClr val="595959"/>
                </a:solidFill>
              </a:rPr>
              <a:t>.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Monitoring </a:t>
            </a:r>
            <a:r>
              <a:rPr b="1" lang="en" sz="1400">
                <a:solidFill>
                  <a:srgbClr val="595959"/>
                </a:solidFill>
              </a:rPr>
              <a:t>for every-day use</a:t>
            </a:r>
            <a:r>
              <a:rPr lang="en" sz="1400">
                <a:solidFill>
                  <a:srgbClr val="595959"/>
                </a:solidFill>
              </a:rPr>
              <a:t>, not just in clinical context. Using earable to replace specialized devices.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595959"/>
                </a:solidFill>
              </a:rPr>
              <a:t>Random Forest</a:t>
            </a:r>
            <a:r>
              <a:rPr lang="en" sz="1400">
                <a:solidFill>
                  <a:srgbClr val="595959"/>
                </a:solidFill>
              </a:rPr>
              <a:t> classifier for audio.</a:t>
            </a:r>
            <a:endParaRPr sz="1400">
              <a:solidFill>
                <a:srgbClr val="595959"/>
              </a:solidFill>
            </a:endParaRPr>
          </a:p>
        </p:txBody>
      </p:sp>
      <p:pic>
        <p:nvPicPr>
          <p:cNvPr id="604" name="Google Shape;604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575" y="4554150"/>
            <a:ext cx="3989550" cy="31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70"/>
          <p:cNvPicPr preferRelativeResize="0"/>
          <p:nvPr/>
        </p:nvPicPr>
        <p:blipFill rotWithShape="1">
          <a:blip r:embed="rId5">
            <a:alphaModFix/>
          </a:blip>
          <a:srcRect b="17964" l="0" r="3975" t="3593"/>
          <a:stretch/>
        </p:blipFill>
        <p:spPr>
          <a:xfrm>
            <a:off x="5290062" y="2875125"/>
            <a:ext cx="3542226" cy="74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70"/>
          <p:cNvPicPr preferRelativeResize="0"/>
          <p:nvPr/>
        </p:nvPicPr>
        <p:blipFill rotWithShape="1">
          <a:blip r:embed="rId6">
            <a:alphaModFix/>
          </a:blip>
          <a:srcRect b="0" l="902" r="2057" t="7261"/>
          <a:stretch/>
        </p:blipFill>
        <p:spPr>
          <a:xfrm>
            <a:off x="5154450" y="3626421"/>
            <a:ext cx="3989551" cy="693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 toothbrush timer</a:t>
            </a:r>
            <a:endParaRPr/>
          </a:p>
        </p:txBody>
      </p:sp>
      <p:sp>
        <p:nvSpPr>
          <p:cNvPr id="612" name="Google Shape;612;p71"/>
          <p:cNvSpPr txBox="1"/>
          <p:nvPr>
            <p:ph idx="1" type="body"/>
          </p:nvPr>
        </p:nvSpPr>
        <p:spPr>
          <a:xfrm>
            <a:off x="311700" y="3462275"/>
            <a:ext cx="5808900" cy="15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Stock hardware: M5StickC PLUS 2 by M5Stack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~500 lines of MicroPython code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Collected and labeled data in ~1 hour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Data collection and training tools:</a:t>
            </a:r>
            <a:br>
              <a:rPr lang="en" sz="1100"/>
            </a:br>
            <a:r>
              <a:rPr lang="en" sz="1100" u="sng">
                <a:solidFill>
                  <a:schemeClr val="hlink"/>
                </a:solidFill>
                <a:hlinkClick r:id="rId3"/>
              </a:rPr>
              <a:t>https://github.com/emlearn/emlearn-micropython/tree/master/examples/har_trees</a:t>
            </a:r>
            <a:endParaRPr sz="1100"/>
          </a:p>
        </p:txBody>
      </p:sp>
      <p:sp>
        <p:nvSpPr>
          <p:cNvPr id="613" name="Google Shape;613;p71"/>
          <p:cNvSpPr txBox="1"/>
          <p:nvPr/>
        </p:nvSpPr>
        <p:spPr>
          <a:xfrm>
            <a:off x="4541750" y="463625"/>
            <a:ext cx="200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https://github.com/</a:t>
            </a:r>
            <a:br>
              <a:rPr lang="en" sz="1200" u="sng">
                <a:solidFill>
                  <a:schemeClr val="hlink"/>
                </a:solidFill>
                <a:hlinkClick r:id="rId5"/>
              </a:rPr>
            </a:br>
            <a:r>
              <a:rPr lang="en" sz="1200" u="sng">
                <a:solidFill>
                  <a:schemeClr val="hlink"/>
                </a:solidFill>
                <a:hlinkClick r:id="rId6"/>
              </a:rPr>
              <a:t>jonnor/toothbrush/</a:t>
            </a:r>
            <a:r>
              <a:rPr lang="en" sz="1200"/>
              <a:t> </a:t>
            </a:r>
            <a:endParaRPr sz="1200"/>
          </a:p>
        </p:txBody>
      </p:sp>
      <p:pic>
        <p:nvPicPr>
          <p:cNvPr id="614" name="Google Shape;614;p71"/>
          <p:cNvPicPr preferRelativeResize="0"/>
          <p:nvPr/>
        </p:nvPicPr>
        <p:blipFill rotWithShape="1">
          <a:blip r:embed="rId7">
            <a:alphaModFix/>
          </a:blip>
          <a:srcRect b="21844" l="31297" r="8805" t="20671"/>
          <a:stretch/>
        </p:blipFill>
        <p:spPr>
          <a:xfrm>
            <a:off x="311700" y="913825"/>
            <a:ext cx="5442652" cy="26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71"/>
          <p:cNvPicPr preferRelativeResize="0"/>
          <p:nvPr/>
        </p:nvPicPr>
        <p:blipFill rotWithShape="1">
          <a:blip r:embed="rId7">
            <a:alphaModFix/>
          </a:blip>
          <a:srcRect b="0" l="0" r="71806" t="0"/>
          <a:stretch/>
        </p:blipFill>
        <p:spPr>
          <a:xfrm>
            <a:off x="6215850" y="-24725"/>
            <a:ext cx="2928152" cy="519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620;p72"/>
          <p:cNvPicPr preferRelativeResize="0"/>
          <p:nvPr/>
        </p:nvPicPr>
        <p:blipFill rotWithShape="1">
          <a:blip r:embed="rId3">
            <a:alphaModFix/>
          </a:blip>
          <a:srcRect b="0" l="35237" r="15830" t="0"/>
          <a:stretch/>
        </p:blipFill>
        <p:spPr>
          <a:xfrm>
            <a:off x="4677225" y="0"/>
            <a:ext cx="44667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72"/>
          <p:cNvSpPr txBox="1"/>
          <p:nvPr>
            <p:ph type="title"/>
          </p:nvPr>
        </p:nvSpPr>
        <p:spPr>
          <a:xfrm>
            <a:off x="311700" y="368825"/>
            <a:ext cx="412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Electric grid monitoring</a:t>
            </a:r>
            <a:endParaRPr/>
          </a:p>
        </p:txBody>
      </p:sp>
      <p:sp>
        <p:nvSpPr>
          <p:cNvPr id="622" name="Google Shape;622;p72"/>
          <p:cNvSpPr txBox="1"/>
          <p:nvPr>
            <p:ph idx="1" type="body"/>
          </p:nvPr>
        </p:nvSpPr>
        <p:spPr>
          <a:xfrm>
            <a:off x="311700" y="1000075"/>
            <a:ext cx="4128900" cy="3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95959"/>
                </a:solidFill>
              </a:rPr>
              <a:t>Detect and localize faults in the electric grid.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400">
                <a:solidFill>
                  <a:srgbClr val="595959"/>
                </a:solidFill>
              </a:rPr>
            </a:br>
            <a:r>
              <a:rPr lang="en" sz="1400">
                <a:solidFill>
                  <a:srgbClr val="595959"/>
                </a:solidFill>
              </a:rPr>
              <a:t>Analyzes the voltage signals at a single location.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Able to detect where the fault originated. 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Runs on a DSP board from Texas Instruments. 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3" name="Google Shape;623;p72"/>
          <p:cNvSpPr txBox="1"/>
          <p:nvPr/>
        </p:nvSpPr>
        <p:spPr>
          <a:xfrm>
            <a:off x="295800" y="4061225"/>
            <a:ext cx="2889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rgbClr val="595959"/>
                </a:solidFill>
              </a:rPr>
              <a:t>Micro Random Forest: A Local, High-Speed Implementation of a Machine-Learning Fault Location Method for Distribution Power Systems</a:t>
            </a:r>
            <a:endParaRPr b="1" i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595959"/>
                </a:solidFill>
              </a:rPr>
              <a:t>Tousif Ahmed et.al (2023)</a:t>
            </a:r>
            <a:endParaRPr b="1" sz="1100">
              <a:solidFill>
                <a:srgbClr val="595959"/>
              </a:solidFill>
            </a:endParaRPr>
          </a:p>
        </p:txBody>
      </p:sp>
      <p:pic>
        <p:nvPicPr>
          <p:cNvPr id="624" name="Google Shape;624;p72"/>
          <p:cNvPicPr preferRelativeResize="0"/>
          <p:nvPr/>
        </p:nvPicPr>
        <p:blipFill rotWithShape="1">
          <a:blip r:embed="rId4">
            <a:alphaModFix/>
          </a:blip>
          <a:srcRect b="25152" l="14578" r="6794" t="18979"/>
          <a:stretch/>
        </p:blipFill>
        <p:spPr>
          <a:xfrm>
            <a:off x="396975" y="2517525"/>
            <a:ext cx="3027275" cy="147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72"/>
          <p:cNvPicPr preferRelativeResize="0"/>
          <p:nvPr/>
        </p:nvPicPr>
        <p:blipFill rotWithShape="1">
          <a:blip r:embed="rId5">
            <a:alphaModFix/>
          </a:blip>
          <a:srcRect b="11744" l="5179" r="4601" t="12291"/>
          <a:stretch/>
        </p:blipFill>
        <p:spPr>
          <a:xfrm>
            <a:off x="4978500" y="3568703"/>
            <a:ext cx="4046075" cy="147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57825" y="4513463"/>
            <a:ext cx="1211475" cy="47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3"/>
          <p:cNvSpPr txBox="1"/>
          <p:nvPr>
            <p:ph type="title"/>
          </p:nvPr>
        </p:nvSpPr>
        <p:spPr>
          <a:xfrm>
            <a:off x="265500" y="22237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model optimization</a:t>
            </a:r>
            <a:endParaRPr/>
          </a:p>
        </p:txBody>
      </p:sp>
      <p:sp>
        <p:nvSpPr>
          <p:cNvPr id="632" name="Google Shape;632;p73"/>
          <p:cNvSpPr txBox="1"/>
          <p:nvPr>
            <p:ph idx="1" type="subTitle"/>
          </p:nvPr>
        </p:nvSpPr>
        <p:spPr>
          <a:xfrm>
            <a:off x="265500" y="37936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7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https://emlearn.readthedocs.io/en/latest/model_optimization.html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https://emlearn.readthedocs.io/en/latest/tree_based_models.html</a:t>
            </a:r>
            <a:r>
              <a:rPr lang="en"/>
              <a:t> </a:t>
            </a:r>
            <a:endParaRPr/>
          </a:p>
        </p:txBody>
      </p:sp>
      <p:pic>
        <p:nvPicPr>
          <p:cNvPr id="634" name="Google Shape;634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6175" y="890425"/>
            <a:ext cx="743850" cy="74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4"/>
          <p:cNvSpPr txBox="1"/>
          <p:nvPr>
            <p:ph idx="1" type="body"/>
          </p:nvPr>
        </p:nvSpPr>
        <p:spPr>
          <a:xfrm>
            <a:off x="433375" y="4180625"/>
            <a:ext cx="8520600" cy="8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Utilities for finding Pareto front in </a:t>
            </a:r>
            <a:r>
              <a:rPr b="1" lang="en" sz="1400"/>
              <a:t>emlearn.evaluate.pareto</a:t>
            </a:r>
            <a:r>
              <a:rPr lang="en" sz="1400"/>
              <a:t>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https://emlearn.readthedocs.io/en/latest/evaluate.html</a:t>
            </a:r>
            <a:br>
              <a:rPr lang="en" sz="1400"/>
            </a:br>
            <a:r>
              <a:rPr lang="en" sz="1400"/>
              <a:t>Example: </a:t>
            </a:r>
            <a:r>
              <a:rPr lang="en" sz="1400" u="sng">
                <a:solidFill>
                  <a:schemeClr val="hlink"/>
                </a:solidFill>
                <a:hlinkClick r:id="rId4"/>
              </a:rPr>
              <a:t>https://emlearn.readthedocs.io/en/latest/auto_examples/trees_hyperparameters.html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40" name="Google Shape;640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Pareto front - performance/compute tradeoffs </a:t>
            </a:r>
            <a:endParaRPr/>
          </a:p>
        </p:txBody>
      </p:sp>
      <p:pic>
        <p:nvPicPr>
          <p:cNvPr id="641" name="Google Shape;641;p74" title="Pareto-optimal-solutions.png"/>
          <p:cNvPicPr preferRelativeResize="0"/>
          <p:nvPr/>
        </p:nvPicPr>
        <p:blipFill rotWithShape="1">
          <a:blip r:embed="rId5">
            <a:alphaModFix/>
          </a:blip>
          <a:srcRect b="2676" l="0" r="0" t="0"/>
          <a:stretch/>
        </p:blipFill>
        <p:spPr>
          <a:xfrm>
            <a:off x="4359825" y="1280800"/>
            <a:ext cx="4416350" cy="29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74"/>
          <p:cNvSpPr txBox="1"/>
          <p:nvPr>
            <p:ph idx="1" type="body"/>
          </p:nvPr>
        </p:nvSpPr>
        <p:spPr>
          <a:xfrm>
            <a:off x="433375" y="1302750"/>
            <a:ext cx="3926400" cy="27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Many possible combinations of </a:t>
            </a:r>
            <a:r>
              <a:rPr b="1" lang="en" sz="1400">
                <a:solidFill>
                  <a:schemeClr val="dk1"/>
                </a:solidFill>
              </a:rPr>
              <a:t>predictive </a:t>
            </a:r>
            <a:r>
              <a:rPr b="1" lang="en" sz="1400">
                <a:solidFill>
                  <a:schemeClr val="dk1"/>
                </a:solidFill>
              </a:rPr>
              <a:t>performance</a:t>
            </a:r>
            <a:r>
              <a:rPr lang="en" sz="1400">
                <a:solidFill>
                  <a:schemeClr val="dk1"/>
                </a:solidFill>
              </a:rPr>
              <a:t> vs </a:t>
            </a:r>
            <a:r>
              <a:rPr b="1" lang="en" sz="1400">
                <a:solidFill>
                  <a:schemeClr val="dk1"/>
                </a:solidFill>
              </a:rPr>
              <a:t>computational cost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No point considering the non-optimal solutions!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400">
                <a:solidFill>
                  <a:schemeClr val="dk1"/>
                </a:solidFill>
              </a:rPr>
              <a:t>Pareto front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is formed by the set of optimal solutions - that dominate the non-optimal ones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Describes the </a:t>
            </a:r>
            <a:r>
              <a:rPr b="1" lang="en" sz="1400">
                <a:solidFill>
                  <a:schemeClr val="dk1"/>
                </a:solidFill>
              </a:rPr>
              <a:t>possible</a:t>
            </a:r>
            <a:r>
              <a:rPr lang="en" sz="1400">
                <a:solidFill>
                  <a:schemeClr val="dk1"/>
                </a:solidFill>
              </a:rPr>
              <a:t> </a:t>
            </a:r>
            <a:r>
              <a:rPr b="1" lang="en" sz="1400">
                <a:solidFill>
                  <a:schemeClr val="dk1"/>
                </a:solidFill>
              </a:rPr>
              <a:t>tradeoffs between predictive </a:t>
            </a:r>
            <a:r>
              <a:rPr b="1" lang="en" sz="1400">
                <a:solidFill>
                  <a:schemeClr val="dk1"/>
                </a:solidFill>
              </a:rPr>
              <a:t>performance</a:t>
            </a:r>
            <a:r>
              <a:rPr b="1" lang="en" sz="1400">
                <a:solidFill>
                  <a:schemeClr val="dk1"/>
                </a:solidFill>
              </a:rPr>
              <a:t> and compute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p75" title="s09_rf-concep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5225" y="244825"/>
            <a:ext cx="4566176" cy="4643277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tree-ensemble models work</a:t>
            </a:r>
            <a:endParaRPr/>
          </a:p>
        </p:txBody>
      </p:sp>
      <p:sp>
        <p:nvSpPr>
          <p:cNvPr id="649" name="Google Shape;649;p75"/>
          <p:cNvSpPr txBox="1"/>
          <p:nvPr>
            <p:ph idx="1" type="body"/>
          </p:nvPr>
        </p:nvSpPr>
        <p:spPr>
          <a:xfrm>
            <a:off x="311700" y="4417875"/>
            <a:ext cx="38058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50" name="Google Shape;650;p75" title="A-simple-decision-tree-classifier-with-4-features.png"/>
          <p:cNvPicPr preferRelativeResize="0"/>
          <p:nvPr/>
        </p:nvPicPr>
        <p:blipFill rotWithShape="1">
          <a:blip r:embed="rId4">
            <a:alphaModFix/>
          </a:blip>
          <a:srcRect b="0" l="6899" r="0" t="0"/>
          <a:stretch/>
        </p:blipFill>
        <p:spPr>
          <a:xfrm>
            <a:off x="374550" y="1152475"/>
            <a:ext cx="4060675" cy="305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6"/>
          <p:cNvSpPr txBox="1"/>
          <p:nvPr>
            <p:ph idx="1" type="body"/>
          </p:nvPr>
        </p:nvSpPr>
        <p:spPr>
          <a:xfrm>
            <a:off x="311700" y="1152475"/>
            <a:ext cx="8520600" cy="29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No. features </a:t>
            </a:r>
            <a:r>
              <a:rPr b="1" lang="en">
                <a:solidFill>
                  <a:schemeClr val="dk1"/>
                </a:solidFill>
              </a:rPr>
              <a:t>		F </a:t>
            </a:r>
            <a:r>
              <a:rPr lang="en">
                <a:solidFill>
                  <a:schemeClr val="dk1"/>
                </a:solidFill>
              </a:rPr>
              <a:t>[0]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No. trees </a:t>
            </a:r>
            <a:r>
              <a:rPr b="1" lang="en">
                <a:solidFill>
                  <a:schemeClr val="dk1"/>
                </a:solidFill>
              </a:rPr>
              <a:t>		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Tree Depth</a:t>
            </a:r>
            <a:r>
              <a:rPr b="1" lang="en">
                <a:solidFill>
                  <a:schemeClr val="dk1"/>
                </a:solidFill>
              </a:rPr>
              <a:t> 		D_max </a:t>
            </a:r>
            <a:r>
              <a:rPr lang="en">
                <a:solidFill>
                  <a:schemeClr val="dk1"/>
                </a:solidFill>
              </a:rPr>
              <a:t>[1]</a:t>
            </a:r>
            <a:r>
              <a:rPr b="1" lang="en">
                <a:solidFill>
                  <a:schemeClr val="dk1"/>
                </a:solidFill>
              </a:rPr>
              <a:t> / D_eff</a:t>
            </a:r>
            <a:r>
              <a:rPr lang="en">
                <a:solidFill>
                  <a:schemeClr val="dk1"/>
                </a:solidFill>
              </a:rPr>
              <a:t> [2]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No. nodes</a:t>
            </a:r>
            <a:r>
              <a:rPr b="1" lang="en">
                <a:solidFill>
                  <a:schemeClr val="dk1"/>
                </a:solidFill>
              </a:rPr>
              <a:t> 		N ≈ T </a:t>
            </a:r>
            <a:r>
              <a:rPr lang="en">
                <a:solidFill>
                  <a:schemeClr val="dk1"/>
                </a:solidFill>
              </a:rPr>
              <a:t>*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(2 **</a:t>
            </a:r>
            <a:r>
              <a:rPr b="1" lang="en">
                <a:solidFill>
                  <a:schemeClr val="dk1"/>
                </a:solidFill>
              </a:rPr>
              <a:t> D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Computational costs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Memory (RAM)</a:t>
            </a:r>
            <a:r>
              <a:rPr b="1" lang="en">
                <a:solidFill>
                  <a:schemeClr val="dk1"/>
                </a:solidFill>
              </a:rPr>
              <a:t>   		</a:t>
            </a:r>
            <a:r>
              <a:rPr lang="en">
                <a:solidFill>
                  <a:schemeClr val="dk1"/>
                </a:solidFill>
              </a:rPr>
              <a:t>O(</a:t>
            </a:r>
            <a:r>
              <a:rPr b="1" lang="en">
                <a:solidFill>
                  <a:schemeClr val="dk1"/>
                </a:solidFill>
              </a:rPr>
              <a:t>F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Program (FLASH)</a:t>
            </a:r>
            <a:r>
              <a:rPr b="1"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O(</a:t>
            </a:r>
            <a:r>
              <a:rPr b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[3]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Exc. time (CPU)</a:t>
            </a:r>
            <a:r>
              <a:rPr b="1" lang="en">
                <a:solidFill>
                  <a:schemeClr val="dk1"/>
                </a:solidFill>
              </a:rPr>
              <a:t>		</a:t>
            </a:r>
            <a:r>
              <a:rPr lang="en">
                <a:solidFill>
                  <a:schemeClr val="dk1"/>
                </a:solidFill>
              </a:rPr>
              <a:t>sum(</a:t>
            </a:r>
            <a:r>
              <a:rPr b="1" lang="en">
                <a:solidFill>
                  <a:schemeClr val="dk1"/>
                </a:solidFill>
              </a:rPr>
              <a:t>D_eff</a:t>
            </a:r>
            <a:r>
              <a:rPr lang="en">
                <a:solidFill>
                  <a:schemeClr val="dk1"/>
                </a:solidFill>
              </a:rPr>
              <a:t>(t)</a:t>
            </a:r>
            <a:r>
              <a:rPr b="1"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chemeClr val="dk1"/>
                </a:solidFill>
              </a:rPr>
              <a:t>t -&gt;</a:t>
            </a:r>
            <a:r>
              <a:rPr b="1" lang="en">
                <a:solidFill>
                  <a:schemeClr val="dk1"/>
                </a:solidFill>
              </a:rPr>
              <a:t> T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[0] May also enable deeper trees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[1] Depth might differ across trees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[2] Execution path is data dependent! Can estimate average using a dataset, or worst-case from model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[3] Assuming leaf and decision nodes same size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56" name="Google Shape;656;p76"/>
          <p:cNvPicPr preferRelativeResize="0"/>
          <p:nvPr/>
        </p:nvPicPr>
        <p:blipFill rotWithShape="1">
          <a:blip r:embed="rId3">
            <a:alphaModFix/>
          </a:blip>
          <a:srcRect b="53862" l="0" r="33168" t="0"/>
          <a:stretch/>
        </p:blipFill>
        <p:spPr>
          <a:xfrm>
            <a:off x="4779875" y="626350"/>
            <a:ext cx="3406700" cy="1671226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Tree-based ensembles - costs</a:t>
            </a:r>
            <a:endParaRPr/>
          </a:p>
        </p:txBody>
      </p:sp>
      <p:sp>
        <p:nvSpPr>
          <p:cNvPr id="658" name="Google Shape;658;p76"/>
          <p:cNvSpPr txBox="1"/>
          <p:nvPr/>
        </p:nvSpPr>
        <p:spPr>
          <a:xfrm>
            <a:off x="5160875" y="2519825"/>
            <a:ext cx="3694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Utilities for estimating costs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from </a:t>
            </a:r>
            <a:r>
              <a:rPr b="1" lang="en"/>
              <a:t>emlearn.evaluate.trees</a:t>
            </a:r>
            <a:r>
              <a:rPr lang="en"/>
              <a:t> import</a:t>
            </a:r>
            <a:br>
              <a:rPr lang="en"/>
            </a:br>
            <a:r>
              <a:rPr lang="en"/>
              <a:t>model_size_bytes, </a:t>
            </a:r>
            <a:br>
              <a:rPr lang="en"/>
            </a:br>
            <a:r>
              <a:rPr lang="en"/>
              <a:t>compute_cost_estimate</a:t>
            </a:r>
            <a:endParaRPr/>
          </a:p>
        </p:txBody>
      </p:sp>
      <p:sp>
        <p:nvSpPr>
          <p:cNvPr id="659" name="Google Shape;659;p76"/>
          <p:cNvSpPr txBox="1"/>
          <p:nvPr/>
        </p:nvSpPr>
        <p:spPr>
          <a:xfrm>
            <a:off x="5356025" y="76200"/>
            <a:ext cx="203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Input features, length </a:t>
            </a:r>
            <a:r>
              <a:rPr b="1" lang="en" sz="1200">
                <a:solidFill>
                  <a:schemeClr val="dk2"/>
                </a:solidFill>
              </a:rPr>
              <a:t>F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[ 0.23, 0.56, 0.11, 0.55 ]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60" name="Google Shape;660;p76"/>
          <p:cNvSpPr txBox="1"/>
          <p:nvPr/>
        </p:nvSpPr>
        <p:spPr>
          <a:xfrm>
            <a:off x="5174500" y="1019900"/>
            <a:ext cx="72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Tree 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61" name="Google Shape;661;p76"/>
          <p:cNvSpPr txBox="1"/>
          <p:nvPr/>
        </p:nvSpPr>
        <p:spPr>
          <a:xfrm>
            <a:off x="6883800" y="1019900"/>
            <a:ext cx="72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Tree 2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662" name="Google Shape;662;p76"/>
          <p:cNvCxnSpPr/>
          <p:nvPr/>
        </p:nvCxnSpPr>
        <p:spPr>
          <a:xfrm>
            <a:off x="6268450" y="661750"/>
            <a:ext cx="15300" cy="10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3" name="Google Shape;663;p76"/>
          <p:cNvSpPr txBox="1"/>
          <p:nvPr/>
        </p:nvSpPr>
        <p:spPr>
          <a:xfrm>
            <a:off x="6264425" y="674575"/>
            <a:ext cx="72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Depth</a:t>
            </a:r>
            <a:br>
              <a:rPr lang="en" sz="1200">
                <a:solidFill>
                  <a:schemeClr val="dk2"/>
                </a:solidFill>
              </a:rPr>
            </a:br>
            <a:r>
              <a:rPr b="1" lang="en" sz="1200">
                <a:solidFill>
                  <a:schemeClr val="dk2"/>
                </a:solidFill>
              </a:rPr>
              <a:t>D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664" name="Google Shape;664;p76"/>
          <p:cNvSpPr txBox="1"/>
          <p:nvPr/>
        </p:nvSpPr>
        <p:spPr>
          <a:xfrm>
            <a:off x="7312075" y="1879950"/>
            <a:ext cx="49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cl1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65" name="Google Shape;665;p76"/>
          <p:cNvSpPr txBox="1"/>
          <p:nvPr/>
        </p:nvSpPr>
        <p:spPr>
          <a:xfrm>
            <a:off x="7693075" y="1879950"/>
            <a:ext cx="49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cl2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66" name="Google Shape;666;p76"/>
          <p:cNvSpPr txBox="1"/>
          <p:nvPr/>
        </p:nvSpPr>
        <p:spPr>
          <a:xfrm>
            <a:off x="7445550" y="522175"/>
            <a:ext cx="162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IF features[2] &lt; 0.74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THEN </a:t>
            </a:r>
            <a:r>
              <a:rPr lang="en" sz="1200">
                <a:solidFill>
                  <a:schemeClr val="dk2"/>
                </a:solidFill>
              </a:rPr>
              <a:t>next=</a:t>
            </a:r>
            <a:r>
              <a:rPr lang="en" sz="1200">
                <a:solidFill>
                  <a:schemeClr val="dk2"/>
                </a:solidFill>
              </a:rPr>
              <a:t>left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ELSE next=right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77"/>
          <p:cNvSpPr txBox="1"/>
          <p:nvPr>
            <p:ph idx="1" type="body"/>
          </p:nvPr>
        </p:nvSpPr>
        <p:spPr>
          <a:xfrm>
            <a:off x="311700" y="695275"/>
            <a:ext cx="8520600" cy="19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No. features 		F</a:t>
            </a:r>
            <a:r>
              <a:rPr b="1" lang="en">
                <a:solidFill>
                  <a:schemeClr val="dk1"/>
                </a:solidFill>
              </a:rPr>
              <a:t>				</a:t>
            </a:r>
            <a:r>
              <a:rPr lang="en">
                <a:solidFill>
                  <a:schemeClr val="dk1"/>
                </a:solidFill>
              </a:rPr>
              <a:t>increases capacity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No. trees 		T</a:t>
            </a:r>
            <a:r>
              <a:rPr b="1" lang="en">
                <a:solidFill>
                  <a:schemeClr val="dk1"/>
                </a:solidFill>
              </a:rPr>
              <a:t>				</a:t>
            </a:r>
            <a:r>
              <a:rPr lang="en">
                <a:solidFill>
                  <a:schemeClr val="dk1"/>
                </a:solidFill>
              </a:rPr>
              <a:t>increases capacity, </a:t>
            </a:r>
            <a:r>
              <a:rPr b="1" lang="en">
                <a:solidFill>
                  <a:schemeClr val="dk1"/>
                </a:solidFill>
              </a:rPr>
              <a:t>decreases overfitting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Tree Depth 		D_max / D_eff</a:t>
            </a:r>
            <a:r>
              <a:rPr b="1" lang="en">
                <a:solidFill>
                  <a:schemeClr val="dk1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increases capacity, </a:t>
            </a:r>
            <a:r>
              <a:rPr b="1" lang="en">
                <a:solidFill>
                  <a:schemeClr val="dk1"/>
                </a:solidFill>
              </a:rPr>
              <a:t>increases overfitting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No. nodes 		</a:t>
            </a:r>
            <a:r>
              <a:rPr lang="en">
                <a:solidFill>
                  <a:schemeClr val="dk1"/>
                </a:solidFill>
              </a:rPr>
              <a:t>N ≈ T * 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</a:t>
            </a:r>
            <a:r>
              <a:rPr b="1" lang="en">
                <a:solidFill>
                  <a:schemeClr val="dk1"/>
                </a:solidFill>
              </a:rPr>
              <a:t>generalized performance</a:t>
            </a:r>
            <a:r>
              <a:rPr lang="en">
                <a:solidFill>
                  <a:schemeClr val="dk1"/>
                </a:solidFill>
              </a:rPr>
              <a:t> (on unseen data), </a:t>
            </a:r>
            <a:r>
              <a:rPr b="1" lang="en">
                <a:solidFill>
                  <a:schemeClr val="dk1"/>
                </a:solidFill>
              </a:rPr>
              <a:t>need to balance overfitting.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2" name="Google Shape;672;p7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Tree-based ensemble - predictive performance</a:t>
            </a:r>
            <a:endParaRPr/>
          </a:p>
        </p:txBody>
      </p:sp>
      <p:pic>
        <p:nvPicPr>
          <p:cNvPr id="673" name="Google Shape;673;p77" title="randomforest-distrib-parkinson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600" y="2463550"/>
            <a:ext cx="6601275" cy="2750525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77"/>
          <p:cNvSpPr/>
          <p:nvPr/>
        </p:nvSpPr>
        <p:spPr>
          <a:xfrm>
            <a:off x="5103065" y="3632531"/>
            <a:ext cx="1316400" cy="7569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77"/>
          <p:cNvSpPr/>
          <p:nvPr/>
        </p:nvSpPr>
        <p:spPr>
          <a:xfrm>
            <a:off x="3790670" y="3849762"/>
            <a:ext cx="1231200" cy="850500"/>
          </a:xfrm>
          <a:prstGeom prst="ellipse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77"/>
          <p:cNvSpPr/>
          <p:nvPr/>
        </p:nvSpPr>
        <p:spPr>
          <a:xfrm>
            <a:off x="5188234" y="2547725"/>
            <a:ext cx="1231200" cy="850500"/>
          </a:xfrm>
          <a:prstGeom prst="ellipse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8"/>
          <p:cNvSpPr txBox="1"/>
          <p:nvPr>
            <p:ph idx="1" type="body"/>
          </p:nvPr>
        </p:nvSpPr>
        <p:spPr>
          <a:xfrm>
            <a:off x="311700" y="695275"/>
            <a:ext cx="8520600" cy="16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Vary </a:t>
            </a:r>
            <a:r>
              <a:rPr b="1" lang="en">
                <a:solidFill>
                  <a:schemeClr val="dk1"/>
                </a:solidFill>
              </a:rPr>
              <a:t>n_estimators</a:t>
            </a:r>
            <a:r>
              <a:rPr lang="en">
                <a:solidFill>
                  <a:schemeClr val="dk1"/>
                </a:solidFill>
              </a:rPr>
              <a:t> (trees)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and </a:t>
            </a:r>
            <a:r>
              <a:rPr i="1" lang="en">
                <a:solidFill>
                  <a:schemeClr val="dk1"/>
                </a:solidFill>
              </a:rPr>
              <a:t>one </a:t>
            </a:r>
            <a:r>
              <a:rPr lang="en">
                <a:solidFill>
                  <a:schemeClr val="dk1"/>
                </a:solidFill>
              </a:rPr>
              <a:t>of the </a:t>
            </a:r>
            <a:r>
              <a:rPr b="1" lang="en">
                <a:solidFill>
                  <a:schemeClr val="dk1"/>
                </a:solidFill>
              </a:rPr>
              <a:t>depth limiting </a:t>
            </a:r>
            <a:r>
              <a:rPr lang="en">
                <a:solidFill>
                  <a:schemeClr val="dk1"/>
                </a:solidFill>
              </a:rPr>
              <a:t>hyperparameters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from sklearn.model_selection import </a:t>
            </a:r>
            <a:r>
              <a:rPr b="1" lang="en">
                <a:solidFill>
                  <a:schemeClr val="dk1"/>
                </a:solidFill>
              </a:rPr>
              <a:t>GridSearchCV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RandomizedSearchCV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2" name="Google Shape;682;p7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Hyperparameter tuning with scikit-learn</a:t>
            </a:r>
            <a:endParaRPr/>
          </a:p>
        </p:txBody>
      </p:sp>
      <p:sp>
        <p:nvSpPr>
          <p:cNvPr id="683" name="Google Shape;683;p78"/>
          <p:cNvSpPr txBox="1"/>
          <p:nvPr/>
        </p:nvSpPr>
        <p:spPr>
          <a:xfrm>
            <a:off x="463275" y="4750975"/>
            <a:ext cx="69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https://emlearn.readthedocs.io/en/latest/auto_examples/trees_hyperparameters.html</a:t>
            </a:r>
            <a:r>
              <a:rPr lang="en"/>
              <a:t> </a:t>
            </a:r>
            <a:endParaRPr/>
          </a:p>
        </p:txBody>
      </p:sp>
      <p:pic>
        <p:nvPicPr>
          <p:cNvPr id="684" name="Google Shape;684;p78" title="sphx_glr_trees_hyperparameters_004.png"/>
          <p:cNvPicPr preferRelativeResize="0"/>
          <p:nvPr/>
        </p:nvPicPr>
        <p:blipFill rotWithShape="1">
          <a:blip r:embed="rId4">
            <a:alphaModFix/>
          </a:blip>
          <a:srcRect b="2875" l="0" r="0" t="0"/>
          <a:stretch/>
        </p:blipFill>
        <p:spPr>
          <a:xfrm>
            <a:off x="417700" y="1941825"/>
            <a:ext cx="7427100" cy="28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9"/>
          <p:cNvSpPr txBox="1"/>
          <p:nvPr>
            <p:ph type="title"/>
          </p:nvPr>
        </p:nvSpPr>
        <p:spPr>
          <a:xfrm>
            <a:off x="265500" y="20007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Sensors with MicroPython</a:t>
            </a:r>
            <a:endParaRPr/>
          </a:p>
        </p:txBody>
      </p:sp>
      <p:sp>
        <p:nvSpPr>
          <p:cNvPr id="690" name="Google Shape;690;p79"/>
          <p:cNvSpPr txBox="1"/>
          <p:nvPr>
            <p:ph idx="1" type="subTitle"/>
          </p:nvPr>
        </p:nvSpPr>
        <p:spPr>
          <a:xfrm>
            <a:off x="265500" y="35706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7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2" name="Google Shape;69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175" y="890425"/>
            <a:ext cx="743850" cy="74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80"/>
          <p:cNvSpPr txBox="1"/>
          <p:nvPr>
            <p:ph idx="1" type="body"/>
          </p:nvPr>
        </p:nvSpPr>
        <p:spPr>
          <a:xfrm>
            <a:off x="311700" y="1000075"/>
            <a:ext cx="3357000" cy="15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Memory (RAM)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Program space (FLASH)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Inference time (CPU)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Energy (battery)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98" name="Google Shape;698;p80"/>
          <p:cNvSpPr txBox="1"/>
          <p:nvPr>
            <p:ph type="title"/>
          </p:nvPr>
        </p:nvSpPr>
        <p:spPr>
          <a:xfrm>
            <a:off x="311700" y="445025"/>
            <a:ext cx="365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constraints</a:t>
            </a:r>
            <a:endParaRPr/>
          </a:p>
        </p:txBody>
      </p:sp>
      <p:sp>
        <p:nvSpPr>
          <p:cNvPr id="699" name="Google Shape;699;p80"/>
          <p:cNvSpPr txBox="1"/>
          <p:nvPr/>
        </p:nvSpPr>
        <p:spPr>
          <a:xfrm>
            <a:off x="6180525" y="573525"/>
            <a:ext cx="95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ML pipeline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700" name="Google Shape;700;p80"/>
          <p:cNvSpPr txBox="1"/>
          <p:nvPr/>
        </p:nvSpPr>
        <p:spPr>
          <a:xfrm>
            <a:off x="6180525" y="2091350"/>
            <a:ext cx="10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System/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Application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01" name="Google Shape;701;p80"/>
          <p:cNvSpPr txBox="1"/>
          <p:nvPr/>
        </p:nvSpPr>
        <p:spPr>
          <a:xfrm>
            <a:off x="3592500" y="129775"/>
            <a:ext cx="58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RAM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64 kB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702" name="Google Shape;702;p80"/>
          <p:cNvGrpSpPr/>
          <p:nvPr/>
        </p:nvGrpSpPr>
        <p:grpSpPr>
          <a:xfrm>
            <a:off x="4184450" y="77975"/>
            <a:ext cx="1952400" cy="3358625"/>
            <a:chOff x="4184450" y="382775"/>
            <a:chExt cx="1952400" cy="3358625"/>
          </a:xfrm>
        </p:grpSpPr>
        <p:sp>
          <p:nvSpPr>
            <p:cNvPr id="703" name="Google Shape;703;p80"/>
            <p:cNvSpPr/>
            <p:nvPr/>
          </p:nvSpPr>
          <p:spPr>
            <a:xfrm>
              <a:off x="4184450" y="408700"/>
              <a:ext cx="1952400" cy="33327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80"/>
            <p:cNvSpPr/>
            <p:nvPr/>
          </p:nvSpPr>
          <p:spPr>
            <a:xfrm>
              <a:off x="4221775" y="2427275"/>
              <a:ext cx="1798500" cy="1245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80"/>
            <p:cNvSpPr txBox="1"/>
            <p:nvPr/>
          </p:nvSpPr>
          <p:spPr>
            <a:xfrm>
              <a:off x="4681250" y="382775"/>
              <a:ext cx="958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</a:rPr>
                <a:t>Reserved</a:t>
              </a:r>
              <a:endParaRPr sz="1200">
                <a:solidFill>
                  <a:schemeClr val="dk2"/>
                </a:solidFill>
              </a:endParaRPr>
            </a:p>
          </p:txBody>
        </p:sp>
        <p:sp>
          <p:nvSpPr>
            <p:cNvPr id="706" name="Google Shape;706;p80"/>
            <p:cNvSpPr/>
            <p:nvPr/>
          </p:nvSpPr>
          <p:spPr>
            <a:xfrm>
              <a:off x="4221775" y="752075"/>
              <a:ext cx="1798500" cy="16122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80"/>
            <p:cNvSpPr/>
            <p:nvPr/>
          </p:nvSpPr>
          <p:spPr>
            <a:xfrm>
              <a:off x="4254687" y="1323394"/>
              <a:ext cx="1672500" cy="2424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Model</a:t>
              </a:r>
              <a:endParaRPr b="1" sz="1200"/>
            </a:p>
          </p:txBody>
        </p:sp>
        <p:sp>
          <p:nvSpPr>
            <p:cNvPr id="708" name="Google Shape;708;p80"/>
            <p:cNvSpPr/>
            <p:nvPr/>
          </p:nvSpPr>
          <p:spPr>
            <a:xfrm>
              <a:off x="4254675" y="1577363"/>
              <a:ext cx="1672500" cy="3693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Pre-processing</a:t>
              </a:r>
              <a:endParaRPr sz="1200"/>
            </a:p>
          </p:txBody>
        </p:sp>
        <p:sp>
          <p:nvSpPr>
            <p:cNvPr id="709" name="Google Shape;709;p80"/>
            <p:cNvSpPr/>
            <p:nvPr/>
          </p:nvSpPr>
          <p:spPr>
            <a:xfrm>
              <a:off x="4254687" y="1069425"/>
              <a:ext cx="1672500" cy="242400"/>
            </a:xfrm>
            <a:prstGeom prst="rect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Post-processing</a:t>
              </a:r>
              <a:endParaRPr sz="1200"/>
            </a:p>
          </p:txBody>
        </p:sp>
        <p:sp>
          <p:nvSpPr>
            <p:cNvPr id="710" name="Google Shape;710;p80"/>
            <p:cNvSpPr/>
            <p:nvPr/>
          </p:nvSpPr>
          <p:spPr>
            <a:xfrm>
              <a:off x="4254675" y="1958232"/>
              <a:ext cx="1672500" cy="369300"/>
            </a:xfrm>
            <a:prstGeom prst="rect">
              <a:avLst/>
            </a:prstGeom>
            <a:solidFill>
              <a:srgbClr val="DD7E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Sensor reading</a:t>
              </a:r>
              <a:endParaRPr sz="1200"/>
            </a:p>
          </p:txBody>
        </p:sp>
        <p:sp>
          <p:nvSpPr>
            <p:cNvPr id="711" name="Google Shape;711;p80"/>
            <p:cNvSpPr/>
            <p:nvPr/>
          </p:nvSpPr>
          <p:spPr>
            <a:xfrm>
              <a:off x="4254687" y="3420388"/>
              <a:ext cx="1672500" cy="242400"/>
            </a:xfrm>
            <a:prstGeom prst="rect">
              <a:avLst/>
            </a:prstGeom>
            <a:solidFill>
              <a:srgbClr val="9E9E9E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Connectivity</a:t>
              </a:r>
              <a:endParaRPr sz="1200"/>
            </a:p>
          </p:txBody>
        </p:sp>
        <p:sp>
          <p:nvSpPr>
            <p:cNvPr id="712" name="Google Shape;712;p80"/>
            <p:cNvSpPr/>
            <p:nvPr/>
          </p:nvSpPr>
          <p:spPr>
            <a:xfrm>
              <a:off x="4254687" y="3158013"/>
              <a:ext cx="1672500" cy="242400"/>
            </a:xfrm>
            <a:prstGeom prst="rect">
              <a:avLst/>
            </a:prstGeom>
            <a:solidFill>
              <a:srgbClr val="9E9E9E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User interface</a:t>
              </a:r>
              <a:endParaRPr sz="1200"/>
            </a:p>
          </p:txBody>
        </p:sp>
        <p:sp>
          <p:nvSpPr>
            <p:cNvPr id="713" name="Google Shape;713;p80"/>
            <p:cNvSpPr/>
            <p:nvPr/>
          </p:nvSpPr>
          <p:spPr>
            <a:xfrm>
              <a:off x="4254687" y="2885413"/>
              <a:ext cx="1672500" cy="242400"/>
            </a:xfrm>
            <a:prstGeom prst="rect">
              <a:avLst/>
            </a:prstGeom>
            <a:solidFill>
              <a:srgbClr val="9E9E9E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Drivers</a:t>
              </a:r>
              <a:endParaRPr sz="1200"/>
            </a:p>
          </p:txBody>
        </p:sp>
      </p:grpSp>
      <p:sp>
        <p:nvSpPr>
          <p:cNvPr id="714" name="Google Shape;714;p80"/>
          <p:cNvSpPr txBox="1"/>
          <p:nvPr/>
        </p:nvSpPr>
        <p:spPr>
          <a:xfrm>
            <a:off x="6356500" y="129775"/>
            <a:ext cx="75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FLASH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512 kB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715" name="Google Shape;715;p80"/>
          <p:cNvGrpSpPr/>
          <p:nvPr/>
        </p:nvGrpSpPr>
        <p:grpSpPr>
          <a:xfrm>
            <a:off x="7095400" y="65650"/>
            <a:ext cx="1952400" cy="3370950"/>
            <a:chOff x="7095400" y="370450"/>
            <a:chExt cx="1952400" cy="3370950"/>
          </a:xfrm>
        </p:grpSpPr>
        <p:sp>
          <p:nvSpPr>
            <p:cNvPr id="716" name="Google Shape;716;p80"/>
            <p:cNvSpPr/>
            <p:nvPr/>
          </p:nvSpPr>
          <p:spPr>
            <a:xfrm>
              <a:off x="7095400" y="408700"/>
              <a:ext cx="1952400" cy="33327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80"/>
            <p:cNvSpPr/>
            <p:nvPr/>
          </p:nvSpPr>
          <p:spPr>
            <a:xfrm>
              <a:off x="7132725" y="2427275"/>
              <a:ext cx="1798500" cy="1245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80"/>
            <p:cNvSpPr/>
            <p:nvPr/>
          </p:nvSpPr>
          <p:spPr>
            <a:xfrm>
              <a:off x="7132725" y="878325"/>
              <a:ext cx="1798500" cy="1485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80"/>
            <p:cNvSpPr/>
            <p:nvPr/>
          </p:nvSpPr>
          <p:spPr>
            <a:xfrm>
              <a:off x="7165625" y="1338896"/>
              <a:ext cx="1672500" cy="4440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Model</a:t>
              </a:r>
              <a:endParaRPr b="1" sz="1200"/>
            </a:p>
          </p:txBody>
        </p:sp>
        <p:sp>
          <p:nvSpPr>
            <p:cNvPr id="720" name="Google Shape;720;p80"/>
            <p:cNvSpPr/>
            <p:nvPr/>
          </p:nvSpPr>
          <p:spPr>
            <a:xfrm>
              <a:off x="7165637" y="1812804"/>
              <a:ext cx="1672500" cy="2424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Pre-processing</a:t>
              </a:r>
              <a:endParaRPr sz="1200"/>
            </a:p>
          </p:txBody>
        </p:sp>
        <p:sp>
          <p:nvSpPr>
            <p:cNvPr id="721" name="Google Shape;721;p80"/>
            <p:cNvSpPr/>
            <p:nvPr/>
          </p:nvSpPr>
          <p:spPr>
            <a:xfrm>
              <a:off x="7165637" y="1066588"/>
              <a:ext cx="1672500" cy="242400"/>
            </a:xfrm>
            <a:prstGeom prst="rect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Post-processing</a:t>
              </a:r>
              <a:endParaRPr sz="1200"/>
            </a:p>
          </p:txBody>
        </p:sp>
        <p:sp>
          <p:nvSpPr>
            <p:cNvPr id="722" name="Google Shape;722;p80"/>
            <p:cNvSpPr/>
            <p:nvPr/>
          </p:nvSpPr>
          <p:spPr>
            <a:xfrm>
              <a:off x="7165637" y="2085113"/>
              <a:ext cx="1672500" cy="242400"/>
            </a:xfrm>
            <a:prstGeom prst="rect">
              <a:avLst/>
            </a:prstGeom>
            <a:solidFill>
              <a:srgbClr val="DD7E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Sensor reading</a:t>
              </a:r>
              <a:endParaRPr sz="1200"/>
            </a:p>
          </p:txBody>
        </p:sp>
        <p:sp>
          <p:nvSpPr>
            <p:cNvPr id="723" name="Google Shape;723;p80"/>
            <p:cNvSpPr/>
            <p:nvPr/>
          </p:nvSpPr>
          <p:spPr>
            <a:xfrm>
              <a:off x="7165625" y="3218800"/>
              <a:ext cx="1672500" cy="444000"/>
            </a:xfrm>
            <a:prstGeom prst="rect">
              <a:avLst/>
            </a:prstGeom>
            <a:solidFill>
              <a:srgbClr val="9E9E9E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Connectivity</a:t>
              </a:r>
              <a:endParaRPr sz="1200"/>
            </a:p>
          </p:txBody>
        </p:sp>
        <p:sp>
          <p:nvSpPr>
            <p:cNvPr id="724" name="Google Shape;724;p80"/>
            <p:cNvSpPr/>
            <p:nvPr/>
          </p:nvSpPr>
          <p:spPr>
            <a:xfrm>
              <a:off x="7165637" y="2502800"/>
              <a:ext cx="1672500" cy="242400"/>
            </a:xfrm>
            <a:prstGeom prst="rect">
              <a:avLst/>
            </a:prstGeom>
            <a:solidFill>
              <a:srgbClr val="9E9E9E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User interface</a:t>
              </a:r>
              <a:endParaRPr sz="1200"/>
            </a:p>
          </p:txBody>
        </p:sp>
        <p:sp>
          <p:nvSpPr>
            <p:cNvPr id="725" name="Google Shape;725;p80"/>
            <p:cNvSpPr/>
            <p:nvPr/>
          </p:nvSpPr>
          <p:spPr>
            <a:xfrm>
              <a:off x="7165625" y="2760009"/>
              <a:ext cx="1672500" cy="444000"/>
            </a:xfrm>
            <a:prstGeom prst="rect">
              <a:avLst/>
            </a:prstGeom>
            <a:solidFill>
              <a:srgbClr val="9E9E9E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Drivers</a:t>
              </a:r>
              <a:endParaRPr sz="1200"/>
            </a:p>
          </p:txBody>
        </p:sp>
        <p:sp>
          <p:nvSpPr>
            <p:cNvPr id="726" name="Google Shape;726;p80"/>
            <p:cNvSpPr txBox="1"/>
            <p:nvPr/>
          </p:nvSpPr>
          <p:spPr>
            <a:xfrm>
              <a:off x="7598675" y="370450"/>
              <a:ext cx="958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</a:rPr>
                <a:t>Reserved</a:t>
              </a:r>
              <a:endParaRPr sz="1200">
                <a:solidFill>
                  <a:schemeClr val="dk2"/>
                </a:solidFill>
              </a:endParaRPr>
            </a:p>
          </p:txBody>
        </p:sp>
      </p:grpSp>
      <p:cxnSp>
        <p:nvCxnSpPr>
          <p:cNvPr id="727" name="Google Shape;727;p80"/>
          <p:cNvCxnSpPr/>
          <p:nvPr/>
        </p:nvCxnSpPr>
        <p:spPr>
          <a:xfrm>
            <a:off x="942250" y="4984175"/>
            <a:ext cx="7093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8" name="Google Shape;728;p80"/>
          <p:cNvSpPr txBox="1"/>
          <p:nvPr/>
        </p:nvSpPr>
        <p:spPr>
          <a:xfrm>
            <a:off x="8035750" y="4799525"/>
            <a:ext cx="75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Time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29" name="Google Shape;729;p80"/>
          <p:cNvSpPr txBox="1"/>
          <p:nvPr/>
        </p:nvSpPr>
        <p:spPr>
          <a:xfrm>
            <a:off x="265800" y="4576925"/>
            <a:ext cx="75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Energy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730" name="Google Shape;730;p80"/>
          <p:cNvGrpSpPr/>
          <p:nvPr/>
        </p:nvGrpSpPr>
        <p:grpSpPr>
          <a:xfrm>
            <a:off x="1103125" y="3984875"/>
            <a:ext cx="1532700" cy="999300"/>
            <a:chOff x="1103125" y="3908675"/>
            <a:chExt cx="1532700" cy="999300"/>
          </a:xfrm>
        </p:grpSpPr>
        <p:sp>
          <p:nvSpPr>
            <p:cNvPr id="731" name="Google Shape;731;p80"/>
            <p:cNvSpPr/>
            <p:nvPr/>
          </p:nvSpPr>
          <p:spPr>
            <a:xfrm>
              <a:off x="2193925" y="3908675"/>
              <a:ext cx="441900" cy="999300"/>
            </a:xfrm>
            <a:prstGeom prst="rect">
              <a:avLst/>
            </a:prstGeom>
            <a:solidFill>
              <a:srgbClr val="9E9E9E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Send</a:t>
              </a:r>
              <a:endParaRPr sz="800"/>
            </a:p>
          </p:txBody>
        </p:sp>
        <p:sp>
          <p:nvSpPr>
            <p:cNvPr id="732" name="Google Shape;732;p80"/>
            <p:cNvSpPr/>
            <p:nvPr/>
          </p:nvSpPr>
          <p:spPr>
            <a:xfrm>
              <a:off x="1103125" y="4419425"/>
              <a:ext cx="183900" cy="488400"/>
            </a:xfrm>
            <a:prstGeom prst="rect">
              <a:avLst/>
            </a:prstGeom>
            <a:solidFill>
              <a:srgbClr val="DD7E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733" name="Google Shape;733;p80"/>
            <p:cNvSpPr/>
            <p:nvPr/>
          </p:nvSpPr>
          <p:spPr>
            <a:xfrm>
              <a:off x="1286995" y="4419425"/>
              <a:ext cx="421800" cy="4884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734" name="Google Shape;734;p80"/>
            <p:cNvSpPr/>
            <p:nvPr/>
          </p:nvSpPr>
          <p:spPr>
            <a:xfrm>
              <a:off x="1708732" y="4419425"/>
              <a:ext cx="301200" cy="4884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/>
            </a:p>
          </p:txBody>
        </p:sp>
        <p:sp>
          <p:nvSpPr>
            <p:cNvPr id="735" name="Google Shape;735;p80"/>
            <p:cNvSpPr/>
            <p:nvPr/>
          </p:nvSpPr>
          <p:spPr>
            <a:xfrm>
              <a:off x="2009975" y="4419425"/>
              <a:ext cx="183900" cy="488400"/>
            </a:xfrm>
            <a:prstGeom prst="rect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736" name="Google Shape;736;p80"/>
          <p:cNvSpPr txBox="1"/>
          <p:nvPr/>
        </p:nvSpPr>
        <p:spPr>
          <a:xfrm>
            <a:off x="2630275" y="4267125"/>
            <a:ext cx="150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Sleep zzzzZZZ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737" name="Google Shape;737;p80"/>
          <p:cNvGrpSpPr/>
          <p:nvPr/>
        </p:nvGrpSpPr>
        <p:grpSpPr>
          <a:xfrm>
            <a:off x="6249650" y="3984875"/>
            <a:ext cx="1532700" cy="999300"/>
            <a:chOff x="1103125" y="3908675"/>
            <a:chExt cx="1532700" cy="999300"/>
          </a:xfrm>
        </p:grpSpPr>
        <p:sp>
          <p:nvSpPr>
            <p:cNvPr id="738" name="Google Shape;738;p80"/>
            <p:cNvSpPr/>
            <p:nvPr/>
          </p:nvSpPr>
          <p:spPr>
            <a:xfrm>
              <a:off x="2193925" y="3908675"/>
              <a:ext cx="441900" cy="999300"/>
            </a:xfrm>
            <a:prstGeom prst="rect">
              <a:avLst/>
            </a:prstGeom>
            <a:solidFill>
              <a:srgbClr val="9E9E9E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Send</a:t>
              </a:r>
              <a:endParaRPr sz="800"/>
            </a:p>
          </p:txBody>
        </p:sp>
        <p:sp>
          <p:nvSpPr>
            <p:cNvPr id="739" name="Google Shape;739;p80"/>
            <p:cNvSpPr/>
            <p:nvPr/>
          </p:nvSpPr>
          <p:spPr>
            <a:xfrm>
              <a:off x="1103125" y="4419425"/>
              <a:ext cx="183900" cy="488400"/>
            </a:xfrm>
            <a:prstGeom prst="rect">
              <a:avLst/>
            </a:prstGeom>
            <a:solidFill>
              <a:srgbClr val="DD7E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740" name="Google Shape;740;p80"/>
            <p:cNvSpPr/>
            <p:nvPr/>
          </p:nvSpPr>
          <p:spPr>
            <a:xfrm>
              <a:off x="1286995" y="4419425"/>
              <a:ext cx="421800" cy="4884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741" name="Google Shape;741;p80"/>
            <p:cNvSpPr/>
            <p:nvPr/>
          </p:nvSpPr>
          <p:spPr>
            <a:xfrm>
              <a:off x="1708732" y="4419425"/>
              <a:ext cx="301200" cy="4884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/>
            </a:p>
          </p:txBody>
        </p:sp>
        <p:sp>
          <p:nvSpPr>
            <p:cNvPr id="742" name="Google Shape;742;p80"/>
            <p:cNvSpPr/>
            <p:nvPr/>
          </p:nvSpPr>
          <p:spPr>
            <a:xfrm>
              <a:off x="2009975" y="4419425"/>
              <a:ext cx="183900" cy="488400"/>
            </a:xfrm>
            <a:prstGeom prst="rect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cxnSp>
        <p:nvCxnSpPr>
          <p:cNvPr id="743" name="Google Shape;743;p80"/>
          <p:cNvCxnSpPr/>
          <p:nvPr/>
        </p:nvCxnSpPr>
        <p:spPr>
          <a:xfrm>
            <a:off x="1103125" y="3975875"/>
            <a:ext cx="0" cy="101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44" name="Google Shape;744;p80"/>
          <p:cNvCxnSpPr/>
          <p:nvPr/>
        </p:nvCxnSpPr>
        <p:spPr>
          <a:xfrm>
            <a:off x="6249650" y="3975875"/>
            <a:ext cx="0" cy="101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45" name="Google Shape;745;p80"/>
          <p:cNvSpPr txBox="1"/>
          <p:nvPr/>
        </p:nvSpPr>
        <p:spPr>
          <a:xfrm>
            <a:off x="1345225" y="3492650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Active time</a:t>
            </a:r>
            <a:endParaRPr b="1" sz="1200">
              <a:solidFill>
                <a:schemeClr val="dk2"/>
              </a:solidFill>
            </a:endParaRPr>
          </a:p>
        </p:txBody>
      </p:sp>
      <p:cxnSp>
        <p:nvCxnSpPr>
          <p:cNvPr id="746" name="Google Shape;746;p80"/>
          <p:cNvCxnSpPr/>
          <p:nvPr/>
        </p:nvCxnSpPr>
        <p:spPr>
          <a:xfrm flipH="1" rot="10800000">
            <a:off x="1090975" y="3858950"/>
            <a:ext cx="1552500" cy="3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747" name="Google Shape;747;p80"/>
          <p:cNvCxnSpPr/>
          <p:nvPr/>
        </p:nvCxnSpPr>
        <p:spPr>
          <a:xfrm>
            <a:off x="1090975" y="4881500"/>
            <a:ext cx="5137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748" name="Google Shape;748;p80"/>
          <p:cNvSpPr txBox="1"/>
          <p:nvPr/>
        </p:nvSpPr>
        <p:spPr>
          <a:xfrm>
            <a:off x="5184175" y="4576925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Total</a:t>
            </a:r>
            <a:r>
              <a:rPr b="1" lang="en" sz="1200">
                <a:solidFill>
                  <a:schemeClr val="dk2"/>
                </a:solidFill>
              </a:rPr>
              <a:t> time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749" name="Google Shape;749;p80"/>
          <p:cNvSpPr txBox="1"/>
          <p:nvPr/>
        </p:nvSpPr>
        <p:spPr>
          <a:xfrm>
            <a:off x="1026925" y="2890463"/>
            <a:ext cx="117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CPU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Cortex M4F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81"/>
          <p:cNvSpPr txBox="1"/>
          <p:nvPr/>
        </p:nvSpPr>
        <p:spPr>
          <a:xfrm>
            <a:off x="311700" y="1154525"/>
            <a:ext cx="499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81"/>
          <p:cNvSpPr txBox="1"/>
          <p:nvPr>
            <p:ph idx="1" type="body"/>
          </p:nvPr>
        </p:nvSpPr>
        <p:spPr>
          <a:xfrm>
            <a:off x="311700" y="1457275"/>
            <a:ext cx="3351000" cy="29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Read the sensor in a loop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Send data using MQTT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Wait until next measurement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same approach usable for other </a:t>
            </a:r>
            <a:br>
              <a:rPr lang="en"/>
            </a:br>
            <a:r>
              <a:rPr lang="en"/>
              <a:t>slow-changing phenomena</a:t>
            </a:r>
            <a:br>
              <a:rPr lang="en"/>
            </a:br>
            <a:br>
              <a:rPr lang="en"/>
            </a:br>
            <a:r>
              <a:rPr lang="en"/>
              <a:t>Using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https://viper-ide.org/</a:t>
            </a:r>
            <a:r>
              <a:rPr lang="en"/>
              <a:t> with Chromium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Zero-install. Connect to device via USB</a:t>
            </a:r>
            <a:endParaRPr/>
          </a:p>
        </p:txBody>
      </p:sp>
      <p:sp>
        <p:nvSpPr>
          <p:cNvPr id="756" name="Google Shape;756;p8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81"/>
          <p:cNvSpPr txBox="1"/>
          <p:nvPr>
            <p:ph type="title"/>
          </p:nvPr>
        </p:nvSpPr>
        <p:spPr>
          <a:xfrm>
            <a:off x="311700" y="445025"/>
            <a:ext cx="38805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Temperature sensor </a:t>
            </a:r>
            <a:br>
              <a:rPr lang="en"/>
            </a:br>
            <a:r>
              <a:rPr lang="en"/>
              <a:t>- code</a:t>
            </a:r>
            <a:endParaRPr/>
          </a:p>
        </p:txBody>
      </p:sp>
      <p:pic>
        <p:nvPicPr>
          <p:cNvPr id="758" name="Google Shape;758;p81"/>
          <p:cNvPicPr preferRelativeResize="0"/>
          <p:nvPr/>
        </p:nvPicPr>
        <p:blipFill rotWithShape="1">
          <a:blip r:embed="rId4">
            <a:alphaModFix/>
          </a:blip>
          <a:srcRect b="30133" l="15726" r="56805" t="18305"/>
          <a:stretch/>
        </p:blipFill>
        <p:spPr>
          <a:xfrm>
            <a:off x="4271800" y="0"/>
            <a:ext cx="487122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82"/>
          <p:cNvSpPr txBox="1"/>
          <p:nvPr/>
        </p:nvSpPr>
        <p:spPr>
          <a:xfrm>
            <a:off x="311700" y="1154525"/>
            <a:ext cx="499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82"/>
          <p:cNvSpPr txBox="1"/>
          <p:nvPr>
            <p:ph idx="1" type="body"/>
          </p:nvPr>
        </p:nvSpPr>
        <p:spPr>
          <a:xfrm>
            <a:off x="311700" y="1091650"/>
            <a:ext cx="39324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slow-changing phenomena</a:t>
            </a:r>
            <a:br>
              <a:rPr lang="en"/>
            </a:br>
            <a:r>
              <a:rPr lang="en"/>
              <a:t>(relative to measurement interval)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b="1" lang="en" sz="1800">
                <a:solidFill>
                  <a:schemeClr val="dk1"/>
                </a:solidFill>
              </a:rPr>
              <a:t>Sample, Send, Sleep</a:t>
            </a:r>
            <a:br>
              <a:rPr b="1" lang="en" sz="1800">
                <a:solidFill>
                  <a:schemeClr val="dk1"/>
                </a:solidFill>
              </a:rPr>
            </a:b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1. Read the sensor</a:t>
            </a:r>
            <a:br>
              <a:rPr lang="en"/>
            </a:br>
            <a:r>
              <a:rPr lang="en"/>
              <a:t>2. Send data</a:t>
            </a:r>
            <a:br>
              <a:rPr lang="en"/>
            </a:br>
            <a:r>
              <a:rPr lang="en"/>
              <a:t>3. Wait until next measurement</a:t>
            </a:r>
            <a:endParaRPr/>
          </a:p>
        </p:txBody>
      </p:sp>
      <p:sp>
        <p:nvSpPr>
          <p:cNvPr id="765" name="Google Shape;765;p82"/>
          <p:cNvSpPr txBox="1"/>
          <p:nvPr>
            <p:ph type="title"/>
          </p:nvPr>
        </p:nvSpPr>
        <p:spPr>
          <a:xfrm>
            <a:off x="311700" y="445025"/>
            <a:ext cx="485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Slow-changing phenomena</a:t>
            </a:r>
            <a:endParaRPr/>
          </a:p>
        </p:txBody>
      </p:sp>
      <p:pic>
        <p:nvPicPr>
          <p:cNvPr id="766" name="Google Shape;766;p82" title="20231010175542_2047.png"/>
          <p:cNvPicPr preferRelativeResize="0"/>
          <p:nvPr/>
        </p:nvPicPr>
        <p:blipFill rotWithShape="1">
          <a:blip r:embed="rId3">
            <a:alphaModFix/>
          </a:blip>
          <a:srcRect b="28219" l="3388" r="44415" t="3716"/>
          <a:stretch/>
        </p:blipFill>
        <p:spPr>
          <a:xfrm>
            <a:off x="5462625" y="-45175"/>
            <a:ext cx="3681375" cy="33603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82"/>
          <p:cNvSpPr txBox="1"/>
          <p:nvPr>
            <p:ph idx="2" type="body"/>
          </p:nvPr>
        </p:nvSpPr>
        <p:spPr>
          <a:xfrm>
            <a:off x="5997050" y="2880975"/>
            <a:ext cx="242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highlight>
                  <a:schemeClr val="lt1"/>
                </a:highlight>
              </a:rPr>
              <a:t>Water level measurement</a:t>
            </a:r>
            <a:endParaRPr b="1">
              <a:highlight>
                <a:schemeClr val="lt1"/>
              </a:highlight>
            </a:endParaRPr>
          </a:p>
        </p:txBody>
      </p:sp>
      <p:cxnSp>
        <p:nvCxnSpPr>
          <p:cNvPr id="768" name="Google Shape;768;p82"/>
          <p:cNvCxnSpPr/>
          <p:nvPr/>
        </p:nvCxnSpPr>
        <p:spPr>
          <a:xfrm>
            <a:off x="935250" y="4621650"/>
            <a:ext cx="7093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9" name="Google Shape;769;p82"/>
          <p:cNvSpPr txBox="1"/>
          <p:nvPr/>
        </p:nvSpPr>
        <p:spPr>
          <a:xfrm>
            <a:off x="8028750" y="4437000"/>
            <a:ext cx="75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Time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70" name="Google Shape;770;p82"/>
          <p:cNvSpPr txBox="1"/>
          <p:nvPr/>
        </p:nvSpPr>
        <p:spPr>
          <a:xfrm>
            <a:off x="258800" y="4214400"/>
            <a:ext cx="75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Energy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771" name="Google Shape;771;p82"/>
          <p:cNvGrpSpPr/>
          <p:nvPr/>
        </p:nvGrpSpPr>
        <p:grpSpPr>
          <a:xfrm>
            <a:off x="1096113" y="3686850"/>
            <a:ext cx="1007892" cy="943800"/>
            <a:chOff x="1345225" y="3964000"/>
            <a:chExt cx="1007892" cy="943800"/>
          </a:xfrm>
        </p:grpSpPr>
        <p:sp>
          <p:nvSpPr>
            <p:cNvPr id="772" name="Google Shape;772;p82"/>
            <p:cNvSpPr/>
            <p:nvPr/>
          </p:nvSpPr>
          <p:spPr>
            <a:xfrm>
              <a:off x="1345225" y="4397663"/>
              <a:ext cx="183900" cy="488400"/>
            </a:xfrm>
            <a:prstGeom prst="rect">
              <a:avLst/>
            </a:prstGeom>
            <a:solidFill>
              <a:srgbClr val="DD7E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773" name="Google Shape;773;p82"/>
            <p:cNvSpPr/>
            <p:nvPr/>
          </p:nvSpPr>
          <p:spPr>
            <a:xfrm>
              <a:off x="1524913" y="4613150"/>
              <a:ext cx="183900" cy="2946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774" name="Google Shape;774;p82"/>
            <p:cNvSpPr/>
            <p:nvPr/>
          </p:nvSpPr>
          <p:spPr>
            <a:xfrm>
              <a:off x="1708717" y="3964000"/>
              <a:ext cx="644400" cy="9438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/>
            </a:p>
          </p:txBody>
        </p:sp>
      </p:grpSp>
      <p:sp>
        <p:nvSpPr>
          <p:cNvPr id="775" name="Google Shape;775;p82"/>
          <p:cNvSpPr txBox="1"/>
          <p:nvPr/>
        </p:nvSpPr>
        <p:spPr>
          <a:xfrm>
            <a:off x="2286275" y="4170888"/>
            <a:ext cx="150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Sleep zzzzZZZ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776" name="Google Shape;776;p82"/>
          <p:cNvCxnSpPr/>
          <p:nvPr/>
        </p:nvCxnSpPr>
        <p:spPr>
          <a:xfrm>
            <a:off x="1096125" y="3613350"/>
            <a:ext cx="0" cy="101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82"/>
          <p:cNvCxnSpPr/>
          <p:nvPr/>
        </p:nvCxnSpPr>
        <p:spPr>
          <a:xfrm>
            <a:off x="6242650" y="3613350"/>
            <a:ext cx="0" cy="101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78" name="Google Shape;778;p82"/>
          <p:cNvSpPr txBox="1"/>
          <p:nvPr/>
        </p:nvSpPr>
        <p:spPr>
          <a:xfrm>
            <a:off x="2211050" y="4743100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Active time</a:t>
            </a:r>
            <a:endParaRPr b="1" sz="1200">
              <a:solidFill>
                <a:schemeClr val="dk2"/>
              </a:solidFill>
            </a:endParaRPr>
          </a:p>
        </p:txBody>
      </p:sp>
      <p:cxnSp>
        <p:nvCxnSpPr>
          <p:cNvPr id="779" name="Google Shape;779;p82"/>
          <p:cNvCxnSpPr/>
          <p:nvPr/>
        </p:nvCxnSpPr>
        <p:spPr>
          <a:xfrm>
            <a:off x="1070563" y="4937300"/>
            <a:ext cx="1059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780" name="Google Shape;780;p82"/>
          <p:cNvCxnSpPr/>
          <p:nvPr/>
        </p:nvCxnSpPr>
        <p:spPr>
          <a:xfrm>
            <a:off x="1070575" y="4743100"/>
            <a:ext cx="5137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781" name="Google Shape;781;p82"/>
          <p:cNvSpPr txBox="1"/>
          <p:nvPr/>
        </p:nvSpPr>
        <p:spPr>
          <a:xfrm>
            <a:off x="6242650" y="4558450"/>
            <a:ext cx="132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Measurement interval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782" name="Google Shape;782;p82"/>
          <p:cNvSpPr/>
          <p:nvPr/>
        </p:nvSpPr>
        <p:spPr>
          <a:xfrm>
            <a:off x="3907950" y="2149050"/>
            <a:ext cx="1328100" cy="3693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Processing</a:t>
            </a:r>
            <a:endParaRPr sz="1200"/>
          </a:p>
        </p:txBody>
      </p:sp>
      <p:sp>
        <p:nvSpPr>
          <p:cNvPr id="783" name="Google Shape;783;p82"/>
          <p:cNvSpPr/>
          <p:nvPr/>
        </p:nvSpPr>
        <p:spPr>
          <a:xfrm>
            <a:off x="3907950" y="2547430"/>
            <a:ext cx="1328100" cy="369300"/>
          </a:xfrm>
          <a:prstGeom prst="rect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Sensor reading</a:t>
            </a:r>
            <a:endParaRPr sz="1200"/>
          </a:p>
        </p:txBody>
      </p:sp>
      <p:sp>
        <p:nvSpPr>
          <p:cNvPr id="784" name="Google Shape;784;p82"/>
          <p:cNvSpPr/>
          <p:nvPr/>
        </p:nvSpPr>
        <p:spPr>
          <a:xfrm>
            <a:off x="3907950" y="2945829"/>
            <a:ext cx="1328100" cy="369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Send</a:t>
            </a:r>
            <a:endParaRPr sz="1200"/>
          </a:p>
        </p:txBody>
      </p:sp>
      <p:grpSp>
        <p:nvGrpSpPr>
          <p:cNvPr id="785" name="Google Shape;785;p82"/>
          <p:cNvGrpSpPr/>
          <p:nvPr/>
        </p:nvGrpSpPr>
        <p:grpSpPr>
          <a:xfrm>
            <a:off x="6242637" y="3686850"/>
            <a:ext cx="1007892" cy="943800"/>
            <a:chOff x="1345225" y="3964000"/>
            <a:chExt cx="1007892" cy="943800"/>
          </a:xfrm>
        </p:grpSpPr>
        <p:sp>
          <p:nvSpPr>
            <p:cNvPr id="786" name="Google Shape;786;p82"/>
            <p:cNvSpPr/>
            <p:nvPr/>
          </p:nvSpPr>
          <p:spPr>
            <a:xfrm>
              <a:off x="1345225" y="4397663"/>
              <a:ext cx="183900" cy="488400"/>
            </a:xfrm>
            <a:prstGeom prst="rect">
              <a:avLst/>
            </a:prstGeom>
            <a:solidFill>
              <a:srgbClr val="DD7E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787" name="Google Shape;787;p82"/>
            <p:cNvSpPr/>
            <p:nvPr/>
          </p:nvSpPr>
          <p:spPr>
            <a:xfrm>
              <a:off x="1524913" y="4613150"/>
              <a:ext cx="183900" cy="2946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788" name="Google Shape;788;p82"/>
            <p:cNvSpPr/>
            <p:nvPr/>
          </p:nvSpPr>
          <p:spPr>
            <a:xfrm>
              <a:off x="1708717" y="3964000"/>
              <a:ext cx="644400" cy="9438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/>
            </a:p>
          </p:txBody>
        </p:sp>
      </p:grpSp>
      <p:sp>
        <p:nvSpPr>
          <p:cNvPr id="789" name="Google Shape;789;p82"/>
          <p:cNvSpPr txBox="1"/>
          <p:nvPr/>
        </p:nvSpPr>
        <p:spPr>
          <a:xfrm>
            <a:off x="2500075" y="4864550"/>
            <a:ext cx="13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3 seconds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790" name="Google Shape;790;p82"/>
          <p:cNvSpPr txBox="1"/>
          <p:nvPr/>
        </p:nvSpPr>
        <p:spPr>
          <a:xfrm>
            <a:off x="5677925" y="4864550"/>
            <a:ext cx="13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5 minutes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83"/>
          <p:cNvSpPr txBox="1"/>
          <p:nvPr>
            <p:ph type="title"/>
          </p:nvPr>
        </p:nvSpPr>
        <p:spPr>
          <a:xfrm>
            <a:off x="311700" y="140225"/>
            <a:ext cx="4345500" cy="6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Continuous measurement</a:t>
            </a:r>
            <a:endParaRPr sz="2820"/>
          </a:p>
        </p:txBody>
      </p:sp>
      <p:sp>
        <p:nvSpPr>
          <p:cNvPr id="796" name="Google Shape;796;p83"/>
          <p:cNvSpPr txBox="1"/>
          <p:nvPr>
            <p:ph idx="1" type="body"/>
          </p:nvPr>
        </p:nvSpPr>
        <p:spPr>
          <a:xfrm>
            <a:off x="1378377" y="3417600"/>
            <a:ext cx="41382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ts val="1500"/>
              <a:buFont typeface="Arial"/>
              <a:buNone/>
            </a:pPr>
            <a:r>
              <a:rPr lang="en"/>
              <a:t>Classify data using a </a:t>
            </a:r>
            <a:r>
              <a:rPr b="1" lang="en"/>
              <a:t>Decision Tree</a:t>
            </a:r>
            <a:r>
              <a:rPr lang="en"/>
              <a:t> </a:t>
            </a:r>
            <a:br>
              <a:rPr lang="en" sz="1400"/>
            </a:br>
            <a:r>
              <a:rPr lang="en" sz="1400"/>
              <a:t>l</a:t>
            </a:r>
            <a:r>
              <a:rPr i="1" lang="en" sz="1400"/>
              <a:t>ying/walking/standing/grazing/ruminating</a:t>
            </a:r>
            <a:br>
              <a:rPr i="1" lang="en" sz="1400"/>
            </a:br>
            <a:r>
              <a:rPr i="1" lang="en" sz="1400"/>
              <a:t>6 bytes / minute</a:t>
            </a:r>
            <a:endParaRPr sz="1400"/>
          </a:p>
        </p:txBody>
      </p:sp>
      <p:pic>
        <p:nvPicPr>
          <p:cNvPr id="797" name="Google Shape;79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4350" y="531725"/>
            <a:ext cx="743850" cy="74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83"/>
          <p:cNvPicPr preferRelativeResize="0"/>
          <p:nvPr/>
        </p:nvPicPr>
        <p:blipFill rotWithShape="1">
          <a:blip r:embed="rId4">
            <a:alphaModFix/>
          </a:blip>
          <a:srcRect b="269" l="10625" r="34294" t="269"/>
          <a:stretch/>
        </p:blipFill>
        <p:spPr>
          <a:xfrm>
            <a:off x="6563825" y="0"/>
            <a:ext cx="2580175" cy="3107703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83"/>
          <p:cNvSpPr txBox="1"/>
          <p:nvPr/>
        </p:nvSpPr>
        <p:spPr>
          <a:xfrm>
            <a:off x="6598861" y="2530681"/>
            <a:ext cx="23229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00" lIns="46600" spcFirstLastPara="1" rIns="46600" wrap="square" tIns="4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87">
                <a:solidFill>
                  <a:srgbClr val="595959"/>
                </a:solidFill>
                <a:highlight>
                  <a:schemeClr val="lt1"/>
                </a:highlight>
              </a:rPr>
              <a:t>Power Efficient Wireless Sensor Node through Edge Intelligence</a:t>
            </a:r>
            <a:endParaRPr b="1" i="1" sz="1087">
              <a:solidFill>
                <a:srgbClr val="595959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87">
                <a:solidFill>
                  <a:srgbClr val="595959"/>
                </a:solidFill>
                <a:highlight>
                  <a:schemeClr val="lt1"/>
                </a:highlight>
              </a:rPr>
              <a:t>Abhishek Damle (2022)</a:t>
            </a:r>
            <a:endParaRPr b="1" sz="1087">
              <a:solidFill>
                <a:srgbClr val="595959"/>
              </a:solidFill>
              <a:highlight>
                <a:schemeClr val="lt1"/>
              </a:highlight>
            </a:endParaRPr>
          </a:p>
        </p:txBody>
      </p:sp>
      <p:sp>
        <p:nvSpPr>
          <p:cNvPr id="800" name="Google Shape;800;p83"/>
          <p:cNvSpPr txBox="1"/>
          <p:nvPr/>
        </p:nvSpPr>
        <p:spPr>
          <a:xfrm>
            <a:off x="6402736" y="131483"/>
            <a:ext cx="18723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00" lIns="46600" spcFirstLastPara="1" rIns="46600" wrap="square" tIns="4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87">
                <a:solidFill>
                  <a:srgbClr val="595959"/>
                </a:solidFill>
                <a:highlight>
                  <a:schemeClr val="lt1"/>
                </a:highlight>
              </a:rPr>
              <a:t>Health monitoring of cows</a:t>
            </a:r>
            <a:br>
              <a:rPr b="1" i="1" lang="en" sz="1087">
                <a:solidFill>
                  <a:srgbClr val="595959"/>
                </a:solidFill>
                <a:highlight>
                  <a:schemeClr val="lt1"/>
                </a:highlight>
              </a:rPr>
            </a:br>
            <a:r>
              <a:rPr b="1" i="1" lang="en" sz="1087">
                <a:solidFill>
                  <a:srgbClr val="595959"/>
                </a:solidFill>
                <a:highlight>
                  <a:schemeClr val="lt1"/>
                </a:highlight>
              </a:rPr>
              <a:t>using accelerometer</a:t>
            </a:r>
            <a:endParaRPr b="1" sz="1087">
              <a:solidFill>
                <a:srgbClr val="595959"/>
              </a:solidFill>
              <a:highlight>
                <a:schemeClr val="lt1"/>
              </a:highlight>
            </a:endParaRPr>
          </a:p>
        </p:txBody>
      </p:sp>
      <p:cxnSp>
        <p:nvCxnSpPr>
          <p:cNvPr id="801" name="Google Shape;801;p83"/>
          <p:cNvCxnSpPr/>
          <p:nvPr/>
        </p:nvCxnSpPr>
        <p:spPr>
          <a:xfrm>
            <a:off x="80800" y="4638883"/>
            <a:ext cx="7093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02" name="Google Shape;802;p83"/>
          <p:cNvGrpSpPr/>
          <p:nvPr/>
        </p:nvGrpSpPr>
        <p:grpSpPr>
          <a:xfrm>
            <a:off x="241632" y="3810875"/>
            <a:ext cx="899391" cy="738901"/>
            <a:chOff x="1524882" y="3971581"/>
            <a:chExt cx="899391" cy="943800"/>
          </a:xfrm>
        </p:grpSpPr>
        <p:sp>
          <p:nvSpPr>
            <p:cNvPr id="803" name="Google Shape;803;p83"/>
            <p:cNvSpPr/>
            <p:nvPr/>
          </p:nvSpPr>
          <p:spPr>
            <a:xfrm>
              <a:off x="1524882" y="4613138"/>
              <a:ext cx="449700" cy="2946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804" name="Google Shape;804;p83"/>
            <p:cNvSpPr/>
            <p:nvPr/>
          </p:nvSpPr>
          <p:spPr>
            <a:xfrm>
              <a:off x="1974572" y="3971581"/>
              <a:ext cx="449700" cy="9438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/>
            </a:p>
          </p:txBody>
        </p:sp>
      </p:grpSp>
      <p:cxnSp>
        <p:nvCxnSpPr>
          <p:cNvPr id="805" name="Google Shape;805;p83"/>
          <p:cNvCxnSpPr/>
          <p:nvPr/>
        </p:nvCxnSpPr>
        <p:spPr>
          <a:xfrm>
            <a:off x="241675" y="3849493"/>
            <a:ext cx="0" cy="79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83"/>
          <p:cNvCxnSpPr/>
          <p:nvPr/>
        </p:nvCxnSpPr>
        <p:spPr>
          <a:xfrm>
            <a:off x="5388200" y="3849493"/>
            <a:ext cx="0" cy="79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07" name="Google Shape;807;p83"/>
          <p:cNvSpPr txBox="1"/>
          <p:nvPr/>
        </p:nvSpPr>
        <p:spPr>
          <a:xfrm>
            <a:off x="1335600" y="4668840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Active time</a:t>
            </a:r>
            <a:endParaRPr b="1" sz="1200">
              <a:solidFill>
                <a:schemeClr val="dk2"/>
              </a:solidFill>
            </a:endParaRPr>
          </a:p>
        </p:txBody>
      </p:sp>
      <p:cxnSp>
        <p:nvCxnSpPr>
          <p:cNvPr id="808" name="Google Shape;808;p83"/>
          <p:cNvCxnSpPr/>
          <p:nvPr/>
        </p:nvCxnSpPr>
        <p:spPr>
          <a:xfrm>
            <a:off x="216113" y="4886003"/>
            <a:ext cx="1059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809" name="Google Shape;809;p83"/>
          <p:cNvCxnSpPr/>
          <p:nvPr/>
        </p:nvCxnSpPr>
        <p:spPr>
          <a:xfrm>
            <a:off x="216125" y="4733965"/>
            <a:ext cx="5137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810" name="Google Shape;810;p83"/>
          <p:cNvSpPr txBox="1"/>
          <p:nvPr/>
        </p:nvSpPr>
        <p:spPr>
          <a:xfrm>
            <a:off x="5388200" y="4589404"/>
            <a:ext cx="132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Measurement interval</a:t>
            </a:r>
            <a:endParaRPr b="1" sz="1200">
              <a:solidFill>
                <a:schemeClr val="dk2"/>
              </a:solidFill>
            </a:endParaRPr>
          </a:p>
        </p:txBody>
      </p:sp>
      <p:grpSp>
        <p:nvGrpSpPr>
          <p:cNvPr id="811" name="Google Shape;811;p83"/>
          <p:cNvGrpSpPr/>
          <p:nvPr/>
        </p:nvGrpSpPr>
        <p:grpSpPr>
          <a:xfrm>
            <a:off x="4905529" y="685799"/>
            <a:ext cx="1248856" cy="1166087"/>
            <a:chOff x="3533275" y="2308819"/>
            <a:chExt cx="1672500" cy="1166087"/>
          </a:xfrm>
        </p:grpSpPr>
        <p:sp>
          <p:nvSpPr>
            <p:cNvPr id="812" name="Google Shape;812;p83"/>
            <p:cNvSpPr/>
            <p:nvPr/>
          </p:nvSpPr>
          <p:spPr>
            <a:xfrm>
              <a:off x="3533275" y="2308819"/>
              <a:ext cx="1672500" cy="3693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Processing</a:t>
              </a:r>
              <a:endParaRPr sz="1200"/>
            </a:p>
          </p:txBody>
        </p:sp>
        <p:sp>
          <p:nvSpPr>
            <p:cNvPr id="813" name="Google Shape;813;p83"/>
            <p:cNvSpPr/>
            <p:nvPr/>
          </p:nvSpPr>
          <p:spPr>
            <a:xfrm>
              <a:off x="3533275" y="2707203"/>
              <a:ext cx="1672500" cy="369300"/>
            </a:xfrm>
            <a:prstGeom prst="rect">
              <a:avLst/>
            </a:prstGeom>
            <a:solidFill>
              <a:srgbClr val="DD7E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Sensor reading</a:t>
              </a:r>
              <a:endParaRPr sz="1200"/>
            </a:p>
          </p:txBody>
        </p:sp>
        <p:sp>
          <p:nvSpPr>
            <p:cNvPr id="814" name="Google Shape;814;p83"/>
            <p:cNvSpPr/>
            <p:nvPr/>
          </p:nvSpPr>
          <p:spPr>
            <a:xfrm>
              <a:off x="3533275" y="3105606"/>
              <a:ext cx="1672500" cy="369300"/>
            </a:xfrm>
            <a:prstGeom prst="rect">
              <a:avLst/>
            </a:prstGeom>
            <a:solidFill>
              <a:srgbClr val="6FA8DC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Send</a:t>
              </a:r>
              <a:endParaRPr sz="1200"/>
            </a:p>
          </p:txBody>
        </p:sp>
      </p:grpSp>
      <p:sp>
        <p:nvSpPr>
          <p:cNvPr id="815" name="Google Shape;815;p83"/>
          <p:cNvSpPr/>
          <p:nvPr/>
        </p:nvSpPr>
        <p:spPr>
          <a:xfrm>
            <a:off x="241675" y="4543801"/>
            <a:ext cx="6411600" cy="65100"/>
          </a:xfrm>
          <a:prstGeom prst="rect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cxnSp>
        <p:nvCxnSpPr>
          <p:cNvPr id="816" name="Google Shape;816;p83"/>
          <p:cNvCxnSpPr/>
          <p:nvPr/>
        </p:nvCxnSpPr>
        <p:spPr>
          <a:xfrm>
            <a:off x="80800" y="3322508"/>
            <a:ext cx="7093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17" name="Google Shape;817;p83"/>
          <p:cNvGrpSpPr/>
          <p:nvPr/>
        </p:nvGrpSpPr>
        <p:grpSpPr>
          <a:xfrm>
            <a:off x="241681" y="2488490"/>
            <a:ext cx="732786" cy="738901"/>
            <a:chOff x="1620331" y="3964000"/>
            <a:chExt cx="732786" cy="943800"/>
          </a:xfrm>
        </p:grpSpPr>
        <p:sp>
          <p:nvSpPr>
            <p:cNvPr id="818" name="Google Shape;818;p83"/>
            <p:cNvSpPr/>
            <p:nvPr/>
          </p:nvSpPr>
          <p:spPr>
            <a:xfrm>
              <a:off x="1620331" y="4613138"/>
              <a:ext cx="88500" cy="2946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819" name="Google Shape;819;p83"/>
            <p:cNvSpPr/>
            <p:nvPr/>
          </p:nvSpPr>
          <p:spPr>
            <a:xfrm>
              <a:off x="1708717" y="3964000"/>
              <a:ext cx="644400" cy="9438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/>
            </a:p>
          </p:txBody>
        </p:sp>
      </p:grpSp>
      <p:cxnSp>
        <p:nvCxnSpPr>
          <p:cNvPr id="820" name="Google Shape;820;p83"/>
          <p:cNvCxnSpPr/>
          <p:nvPr/>
        </p:nvCxnSpPr>
        <p:spPr>
          <a:xfrm>
            <a:off x="241675" y="2533118"/>
            <a:ext cx="0" cy="79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21" name="Google Shape;821;p83"/>
          <p:cNvCxnSpPr/>
          <p:nvPr/>
        </p:nvCxnSpPr>
        <p:spPr>
          <a:xfrm>
            <a:off x="5388200" y="2533118"/>
            <a:ext cx="0" cy="79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22" name="Google Shape;822;p83"/>
          <p:cNvSpPr/>
          <p:nvPr/>
        </p:nvSpPr>
        <p:spPr>
          <a:xfrm>
            <a:off x="241675" y="3227426"/>
            <a:ext cx="6411600" cy="65100"/>
          </a:xfrm>
          <a:prstGeom prst="rect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pSp>
        <p:nvGrpSpPr>
          <p:cNvPr id="823" name="Google Shape;823;p83"/>
          <p:cNvGrpSpPr/>
          <p:nvPr/>
        </p:nvGrpSpPr>
        <p:grpSpPr>
          <a:xfrm>
            <a:off x="1275131" y="2459265"/>
            <a:ext cx="732786" cy="738901"/>
            <a:chOff x="1620331" y="3964000"/>
            <a:chExt cx="732786" cy="943800"/>
          </a:xfrm>
        </p:grpSpPr>
        <p:sp>
          <p:nvSpPr>
            <p:cNvPr id="824" name="Google Shape;824;p83"/>
            <p:cNvSpPr/>
            <p:nvPr/>
          </p:nvSpPr>
          <p:spPr>
            <a:xfrm>
              <a:off x="1620331" y="4613138"/>
              <a:ext cx="88500" cy="2946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825" name="Google Shape;825;p83"/>
            <p:cNvSpPr/>
            <p:nvPr/>
          </p:nvSpPr>
          <p:spPr>
            <a:xfrm>
              <a:off x="1708717" y="3964000"/>
              <a:ext cx="644400" cy="9438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/>
            </a:p>
          </p:txBody>
        </p:sp>
      </p:grpSp>
      <p:grpSp>
        <p:nvGrpSpPr>
          <p:cNvPr id="826" name="Google Shape;826;p83"/>
          <p:cNvGrpSpPr/>
          <p:nvPr/>
        </p:nvGrpSpPr>
        <p:grpSpPr>
          <a:xfrm>
            <a:off x="2448543" y="2488490"/>
            <a:ext cx="732786" cy="738901"/>
            <a:chOff x="1620331" y="3964000"/>
            <a:chExt cx="732786" cy="943800"/>
          </a:xfrm>
        </p:grpSpPr>
        <p:sp>
          <p:nvSpPr>
            <p:cNvPr id="827" name="Google Shape;827;p83"/>
            <p:cNvSpPr/>
            <p:nvPr/>
          </p:nvSpPr>
          <p:spPr>
            <a:xfrm>
              <a:off x="1620331" y="4613138"/>
              <a:ext cx="88500" cy="2946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828" name="Google Shape;828;p83"/>
            <p:cNvSpPr/>
            <p:nvPr/>
          </p:nvSpPr>
          <p:spPr>
            <a:xfrm>
              <a:off x="1708717" y="3964000"/>
              <a:ext cx="644400" cy="9438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/>
            </a:p>
          </p:txBody>
        </p:sp>
      </p:grpSp>
      <p:grpSp>
        <p:nvGrpSpPr>
          <p:cNvPr id="829" name="Google Shape;829;p83"/>
          <p:cNvGrpSpPr/>
          <p:nvPr/>
        </p:nvGrpSpPr>
        <p:grpSpPr>
          <a:xfrm>
            <a:off x="3546418" y="2488490"/>
            <a:ext cx="732786" cy="738901"/>
            <a:chOff x="1620331" y="3964000"/>
            <a:chExt cx="732786" cy="943800"/>
          </a:xfrm>
        </p:grpSpPr>
        <p:sp>
          <p:nvSpPr>
            <p:cNvPr id="830" name="Google Shape;830;p83"/>
            <p:cNvSpPr/>
            <p:nvPr/>
          </p:nvSpPr>
          <p:spPr>
            <a:xfrm>
              <a:off x="1620331" y="4613138"/>
              <a:ext cx="88500" cy="2946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831" name="Google Shape;831;p83"/>
            <p:cNvSpPr/>
            <p:nvPr/>
          </p:nvSpPr>
          <p:spPr>
            <a:xfrm>
              <a:off x="1708717" y="3964000"/>
              <a:ext cx="644400" cy="9438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/>
            </a:p>
          </p:txBody>
        </p:sp>
      </p:grpSp>
      <p:grpSp>
        <p:nvGrpSpPr>
          <p:cNvPr id="832" name="Google Shape;832;p83"/>
          <p:cNvGrpSpPr/>
          <p:nvPr/>
        </p:nvGrpSpPr>
        <p:grpSpPr>
          <a:xfrm>
            <a:off x="4506181" y="2488490"/>
            <a:ext cx="732786" cy="738901"/>
            <a:chOff x="1620331" y="3964000"/>
            <a:chExt cx="732786" cy="943800"/>
          </a:xfrm>
        </p:grpSpPr>
        <p:sp>
          <p:nvSpPr>
            <p:cNvPr id="833" name="Google Shape;833;p83"/>
            <p:cNvSpPr/>
            <p:nvPr/>
          </p:nvSpPr>
          <p:spPr>
            <a:xfrm>
              <a:off x="1620331" y="4613138"/>
              <a:ext cx="88500" cy="2946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834" name="Google Shape;834;p83"/>
            <p:cNvSpPr/>
            <p:nvPr/>
          </p:nvSpPr>
          <p:spPr>
            <a:xfrm>
              <a:off x="1708717" y="3964000"/>
              <a:ext cx="644400" cy="9438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/>
            </a:p>
          </p:txBody>
        </p:sp>
      </p:grpSp>
      <p:grpSp>
        <p:nvGrpSpPr>
          <p:cNvPr id="835" name="Google Shape;835;p83"/>
          <p:cNvGrpSpPr/>
          <p:nvPr/>
        </p:nvGrpSpPr>
        <p:grpSpPr>
          <a:xfrm>
            <a:off x="5388206" y="2458540"/>
            <a:ext cx="732786" cy="738901"/>
            <a:chOff x="1620331" y="3964000"/>
            <a:chExt cx="732786" cy="943800"/>
          </a:xfrm>
        </p:grpSpPr>
        <p:sp>
          <p:nvSpPr>
            <p:cNvPr id="836" name="Google Shape;836;p83"/>
            <p:cNvSpPr/>
            <p:nvPr/>
          </p:nvSpPr>
          <p:spPr>
            <a:xfrm>
              <a:off x="1620331" y="4613138"/>
              <a:ext cx="88500" cy="2946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837" name="Google Shape;837;p83"/>
            <p:cNvSpPr/>
            <p:nvPr/>
          </p:nvSpPr>
          <p:spPr>
            <a:xfrm>
              <a:off x="1708717" y="3964000"/>
              <a:ext cx="644400" cy="9438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/>
            </a:p>
          </p:txBody>
        </p:sp>
      </p:grpSp>
      <p:grpSp>
        <p:nvGrpSpPr>
          <p:cNvPr id="838" name="Google Shape;838;p83"/>
          <p:cNvGrpSpPr/>
          <p:nvPr/>
        </p:nvGrpSpPr>
        <p:grpSpPr>
          <a:xfrm>
            <a:off x="5388207" y="3804125"/>
            <a:ext cx="928791" cy="738901"/>
            <a:chOff x="1524882" y="3971581"/>
            <a:chExt cx="928791" cy="943800"/>
          </a:xfrm>
        </p:grpSpPr>
        <p:sp>
          <p:nvSpPr>
            <p:cNvPr id="839" name="Google Shape;839;p83"/>
            <p:cNvSpPr/>
            <p:nvPr/>
          </p:nvSpPr>
          <p:spPr>
            <a:xfrm>
              <a:off x="1524882" y="4613138"/>
              <a:ext cx="449700" cy="2946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840" name="Google Shape;840;p83"/>
            <p:cNvSpPr/>
            <p:nvPr/>
          </p:nvSpPr>
          <p:spPr>
            <a:xfrm>
              <a:off x="1974573" y="3971581"/>
              <a:ext cx="479100" cy="9438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/>
            </a:p>
          </p:txBody>
        </p:sp>
      </p:grpSp>
      <p:sp>
        <p:nvSpPr>
          <p:cNvPr id="841" name="Google Shape;841;p83"/>
          <p:cNvSpPr txBox="1"/>
          <p:nvPr>
            <p:ph idx="1" type="body"/>
          </p:nvPr>
        </p:nvSpPr>
        <p:spPr>
          <a:xfrm>
            <a:off x="311703" y="1404200"/>
            <a:ext cx="43455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ts val="1500"/>
              <a:buFont typeface="Arial"/>
              <a:buNone/>
            </a:pPr>
            <a:r>
              <a:rPr lang="en"/>
              <a:t>Send accelerometer data continuously</a:t>
            </a:r>
            <a:br>
              <a:rPr lang="en"/>
            </a:br>
            <a:r>
              <a:rPr lang="en" sz="1400"/>
              <a:t>6 kB bytes/minute</a:t>
            </a:r>
            <a:endParaRPr sz="14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4"/>
          <p:cNvSpPr txBox="1"/>
          <p:nvPr>
            <p:ph type="title"/>
          </p:nvPr>
        </p:nvSpPr>
        <p:spPr>
          <a:xfrm>
            <a:off x="191725" y="140825"/>
            <a:ext cx="49557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latin typeface="Arial"/>
                <a:ea typeface="Arial"/>
                <a:cs typeface="Arial"/>
                <a:sym typeface="Arial"/>
              </a:rPr>
              <a:t>Act locally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84"/>
          <p:cNvSpPr txBox="1"/>
          <p:nvPr>
            <p:ph idx="12" type="sldNum"/>
          </p:nvPr>
        </p:nvSpPr>
        <p:spPr>
          <a:xfrm>
            <a:off x="6457949" y="4767263"/>
            <a:ext cx="226940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field with trees and a target&#10;&#10;Description automatically generated" id="849" name="Google Shape;849;p84"/>
          <p:cNvPicPr preferRelativeResize="0"/>
          <p:nvPr/>
        </p:nvPicPr>
        <p:blipFill rotWithShape="1">
          <a:blip r:embed="rId3">
            <a:alphaModFix/>
          </a:blip>
          <a:srcRect b="1809" l="38770" r="28730" t="63595"/>
          <a:stretch/>
        </p:blipFill>
        <p:spPr>
          <a:xfrm>
            <a:off x="5504650" y="-64825"/>
            <a:ext cx="3639350" cy="2905706"/>
          </a:xfrm>
          <a:prstGeom prst="rect">
            <a:avLst/>
          </a:prstGeom>
          <a:noFill/>
          <a:ln cap="flat" cmpd="sng" w="102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0" name="Google Shape;850;p84"/>
          <p:cNvSpPr txBox="1"/>
          <p:nvPr>
            <p:ph idx="1" type="body"/>
          </p:nvPr>
        </p:nvSpPr>
        <p:spPr>
          <a:xfrm>
            <a:off x="237900" y="839500"/>
            <a:ext cx="5294700" cy="26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" sz="1800"/>
              <a:t>Task</a:t>
            </a:r>
            <a:r>
              <a:rPr b="1" lang="en" sz="1800"/>
              <a:t>:</a:t>
            </a:r>
            <a:br>
              <a:rPr lang="en" sz="1800"/>
            </a:br>
            <a:r>
              <a:rPr lang="en" sz="1800"/>
              <a:t>Give vaccinated bait </a:t>
            </a:r>
            <a:r>
              <a:rPr i="1" lang="en" sz="1800"/>
              <a:t>only</a:t>
            </a:r>
            <a:r>
              <a:rPr lang="en" sz="1800"/>
              <a:t> to Tasmanian devils</a:t>
            </a:r>
            <a:endParaRPr sz="1800"/>
          </a:p>
          <a:p>
            <a:pPr indent="0" lvl="0" marL="10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" sz="1800"/>
              <a:t>Trigger: </a:t>
            </a:r>
            <a:r>
              <a:rPr lang="en" sz="1800"/>
              <a:t>PIR sensor</a:t>
            </a:r>
            <a:endParaRPr sz="1800"/>
          </a:p>
          <a:p>
            <a:pPr indent="0" lvl="0" marL="10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br>
              <a:rPr lang="en" sz="1800"/>
            </a:br>
            <a:r>
              <a:rPr lang="en" sz="1800"/>
              <a:t>Wake up</a:t>
            </a:r>
            <a:endParaRPr sz="1800"/>
          </a:p>
          <a:p>
            <a:pPr indent="0" lvl="0" marL="10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 sz="1800"/>
              <a:t>Classify image using CNN</a:t>
            </a:r>
            <a:br>
              <a:rPr lang="en" sz="1800"/>
            </a:br>
            <a:r>
              <a:rPr lang="en" sz="1800"/>
              <a:t>if is_Taz:</a:t>
            </a:r>
            <a:br>
              <a:rPr lang="en" sz="1800"/>
            </a:br>
            <a:r>
              <a:rPr lang="en" sz="1800"/>
              <a:t>	dispense_bait()</a:t>
            </a:r>
            <a:endParaRPr sz="1800"/>
          </a:p>
          <a:p>
            <a:pPr indent="0" lvl="0" marL="10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800"/>
          </a:p>
          <a:p>
            <a:pPr indent="0" lvl="0" marL="10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 sz="1800"/>
              <a:t>Send event over LoRaWAN</a:t>
            </a:r>
            <a:endParaRPr sz="1800"/>
          </a:p>
        </p:txBody>
      </p:sp>
      <p:pic>
        <p:nvPicPr>
          <p:cNvPr descr="A close-up of a bear&#10;&#10;Description automatically generated" id="851" name="Google Shape;851;p84"/>
          <p:cNvPicPr preferRelativeResize="0"/>
          <p:nvPr/>
        </p:nvPicPr>
        <p:blipFill rotWithShape="1">
          <a:blip r:embed="rId4">
            <a:alphaModFix/>
          </a:blip>
          <a:srcRect b="0" l="14773" r="34493" t="49034"/>
          <a:stretch/>
        </p:blipFill>
        <p:spPr>
          <a:xfrm>
            <a:off x="5504650" y="2401275"/>
            <a:ext cx="3639350" cy="27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84"/>
          <p:cNvSpPr txBox="1"/>
          <p:nvPr/>
        </p:nvSpPr>
        <p:spPr>
          <a:xfrm>
            <a:off x="5082000" y="1706550"/>
            <a:ext cx="40620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1"/>
                </a:solidFill>
                <a:highlight>
                  <a:schemeClr val="lt1"/>
                </a:highlight>
              </a:rPr>
              <a:t>EdgeAI bait dispenser </a:t>
            </a:r>
            <a:r>
              <a:rPr i="1" lang="en" sz="1600">
                <a:solidFill>
                  <a:schemeClr val="dk1"/>
                </a:solidFill>
                <a:highlight>
                  <a:schemeClr val="lt1"/>
                </a:highlight>
              </a:rPr>
              <a:t>to vaccinate</a:t>
            </a:r>
            <a:br>
              <a:rPr i="1"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i="1" lang="en" sz="1600">
                <a:solidFill>
                  <a:schemeClr val="dk1"/>
                </a:solidFill>
                <a:highlight>
                  <a:schemeClr val="lt1"/>
                </a:highlight>
              </a:rPr>
              <a:t> the Tasmanian devil </a:t>
            </a:r>
            <a:r>
              <a:rPr i="1" lang="en" sz="1600">
                <a:solidFill>
                  <a:schemeClr val="dk1"/>
                </a:solidFill>
                <a:highlight>
                  <a:schemeClr val="lt1"/>
                </a:highlight>
              </a:rPr>
              <a:t>(Sarcophilus harrisii) </a:t>
            </a:r>
            <a:br>
              <a:rPr i="1"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i="1" lang="en" sz="1600">
                <a:solidFill>
                  <a:schemeClr val="dk1"/>
                </a:solidFill>
                <a:highlight>
                  <a:schemeClr val="lt1"/>
                </a:highlight>
              </a:rPr>
              <a:t>against the devil facial tumour disease</a:t>
            </a:r>
            <a:br>
              <a:rPr i="1"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Prithul Chaturvedi</a:t>
            </a:r>
            <a:r>
              <a:rPr baseline="30000" lang="en" sz="16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, Andrew S. Flies, et al.</a:t>
            </a:r>
            <a:endParaRPr i="1" sz="1600">
              <a:highlight>
                <a:schemeClr val="lt1"/>
              </a:highlight>
            </a:endParaRPr>
          </a:p>
        </p:txBody>
      </p:sp>
      <p:pic>
        <p:nvPicPr>
          <p:cNvPr id="853" name="Google Shape;853;p84"/>
          <p:cNvPicPr preferRelativeResize="0"/>
          <p:nvPr/>
        </p:nvPicPr>
        <p:blipFill rotWithShape="1">
          <a:blip r:embed="rId5">
            <a:alphaModFix/>
          </a:blip>
          <a:srcRect b="0" l="0" r="8817" t="0"/>
          <a:stretch/>
        </p:blipFill>
        <p:spPr>
          <a:xfrm>
            <a:off x="3176850" y="4434175"/>
            <a:ext cx="1662450" cy="64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84" title="univesity-tazmani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725" y="4361945"/>
            <a:ext cx="2173300" cy="679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85"/>
          <p:cNvSpPr txBox="1"/>
          <p:nvPr>
            <p:ph type="title"/>
          </p:nvPr>
        </p:nvSpPr>
        <p:spPr>
          <a:xfrm>
            <a:off x="265500" y="20007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Recognition</a:t>
            </a:r>
            <a:endParaRPr/>
          </a:p>
        </p:txBody>
      </p:sp>
      <p:sp>
        <p:nvSpPr>
          <p:cNvPr id="860" name="Google Shape;860;p85"/>
          <p:cNvSpPr txBox="1"/>
          <p:nvPr>
            <p:ph idx="1" type="subTitle"/>
          </p:nvPr>
        </p:nvSpPr>
        <p:spPr>
          <a:xfrm>
            <a:off x="265500" y="35706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accelerometer / IMU</a:t>
            </a:r>
            <a:endParaRPr/>
          </a:p>
        </p:txBody>
      </p:sp>
      <p:sp>
        <p:nvSpPr>
          <p:cNvPr id="861" name="Google Shape;861;p8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2" name="Google Shape;86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175" y="890425"/>
            <a:ext cx="743850" cy="74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on </a:t>
            </a:r>
            <a:r>
              <a:rPr lang="en"/>
              <a:t>streams</a:t>
            </a:r>
            <a:r>
              <a:rPr lang="en"/>
              <a:t>: Continuous classification</a:t>
            </a:r>
            <a:endParaRPr/>
          </a:p>
        </p:txBody>
      </p:sp>
      <p:sp>
        <p:nvSpPr>
          <p:cNvPr id="868" name="Google Shape;868;p86"/>
          <p:cNvSpPr txBox="1"/>
          <p:nvPr>
            <p:ph idx="1" type="body"/>
          </p:nvPr>
        </p:nvSpPr>
        <p:spPr>
          <a:xfrm>
            <a:off x="4867400" y="1170682"/>
            <a:ext cx="3773400" cy="20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The sensor data stream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is sliced into </a:t>
            </a:r>
            <a:r>
              <a:rPr b="1" lang="en" sz="1400">
                <a:solidFill>
                  <a:schemeClr val="dk1"/>
                </a:solidFill>
              </a:rPr>
              <a:t>overlapping windows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Each window </a:t>
            </a:r>
            <a:r>
              <a:rPr b="1" lang="en" sz="1400">
                <a:solidFill>
                  <a:schemeClr val="dk1"/>
                </a:solidFill>
              </a:rPr>
              <a:t>processed independently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869" name="Google Shape;869;p86"/>
          <p:cNvPicPr preferRelativeResize="0"/>
          <p:nvPr/>
        </p:nvPicPr>
        <p:blipFill rotWithShape="1">
          <a:blip r:embed="rId3">
            <a:alphaModFix/>
          </a:blip>
          <a:srcRect b="0" l="2176" r="7547" t="8767"/>
          <a:stretch/>
        </p:blipFill>
        <p:spPr>
          <a:xfrm>
            <a:off x="311700" y="1152475"/>
            <a:ext cx="4260300" cy="29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86"/>
          <p:cNvSpPr/>
          <p:nvPr/>
        </p:nvSpPr>
        <p:spPr>
          <a:xfrm>
            <a:off x="1651025" y="3279666"/>
            <a:ext cx="1978500" cy="37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 sensor data</a:t>
            </a:r>
            <a:endParaRPr/>
          </a:p>
        </p:txBody>
      </p:sp>
      <p:sp>
        <p:nvSpPr>
          <p:cNvPr id="871" name="Google Shape;871;p86"/>
          <p:cNvSpPr/>
          <p:nvPr/>
        </p:nvSpPr>
        <p:spPr>
          <a:xfrm>
            <a:off x="5284863" y="3287838"/>
            <a:ext cx="1017600" cy="34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</a:t>
            </a:r>
            <a:endParaRPr/>
          </a:p>
        </p:txBody>
      </p:sp>
      <p:sp>
        <p:nvSpPr>
          <p:cNvPr id="872" name="Google Shape;872;p86"/>
          <p:cNvSpPr/>
          <p:nvPr/>
        </p:nvSpPr>
        <p:spPr>
          <a:xfrm>
            <a:off x="7903425" y="3296358"/>
            <a:ext cx="819000" cy="34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</a:t>
            </a:r>
            <a:endParaRPr/>
          </a:p>
        </p:txBody>
      </p:sp>
      <p:sp>
        <p:nvSpPr>
          <p:cNvPr id="873" name="Google Shape;873;p86"/>
          <p:cNvSpPr/>
          <p:nvPr/>
        </p:nvSpPr>
        <p:spPr>
          <a:xfrm>
            <a:off x="3898150" y="3051130"/>
            <a:ext cx="1186200" cy="8655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</a:t>
            </a:r>
            <a:endParaRPr/>
          </a:p>
        </p:txBody>
      </p:sp>
      <p:sp>
        <p:nvSpPr>
          <p:cNvPr id="874" name="Google Shape;874;p86"/>
          <p:cNvSpPr/>
          <p:nvPr/>
        </p:nvSpPr>
        <p:spPr>
          <a:xfrm>
            <a:off x="6509854" y="3071006"/>
            <a:ext cx="1186200" cy="8655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cxnSp>
        <p:nvCxnSpPr>
          <p:cNvPr id="875" name="Google Shape;875;p86"/>
          <p:cNvCxnSpPr/>
          <p:nvPr/>
        </p:nvCxnSpPr>
        <p:spPr>
          <a:xfrm>
            <a:off x="3348750" y="3729075"/>
            <a:ext cx="823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6" name="Google Shape;876;p86"/>
          <p:cNvCxnSpPr/>
          <p:nvPr/>
        </p:nvCxnSpPr>
        <p:spPr>
          <a:xfrm>
            <a:off x="4758900" y="3693050"/>
            <a:ext cx="823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7" name="Google Shape;877;p86"/>
          <p:cNvCxnSpPr/>
          <p:nvPr/>
        </p:nvCxnSpPr>
        <p:spPr>
          <a:xfrm>
            <a:off x="5997175" y="3693050"/>
            <a:ext cx="823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8" name="Google Shape;878;p86"/>
          <p:cNvCxnSpPr/>
          <p:nvPr/>
        </p:nvCxnSpPr>
        <p:spPr>
          <a:xfrm>
            <a:off x="7417575" y="3693050"/>
            <a:ext cx="823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79" name="Google Shape;879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4350" y="531725"/>
            <a:ext cx="743850" cy="745175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86"/>
          <p:cNvSpPr txBox="1"/>
          <p:nvPr/>
        </p:nvSpPr>
        <p:spPr>
          <a:xfrm>
            <a:off x="4462875" y="4043863"/>
            <a:ext cx="23751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[ 42, 4002, … , 329 ]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1" name="Google Shape;881;p86"/>
          <p:cNvSpPr txBox="1"/>
          <p:nvPr/>
        </p:nvSpPr>
        <p:spPr>
          <a:xfrm>
            <a:off x="6977700" y="4012700"/>
            <a:ext cx="20901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“Jumping Jacks”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2" name="Google Shape;882;p86"/>
          <p:cNvSpPr txBox="1"/>
          <p:nvPr/>
        </p:nvSpPr>
        <p:spPr>
          <a:xfrm>
            <a:off x="1828700" y="4043875"/>
            <a:ext cx="180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[ x1 y1 z1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x2 y2 z2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…. 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87" title="SATS_Bekkstua_-_Studio_nede.jpg"/>
          <p:cNvPicPr preferRelativeResize="0"/>
          <p:nvPr/>
        </p:nvPicPr>
        <p:blipFill rotWithShape="1">
          <a:blip r:embed="rId3">
            <a:alphaModFix/>
          </a:blip>
          <a:srcRect b="0" l="26811" r="37139" t="0"/>
          <a:stretch/>
        </p:blipFill>
        <p:spPr>
          <a:xfrm>
            <a:off x="12" y="0"/>
            <a:ext cx="32965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87"/>
          <p:cNvPicPr preferRelativeResize="0"/>
          <p:nvPr/>
        </p:nvPicPr>
        <p:blipFill rotWithShape="1">
          <a:blip r:embed="rId4">
            <a:alphaModFix/>
          </a:blip>
          <a:srcRect b="0" l="9529" r="48401" t="6068"/>
          <a:stretch/>
        </p:blipFill>
        <p:spPr>
          <a:xfrm>
            <a:off x="5657025" y="-24712"/>
            <a:ext cx="3486976" cy="519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7"/>
          <p:cNvSpPr/>
          <p:nvPr/>
        </p:nvSpPr>
        <p:spPr>
          <a:xfrm>
            <a:off x="5861275" y="4299225"/>
            <a:ext cx="3206400" cy="72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87"/>
          <p:cNvSpPr txBox="1"/>
          <p:nvPr>
            <p:ph type="title"/>
          </p:nvPr>
        </p:nvSpPr>
        <p:spPr>
          <a:xfrm>
            <a:off x="5982150" y="96900"/>
            <a:ext cx="29283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>
                <a:highlight>
                  <a:schemeClr val="lt2"/>
                </a:highlight>
              </a:rPr>
              <a:t>Health monitoring </a:t>
            </a:r>
            <a:br>
              <a:rPr lang="en" sz="2400">
                <a:highlight>
                  <a:schemeClr val="lt2"/>
                </a:highlight>
              </a:rPr>
            </a:br>
            <a:r>
              <a:rPr lang="en" sz="2400">
                <a:highlight>
                  <a:schemeClr val="lt2"/>
                </a:highlight>
              </a:rPr>
              <a:t>for cattle</a:t>
            </a:r>
            <a:endParaRPr sz="2400">
              <a:highlight>
                <a:schemeClr val="lt2"/>
              </a:highlight>
            </a:endParaRPr>
          </a:p>
        </p:txBody>
      </p:sp>
      <p:sp>
        <p:nvSpPr>
          <p:cNvPr id="891" name="Google Shape;891;p87"/>
          <p:cNvSpPr txBox="1"/>
          <p:nvPr/>
        </p:nvSpPr>
        <p:spPr>
          <a:xfrm>
            <a:off x="5889650" y="4340275"/>
            <a:ext cx="252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</a:rPr>
              <a:t>Power Efficient Wireless Sensor Node through Edge Intelligence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Abhishek Damle (2022)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892" name="Google Shape;892;p87"/>
          <p:cNvPicPr preferRelativeResize="0"/>
          <p:nvPr/>
        </p:nvPicPr>
        <p:blipFill rotWithShape="1">
          <a:blip r:embed="rId5">
            <a:alphaModFix/>
          </a:blip>
          <a:srcRect b="40724" l="3590" r="47236" t="9012"/>
          <a:stretch/>
        </p:blipFill>
        <p:spPr>
          <a:xfrm>
            <a:off x="2856775" y="4299350"/>
            <a:ext cx="1743275" cy="68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34126" y="4515864"/>
            <a:ext cx="883850" cy="465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87"/>
          <p:cNvPicPr preferRelativeResize="0"/>
          <p:nvPr/>
        </p:nvPicPr>
        <p:blipFill rotWithShape="1">
          <a:blip r:embed="rId7">
            <a:alphaModFix/>
          </a:blip>
          <a:srcRect b="0" l="0" r="72240" t="0"/>
          <a:stretch/>
        </p:blipFill>
        <p:spPr>
          <a:xfrm>
            <a:off x="2820450" y="-24700"/>
            <a:ext cx="2883136" cy="51929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5" name="Google Shape;895;p87"/>
          <p:cNvGrpSpPr/>
          <p:nvPr/>
        </p:nvGrpSpPr>
        <p:grpSpPr>
          <a:xfrm>
            <a:off x="3044475" y="4900737"/>
            <a:ext cx="2612316" cy="338644"/>
            <a:chOff x="3887850" y="3335598"/>
            <a:chExt cx="1340956" cy="716100"/>
          </a:xfrm>
        </p:grpSpPr>
        <p:sp>
          <p:nvSpPr>
            <p:cNvPr id="896" name="Google Shape;896;p87"/>
            <p:cNvSpPr/>
            <p:nvPr/>
          </p:nvSpPr>
          <p:spPr>
            <a:xfrm>
              <a:off x="3887850" y="3411475"/>
              <a:ext cx="1280100" cy="49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87"/>
            <p:cNvSpPr txBox="1"/>
            <p:nvPr/>
          </p:nvSpPr>
          <p:spPr>
            <a:xfrm>
              <a:off x="3919906" y="3335598"/>
              <a:ext cx="1308900" cy="7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u="sng">
                  <a:solidFill>
                    <a:schemeClr val="hlink"/>
                  </a:solidFill>
                  <a:hlinkClick r:id="rId8"/>
                </a:rPr>
                <a:t>https://github.com/jonnor/toothbrush/</a:t>
              </a:r>
              <a:r>
                <a:rPr lang="en" sz="1000"/>
                <a:t> </a:t>
              </a:r>
              <a:endParaRPr sz="1000"/>
            </a:p>
          </p:txBody>
        </p:sp>
      </p:grpSp>
      <p:grpSp>
        <p:nvGrpSpPr>
          <p:cNvPr id="898" name="Google Shape;898;p87"/>
          <p:cNvGrpSpPr/>
          <p:nvPr/>
        </p:nvGrpSpPr>
        <p:grpSpPr>
          <a:xfrm>
            <a:off x="208725" y="2935749"/>
            <a:ext cx="2015483" cy="2090079"/>
            <a:chOff x="346625" y="2919299"/>
            <a:chExt cx="2015483" cy="2090079"/>
          </a:xfrm>
        </p:grpSpPr>
        <p:pic>
          <p:nvPicPr>
            <p:cNvPr id="899" name="Google Shape;899;p8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46625" y="2919299"/>
              <a:ext cx="968829" cy="880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0" name="Google Shape;900;p87"/>
            <p:cNvPicPr preferRelativeResize="0"/>
            <p:nvPr/>
          </p:nvPicPr>
          <p:blipFill rotWithShape="1">
            <a:blip r:embed="rId10">
              <a:alphaModFix/>
            </a:blip>
            <a:srcRect b="10794" l="0" r="0" t="8294"/>
            <a:stretch/>
          </p:blipFill>
          <p:spPr>
            <a:xfrm>
              <a:off x="346625" y="3800100"/>
              <a:ext cx="966625" cy="1209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1" name="Google Shape;901;p87"/>
            <p:cNvPicPr preferRelativeResize="0"/>
            <p:nvPr/>
          </p:nvPicPr>
          <p:blipFill rotWithShape="1">
            <a:blip r:embed="rId11">
              <a:alphaModFix/>
            </a:blip>
            <a:srcRect b="14758" l="4851" r="4806" t="8654"/>
            <a:stretch/>
          </p:blipFill>
          <p:spPr>
            <a:xfrm>
              <a:off x="1313250" y="3800109"/>
              <a:ext cx="1048858" cy="12092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2" name="Google Shape;902;p87"/>
          <p:cNvSpPr txBox="1"/>
          <p:nvPr>
            <p:ph type="title"/>
          </p:nvPr>
        </p:nvSpPr>
        <p:spPr>
          <a:xfrm>
            <a:off x="3726975" y="96900"/>
            <a:ext cx="1838400" cy="11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highlight>
                  <a:schemeClr val="lt2"/>
                </a:highlight>
              </a:rPr>
              <a:t>Toothbrush</a:t>
            </a:r>
            <a:br>
              <a:rPr lang="en" sz="2420">
                <a:highlight>
                  <a:schemeClr val="lt2"/>
                </a:highlight>
              </a:rPr>
            </a:br>
            <a:r>
              <a:rPr lang="en" sz="2420">
                <a:highlight>
                  <a:schemeClr val="lt2"/>
                </a:highlight>
              </a:rPr>
              <a:t>timer</a:t>
            </a:r>
            <a:endParaRPr sz="2420">
              <a:highlight>
                <a:schemeClr val="lt2"/>
              </a:highlight>
            </a:endParaRPr>
          </a:p>
        </p:txBody>
      </p:sp>
      <p:sp>
        <p:nvSpPr>
          <p:cNvPr id="903" name="Google Shape;903;p87"/>
          <p:cNvSpPr txBox="1"/>
          <p:nvPr>
            <p:ph type="title"/>
          </p:nvPr>
        </p:nvSpPr>
        <p:spPr>
          <a:xfrm>
            <a:off x="134450" y="96900"/>
            <a:ext cx="2523000" cy="11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highlight>
                  <a:schemeClr val="lt2"/>
                </a:highlight>
              </a:rPr>
              <a:t>Exercise tracker</a:t>
            </a:r>
            <a:endParaRPr sz="2420">
              <a:highlight>
                <a:schemeClr val="lt2"/>
              </a:highlight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Recognition usecases</a:t>
            </a:r>
            <a:endParaRPr/>
          </a:p>
        </p:txBody>
      </p:sp>
      <p:sp>
        <p:nvSpPr>
          <p:cNvPr id="909" name="Google Shape;909;p88"/>
          <p:cNvSpPr txBox="1"/>
          <p:nvPr>
            <p:ph idx="1" type="body"/>
          </p:nvPr>
        </p:nvSpPr>
        <p:spPr>
          <a:xfrm>
            <a:off x="311700" y="115247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Human Activity Recognition</a:t>
            </a:r>
            <a:r>
              <a:rPr lang="en"/>
              <a:t>.</a:t>
            </a:r>
            <a:r>
              <a:rPr b="1" lang="en"/>
              <a:t> </a:t>
            </a:r>
            <a:r>
              <a:rPr lang="en"/>
              <a:t>Health, medical, sports</a:t>
            </a:r>
            <a:br>
              <a:rPr lang="en"/>
            </a:br>
            <a:r>
              <a:rPr lang="en" sz="1250" u="sng">
                <a:solidFill>
                  <a:schemeClr val="hlink"/>
                </a:solidFill>
                <a:hlinkClick r:id="rId3"/>
              </a:rPr>
              <a:t>https://github.com/jonnor/embeddedml/blob/master/applications/human-activity-recognition.md</a:t>
            </a:r>
            <a:r>
              <a:rPr lang="en" sz="1250"/>
              <a:t> 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Animal Activity Recognition</a:t>
            </a:r>
            <a:r>
              <a:rPr lang="en"/>
              <a:t>. Pets, livestock, wild animals</a:t>
            </a:r>
            <a:br>
              <a:rPr lang="en"/>
            </a:br>
            <a:r>
              <a:rPr lang="en" sz="1200" u="sng">
                <a:solidFill>
                  <a:schemeClr val="hlink"/>
                </a:solidFill>
                <a:hlinkClick r:id="rId4"/>
              </a:rPr>
              <a:t>https://github.com/jonnor/embeddedml/blob/master/applications/animal-activity-recognition.md</a:t>
            </a:r>
            <a:r>
              <a:rPr lang="en" sz="1200"/>
              <a:t> 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Other TinyML tasks related to motion / IMUs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Gesture Recognition</a:t>
            </a:r>
            <a:r>
              <a:rPr lang="en"/>
              <a:t> </a:t>
            </a:r>
            <a:br>
              <a:rPr lang="en"/>
            </a:br>
            <a:r>
              <a:rPr lang="en" sz="1200" u="sng">
                <a:solidFill>
                  <a:schemeClr val="hlink"/>
                </a:solidFill>
                <a:hlinkClick r:id="rId5"/>
              </a:rPr>
              <a:t>https://github.com/jonnor/embeddedml/blob/master/applications/gesture-recognition.md</a:t>
            </a:r>
            <a:r>
              <a:rPr lang="en" sz="1200"/>
              <a:t> 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Condition Monitoring of Machinery</a:t>
            </a:r>
            <a:br>
              <a:rPr lang="en"/>
            </a:br>
            <a:r>
              <a:rPr lang="en" sz="1200" u="sng">
                <a:solidFill>
                  <a:schemeClr val="hlink"/>
                </a:solidFill>
                <a:hlinkClick r:id="rId6"/>
              </a:rPr>
              <a:t>https://github.com/jonnor/condition-monitoring</a:t>
            </a:r>
            <a:r>
              <a:rPr lang="en" sz="1200"/>
              <a:t> </a:t>
            </a:r>
            <a:endParaRPr sz="12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89"/>
          <p:cNvSpPr txBox="1"/>
          <p:nvPr/>
        </p:nvSpPr>
        <p:spPr>
          <a:xfrm>
            <a:off x="311700" y="1154525"/>
            <a:ext cx="4817700" cy="3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Simple: Low-pass accelerometer data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Gravity[3] = lowpass(Acceleration[3], 0.30 Hz, 4) </a:t>
            </a:r>
            <a:br>
              <a:rPr lang="en"/>
            </a:br>
            <a:r>
              <a:rPr lang="en"/>
              <a:t>Motion[3] = Acceleration[3] - Gravity[3]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Implemented with eml_iir.h [1]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Advanced: Fusion of gyro + accelerometer</a:t>
            </a:r>
            <a:br>
              <a:rPr lang="en"/>
            </a:br>
            <a:br>
              <a:rPr lang="en"/>
            </a:br>
            <a:r>
              <a:rPr lang="en"/>
              <a:t>	Complimentary filter, Madgewick, Mahoney, …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 code in Zephyr Scientific Library (zclib) [2]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89"/>
          <p:cNvSpPr txBox="1"/>
          <p:nvPr>
            <p:ph type="title"/>
          </p:nvPr>
        </p:nvSpPr>
        <p:spPr>
          <a:xfrm>
            <a:off x="311700" y="555600"/>
            <a:ext cx="77460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Gravity separation</a:t>
            </a:r>
            <a:endParaRPr/>
          </a:p>
        </p:txBody>
      </p:sp>
      <p:pic>
        <p:nvPicPr>
          <p:cNvPr id="916" name="Google Shape;91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4350" y="4178625"/>
            <a:ext cx="743850" cy="745175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89"/>
          <p:cNvSpPr txBox="1"/>
          <p:nvPr/>
        </p:nvSpPr>
        <p:spPr>
          <a:xfrm>
            <a:off x="375225" y="4369700"/>
            <a:ext cx="714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https://github.com/emlearn/emlearn/tree/master/examples/motion_recognition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https://zephyrproject-rtos.github.io/zscilib/group___f_u_s_i_o_n___a_l_g_o_r_i_t_h_m_s.html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18" name="Google Shape;918;p89" title="toothbrush-gravitysep.png"/>
          <p:cNvPicPr preferRelativeResize="0"/>
          <p:nvPr/>
        </p:nvPicPr>
        <p:blipFill rotWithShape="1">
          <a:blip r:embed="rId6">
            <a:alphaModFix/>
          </a:blip>
          <a:srcRect b="36977" l="9034" r="35302" t="10500"/>
          <a:stretch/>
        </p:blipFill>
        <p:spPr>
          <a:xfrm>
            <a:off x="4374125" y="220625"/>
            <a:ext cx="4470525" cy="316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90"/>
          <p:cNvSpPr txBox="1"/>
          <p:nvPr>
            <p:ph type="title"/>
          </p:nvPr>
        </p:nvSpPr>
        <p:spPr>
          <a:xfrm>
            <a:off x="311700" y="198500"/>
            <a:ext cx="77460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Spectral features using FFT</a:t>
            </a:r>
            <a:endParaRPr/>
          </a:p>
        </p:txBody>
      </p:sp>
      <p:pic>
        <p:nvPicPr>
          <p:cNvPr id="924" name="Google Shape;92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4350" y="531725"/>
            <a:ext cx="743850" cy="745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90"/>
          <p:cNvSpPr txBox="1"/>
          <p:nvPr/>
        </p:nvSpPr>
        <p:spPr>
          <a:xfrm>
            <a:off x="375225" y="4581980"/>
            <a:ext cx="840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 / eml_fft.h 				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https://github.com/emlearn/emlearn/tree/master/examples/motion_recognition</a:t>
            </a:r>
            <a:r>
              <a:rPr lang="en" sz="1200">
                <a:solidFill>
                  <a:schemeClr val="dk1"/>
                </a:solidFill>
              </a:rPr>
              <a:t> 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MicroPython / emlearn_fft.mpy  	</a:t>
            </a:r>
            <a:r>
              <a:rPr lang="en" sz="1200" u="sng">
                <a:solidFill>
                  <a:schemeClr val="hlink"/>
                </a:solidFill>
                <a:hlinkClick r:id="rId5"/>
              </a:rPr>
              <a:t>https://github.com/emlearn/emlearn-micropython/blob/master/paper/example.py</a:t>
            </a:r>
            <a:r>
              <a:rPr lang="en" sz="1200">
                <a:solidFill>
                  <a:schemeClr val="dk1"/>
                </a:solidFill>
              </a:rPr>
              <a:t> </a:t>
            </a:r>
            <a:br>
              <a:rPr lang="en" sz="1200">
                <a:solidFill>
                  <a:schemeClr val="dk1"/>
                </a:solidFill>
              </a:rPr>
            </a:br>
            <a:endParaRPr sz="1200"/>
          </a:p>
        </p:txBody>
      </p:sp>
      <p:pic>
        <p:nvPicPr>
          <p:cNvPr id="926" name="Google Shape;926;p90" title="physical_activity_recognition_pipelin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4350" y="730825"/>
            <a:ext cx="7555451" cy="377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" name="Google Shape;931;p91" title="Screenshot from 2025-04-24 14-22-40.png"/>
          <p:cNvPicPr preferRelativeResize="0"/>
          <p:nvPr/>
        </p:nvPicPr>
        <p:blipFill rotWithShape="1">
          <a:blip r:embed="rId3">
            <a:alphaModFix/>
          </a:blip>
          <a:srcRect b="11173" l="6927" r="74960" t="72933"/>
          <a:stretch/>
        </p:blipFill>
        <p:spPr>
          <a:xfrm>
            <a:off x="4349750" y="798525"/>
            <a:ext cx="2703552" cy="13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9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har_trees - Machine Learning pipeline</a:t>
            </a:r>
            <a:endParaRPr/>
          </a:p>
        </p:txBody>
      </p:sp>
      <p:sp>
        <p:nvSpPr>
          <p:cNvPr id="933" name="Google Shape;933;p91"/>
          <p:cNvSpPr txBox="1"/>
          <p:nvPr>
            <p:ph idx="1" type="body"/>
          </p:nvPr>
        </p:nvSpPr>
        <p:spPr>
          <a:xfrm>
            <a:off x="311700" y="582900"/>
            <a:ext cx="4269600" cy="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Using a scikit-learn based pipeline.</a:t>
            </a:r>
            <a:endParaRPr/>
          </a:p>
        </p:txBody>
      </p:sp>
      <p:pic>
        <p:nvPicPr>
          <p:cNvPr id="934" name="Google Shape;934;p91"/>
          <p:cNvPicPr preferRelativeResize="0"/>
          <p:nvPr/>
        </p:nvPicPr>
        <p:blipFill rotWithShape="1">
          <a:blip r:embed="rId4">
            <a:alphaModFix/>
          </a:blip>
          <a:srcRect b="1890" l="53305" r="1544" t="85738"/>
          <a:stretch/>
        </p:blipFill>
        <p:spPr>
          <a:xfrm>
            <a:off x="4559100" y="3028643"/>
            <a:ext cx="4591502" cy="732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91"/>
          <p:cNvPicPr preferRelativeResize="0"/>
          <p:nvPr/>
        </p:nvPicPr>
        <p:blipFill rotWithShape="1">
          <a:blip r:embed="rId4">
            <a:alphaModFix/>
          </a:blip>
          <a:srcRect b="54638" l="53305" r="1544" t="34514"/>
          <a:stretch/>
        </p:blipFill>
        <p:spPr>
          <a:xfrm>
            <a:off x="4559100" y="2221500"/>
            <a:ext cx="4591502" cy="642449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91"/>
          <p:cNvSpPr txBox="1"/>
          <p:nvPr/>
        </p:nvSpPr>
        <p:spPr>
          <a:xfrm>
            <a:off x="311700" y="1048800"/>
            <a:ext cx="41937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8000"/>
                </a:solidFill>
              </a:rPr>
              <a:t># Setup subject-based cross validation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splitter = </a:t>
            </a:r>
            <a:r>
              <a:rPr b="1" lang="en" sz="1100">
                <a:solidFill>
                  <a:schemeClr val="dk1"/>
                </a:solidFill>
              </a:rPr>
              <a:t>GroupShuffleSplit</a:t>
            </a:r>
            <a:r>
              <a:rPr lang="en" sz="1100">
                <a:solidFill>
                  <a:schemeClr val="dk1"/>
                </a:solidFill>
              </a:rPr>
              <a:t>(n_splits=n_splits, test_size=0.25,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random_state=random_state)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8000"/>
                </a:solidFill>
              </a:rPr>
              <a:t># Random Forest classifier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clf = </a:t>
            </a:r>
            <a:r>
              <a:rPr b="1" lang="en" sz="1100">
                <a:solidFill>
                  <a:schemeClr val="dk1"/>
                </a:solidFill>
              </a:rPr>
              <a:t>RandomForestClassifier</a:t>
            </a:r>
            <a:r>
              <a:rPr lang="en" sz="1100">
                <a:solidFill>
                  <a:schemeClr val="dk1"/>
                </a:solidFill>
              </a:rPr>
              <a:t>(random_state = random_state,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n_jobs=1, class_weight = </a:t>
            </a:r>
            <a:r>
              <a:rPr lang="en" sz="1100">
                <a:solidFill>
                  <a:srgbClr val="A31515"/>
                </a:solidFill>
              </a:rPr>
              <a:t>"balanced"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8000"/>
                </a:solidFill>
              </a:rPr>
              <a:t># Hyper-parameter search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search = </a:t>
            </a:r>
            <a:r>
              <a:rPr b="1" lang="en" sz="1100">
                <a:solidFill>
                  <a:schemeClr val="dk1"/>
                </a:solidFill>
              </a:rPr>
              <a:t>GridSearchCV</a:t>
            </a:r>
            <a:r>
              <a:rPr lang="en" sz="1100">
                <a:solidFill>
                  <a:schemeClr val="dk1"/>
                </a:solidFill>
              </a:rPr>
              <a:t>(clf, param_grid=hyperparameters,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scoring=metric, refit=metric, cv=splitter)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search.fit(X, Y, groups=groups)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37" name="Google Shape;937;p91"/>
          <p:cNvSpPr txBox="1"/>
          <p:nvPr/>
        </p:nvSpPr>
        <p:spPr>
          <a:xfrm>
            <a:off x="387900" y="3820975"/>
            <a:ext cx="5170800" cy="831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73A49"/>
                </a:solidFill>
              </a:rPr>
              <a:t>import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emlearn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converted = </a:t>
            </a:r>
            <a:r>
              <a:rPr b="1" lang="en">
                <a:solidFill>
                  <a:schemeClr val="dk1"/>
                </a:solidFill>
              </a:rPr>
              <a:t>emlearn.convert</a:t>
            </a:r>
            <a:r>
              <a:rPr lang="en">
                <a:solidFill>
                  <a:schemeClr val="dk1"/>
                </a:solidFill>
              </a:rPr>
              <a:t>(clf)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converted</a:t>
            </a:r>
            <a:r>
              <a:rPr b="1" lang="en">
                <a:solidFill>
                  <a:schemeClr val="dk1"/>
                </a:solidFill>
              </a:rPr>
              <a:t>.save</a:t>
            </a:r>
            <a:r>
              <a:rPr lang="en">
                <a:solidFill>
                  <a:schemeClr val="dk1"/>
                </a:solidFill>
              </a:rPr>
              <a:t>(name=</a:t>
            </a:r>
            <a:r>
              <a:rPr lang="en">
                <a:solidFill>
                  <a:srgbClr val="032F62"/>
                </a:solidFill>
              </a:rPr>
              <a:t>'gesture'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E36209"/>
                </a:solidFill>
              </a:rPr>
              <a:t>format</a:t>
            </a:r>
            <a:r>
              <a:rPr lang="en">
                <a:solidFill>
                  <a:schemeClr val="dk1"/>
                </a:solidFill>
              </a:rPr>
              <a:t>=’csv’, file=</a:t>
            </a:r>
            <a:r>
              <a:rPr lang="en">
                <a:solidFill>
                  <a:srgbClr val="032F62"/>
                </a:solidFill>
              </a:rPr>
              <a:t>'</a:t>
            </a:r>
            <a:r>
              <a:rPr b="1" lang="en">
                <a:solidFill>
                  <a:srgbClr val="032F62"/>
                </a:solidFill>
              </a:rPr>
              <a:t>model.csv</a:t>
            </a:r>
            <a:r>
              <a:rPr lang="en">
                <a:solidFill>
                  <a:srgbClr val="032F62"/>
                </a:solidFill>
              </a:rPr>
              <a:t>'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8" name="Google Shape;938;p91"/>
          <p:cNvSpPr txBox="1"/>
          <p:nvPr>
            <p:ph idx="1" type="body"/>
          </p:nvPr>
        </p:nvSpPr>
        <p:spPr>
          <a:xfrm>
            <a:off x="361525" y="4636575"/>
            <a:ext cx="8520600" cy="4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 u="sng">
                <a:solidFill>
                  <a:schemeClr val="hlink"/>
                </a:solidFill>
                <a:hlinkClick r:id="rId5"/>
              </a:rPr>
              <a:t>https://github.com/emlearn/emlearn-micropython/tree/master/examples/har_trees</a:t>
            </a:r>
            <a:r>
              <a:rPr lang="en" sz="1400"/>
              <a:t> </a:t>
            </a:r>
            <a:endParaRPr sz="1400"/>
          </a:p>
        </p:txBody>
      </p:sp>
      <p:pic>
        <p:nvPicPr>
          <p:cNvPr id="939" name="Google Shape;939;p91"/>
          <p:cNvPicPr preferRelativeResize="0"/>
          <p:nvPr/>
        </p:nvPicPr>
        <p:blipFill rotWithShape="1">
          <a:blip r:embed="rId6">
            <a:alphaModFix/>
          </a:blip>
          <a:srcRect b="9396" l="10175" r="15393" t="9469"/>
          <a:stretch/>
        </p:blipFill>
        <p:spPr>
          <a:xfrm>
            <a:off x="7164500" y="309775"/>
            <a:ext cx="1817299" cy="17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emlearn-micropython: Install &amp; Export model</a:t>
            </a:r>
            <a:endParaRPr/>
          </a:p>
        </p:txBody>
      </p:sp>
      <p:sp>
        <p:nvSpPr>
          <p:cNvPr id="945" name="Google Shape;945;p92"/>
          <p:cNvSpPr txBox="1"/>
          <p:nvPr/>
        </p:nvSpPr>
        <p:spPr>
          <a:xfrm>
            <a:off x="383275" y="1276900"/>
            <a:ext cx="6273600" cy="1262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73A49"/>
                </a:solidFill>
              </a:rPr>
              <a:t>import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emlearn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estimator = train_model()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converted = </a:t>
            </a:r>
            <a:r>
              <a:rPr b="1" lang="en">
                <a:solidFill>
                  <a:schemeClr val="dk1"/>
                </a:solidFill>
              </a:rPr>
              <a:t>emlearn.convert</a:t>
            </a:r>
            <a:r>
              <a:rPr lang="en">
                <a:solidFill>
                  <a:schemeClr val="dk1"/>
                </a:solidFill>
              </a:rPr>
              <a:t>(estimator)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converted</a:t>
            </a:r>
            <a:r>
              <a:rPr b="1" lang="en">
                <a:solidFill>
                  <a:schemeClr val="dk1"/>
                </a:solidFill>
              </a:rPr>
              <a:t>.save</a:t>
            </a:r>
            <a:r>
              <a:rPr lang="en">
                <a:solidFill>
                  <a:schemeClr val="dk1"/>
                </a:solidFill>
              </a:rPr>
              <a:t>(name=</a:t>
            </a:r>
            <a:r>
              <a:rPr lang="en">
                <a:solidFill>
                  <a:srgbClr val="032F62"/>
                </a:solidFill>
              </a:rPr>
              <a:t>'gesture'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E36209"/>
                </a:solidFill>
              </a:rPr>
              <a:t>format</a:t>
            </a:r>
            <a:r>
              <a:rPr lang="en">
                <a:solidFill>
                  <a:schemeClr val="dk1"/>
                </a:solidFill>
              </a:rPr>
              <a:t>=’csv’, file=</a:t>
            </a:r>
            <a:r>
              <a:rPr lang="en">
                <a:solidFill>
                  <a:srgbClr val="032F62"/>
                </a:solidFill>
              </a:rPr>
              <a:t>'</a:t>
            </a:r>
            <a:r>
              <a:rPr b="1" lang="en">
                <a:solidFill>
                  <a:srgbClr val="032F62"/>
                </a:solidFill>
              </a:rPr>
              <a:t>gesture_model.csv</a:t>
            </a:r>
            <a:r>
              <a:rPr lang="en">
                <a:solidFill>
                  <a:srgbClr val="032F62"/>
                </a:solidFill>
              </a:rPr>
              <a:t>'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46" name="Google Shape;946;p92"/>
          <p:cNvSpPr txBox="1"/>
          <p:nvPr>
            <p:ph idx="1" type="body"/>
          </p:nvPr>
        </p:nvSpPr>
        <p:spPr>
          <a:xfrm>
            <a:off x="311700" y="2724775"/>
            <a:ext cx="8520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Copy model to device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mpremote fs cp </a:t>
            </a:r>
            <a:r>
              <a:rPr b="1" lang="en" sz="1400">
                <a:solidFill>
                  <a:schemeClr val="dk1"/>
                </a:solidFill>
              </a:rPr>
              <a:t>gesture_model.csv</a:t>
            </a:r>
            <a:r>
              <a:rPr lang="en" sz="1400">
                <a:solidFill>
                  <a:schemeClr val="dk1"/>
                </a:solidFill>
              </a:rPr>
              <a:t> :  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947" name="Google Shape;947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4350" y="531725"/>
            <a:ext cx="743850" cy="745175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92"/>
          <p:cNvSpPr txBox="1"/>
          <p:nvPr>
            <p:ph idx="1" type="body"/>
          </p:nvPr>
        </p:nvSpPr>
        <p:spPr>
          <a:xfrm>
            <a:off x="4243650" y="1276900"/>
            <a:ext cx="236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Export model on PC</a:t>
            </a:r>
            <a:endParaRPr/>
          </a:p>
        </p:txBody>
      </p:sp>
      <p:sp>
        <p:nvSpPr>
          <p:cNvPr id="949" name="Google Shape;949;p92"/>
          <p:cNvSpPr txBox="1"/>
          <p:nvPr/>
        </p:nvSpPr>
        <p:spPr>
          <a:xfrm>
            <a:off x="311700" y="3839050"/>
            <a:ext cx="6345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Install MicroPython library on device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mip install https://emlearn.github.io/...../</a:t>
            </a:r>
            <a:r>
              <a:rPr b="1" i="1" lang="en">
                <a:solidFill>
                  <a:schemeClr val="dk1"/>
                </a:solidFill>
              </a:rPr>
              <a:t>xtensawin</a:t>
            </a:r>
            <a:r>
              <a:rPr i="1" lang="en">
                <a:solidFill>
                  <a:schemeClr val="dk1"/>
                </a:solidFill>
              </a:rPr>
              <a:t>_</a:t>
            </a:r>
            <a:r>
              <a:rPr b="1" i="1" lang="en">
                <a:solidFill>
                  <a:schemeClr val="dk1"/>
                </a:solidFill>
              </a:rPr>
              <a:t>6.2</a:t>
            </a:r>
            <a:r>
              <a:rPr i="1" lang="en">
                <a:solidFill>
                  <a:schemeClr val="dk1"/>
                </a:solidFill>
              </a:rPr>
              <a:t>/emltrees.mpy </a:t>
            </a:r>
            <a:endParaRPr/>
          </a:p>
        </p:txBody>
      </p:sp>
      <p:sp>
        <p:nvSpPr>
          <p:cNvPr id="950" name="Google Shape;950;p92"/>
          <p:cNvSpPr txBox="1"/>
          <p:nvPr/>
        </p:nvSpPr>
        <p:spPr>
          <a:xfrm>
            <a:off x="6775850" y="3736650"/>
            <a:ext cx="1866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Prebuilt binary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No need to setup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C toolchain and SDK</a:t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emlearn-micropython: </a:t>
            </a:r>
            <a:r>
              <a:rPr lang="en"/>
              <a:t>Load model &amp; run</a:t>
            </a:r>
            <a:endParaRPr/>
          </a:p>
        </p:txBody>
      </p:sp>
      <p:pic>
        <p:nvPicPr>
          <p:cNvPr id="956" name="Google Shape;956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4350" y="531725"/>
            <a:ext cx="743850" cy="745175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93"/>
          <p:cNvSpPr txBox="1"/>
          <p:nvPr/>
        </p:nvSpPr>
        <p:spPr>
          <a:xfrm>
            <a:off x="390450" y="1276900"/>
            <a:ext cx="6057300" cy="1693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D73A49"/>
                </a:solidFill>
              </a:rPr>
              <a:t>import</a:t>
            </a:r>
            <a:r>
              <a:rPr lang="en">
                <a:solidFill>
                  <a:schemeClr val="dk1"/>
                </a:solidFill>
              </a:rPr>
              <a:t> emltrees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737D"/>
                </a:solidFill>
              </a:rPr>
              <a:t># Instantiate model. Capacity for trees, decision nodes, classes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model = </a:t>
            </a:r>
            <a:r>
              <a:rPr b="1" lang="en">
                <a:solidFill>
                  <a:schemeClr val="dk1"/>
                </a:solidFill>
              </a:rPr>
              <a:t>emltrees.new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>
                <a:solidFill>
                  <a:srgbClr val="005CC5"/>
                </a:solidFill>
              </a:rPr>
              <a:t>20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005CC5"/>
                </a:solidFill>
              </a:rPr>
              <a:t>200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005CC5"/>
                </a:solidFill>
              </a:rPr>
              <a:t>10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737D"/>
                </a:solidFill>
              </a:rPr>
              <a:t># Load model "weights"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73A49"/>
                </a:solidFill>
              </a:rPr>
              <a:t>with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E36209"/>
                </a:solidFill>
              </a:rPr>
              <a:t>open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>
                <a:solidFill>
                  <a:srgbClr val="032F62"/>
                </a:solidFill>
              </a:rPr>
              <a:t>'</a:t>
            </a:r>
            <a:r>
              <a:rPr b="1" lang="en">
                <a:solidFill>
                  <a:srgbClr val="032F62"/>
                </a:solidFill>
              </a:rPr>
              <a:t>gesture_model.csv</a:t>
            </a:r>
            <a:r>
              <a:rPr lang="en">
                <a:solidFill>
                  <a:srgbClr val="032F62"/>
                </a:solidFill>
              </a:rPr>
              <a:t>'</a:t>
            </a:r>
            <a:r>
              <a:rPr lang="en">
                <a:solidFill>
                  <a:schemeClr val="dk1"/>
                </a:solidFill>
              </a:rPr>
              <a:t>) </a:t>
            </a:r>
            <a:r>
              <a:rPr lang="en">
                <a:solidFill>
                  <a:srgbClr val="D73A49"/>
                </a:solidFill>
              </a:rPr>
              <a:t>as</a:t>
            </a:r>
            <a:r>
              <a:rPr lang="en">
                <a:solidFill>
                  <a:schemeClr val="dk1"/>
                </a:solidFill>
              </a:rPr>
              <a:t> f: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</a:t>
            </a:r>
            <a:r>
              <a:rPr b="1" lang="en">
                <a:solidFill>
                  <a:schemeClr val="dk1"/>
                </a:solidFill>
              </a:rPr>
              <a:t>emltrees.load_model</a:t>
            </a:r>
            <a:r>
              <a:rPr lang="en">
                <a:solidFill>
                  <a:schemeClr val="dk1"/>
                </a:solidFill>
              </a:rPr>
              <a:t>(model, f)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8" name="Google Shape;958;p93"/>
          <p:cNvSpPr txBox="1"/>
          <p:nvPr>
            <p:ph idx="1" type="body"/>
          </p:nvPr>
        </p:nvSpPr>
        <p:spPr>
          <a:xfrm>
            <a:off x="3733350" y="2487150"/>
            <a:ext cx="263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830"/>
              <a:t>Load model on device</a:t>
            </a:r>
            <a:endParaRPr sz="1830"/>
          </a:p>
        </p:txBody>
      </p:sp>
      <p:sp>
        <p:nvSpPr>
          <p:cNvPr id="959" name="Google Shape;959;p93"/>
          <p:cNvSpPr txBox="1"/>
          <p:nvPr/>
        </p:nvSpPr>
        <p:spPr>
          <a:xfrm>
            <a:off x="390450" y="3229275"/>
            <a:ext cx="6057300" cy="1539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737D"/>
                </a:solidFill>
              </a:rPr>
              <a:t># Read sensor data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sensor.fifo_read(samples)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737D"/>
                </a:solidFill>
              </a:rPr>
              <a:t># Preprocess features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preprocessor.run(samples, features)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737D"/>
                </a:solidFill>
              </a:rPr>
              <a:t># Run model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out = </a:t>
            </a:r>
            <a:r>
              <a:rPr b="1" lang="en" sz="1100">
                <a:solidFill>
                  <a:schemeClr val="dk1"/>
                </a:solidFill>
              </a:rPr>
              <a:t>model.predict</a:t>
            </a:r>
            <a:r>
              <a:rPr lang="en" sz="1100">
                <a:solidFill>
                  <a:schemeClr val="dk1"/>
                </a:solidFill>
              </a:rPr>
              <a:t>(features)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60" name="Google Shape;960;p93"/>
          <p:cNvSpPr txBox="1"/>
          <p:nvPr>
            <p:ph idx="1" type="body"/>
          </p:nvPr>
        </p:nvSpPr>
        <p:spPr>
          <a:xfrm>
            <a:off x="3753600" y="4321050"/>
            <a:ext cx="263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830"/>
              <a:t>Run inference</a:t>
            </a:r>
            <a:endParaRPr sz="183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9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MicroPython</a:t>
            </a:r>
            <a:br>
              <a:rPr lang="en"/>
            </a:br>
            <a:r>
              <a:rPr lang="en"/>
              <a:t>tour</a:t>
            </a:r>
            <a:endParaRPr/>
          </a:p>
        </p:txBody>
      </p:sp>
      <p:sp>
        <p:nvSpPr>
          <p:cNvPr id="966" name="Google Shape;966;p9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9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968" name="Google Shape;96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400" y="3153700"/>
            <a:ext cx="26789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MicroPython - Introduction</a:t>
            </a:r>
            <a:endParaRPr/>
          </a:p>
        </p:txBody>
      </p:sp>
      <p:sp>
        <p:nvSpPr>
          <p:cNvPr id="974" name="Google Shape;974;p95"/>
          <p:cNvSpPr txBox="1"/>
          <p:nvPr>
            <p:ph idx="1" type="body"/>
          </p:nvPr>
        </p:nvSpPr>
        <p:spPr>
          <a:xfrm>
            <a:off x="311700" y="1152475"/>
            <a:ext cx="8520600" cy="38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Implements a subset of Python 3.x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devices with 128 kB+ RAM</a:t>
            </a:r>
            <a:br>
              <a:rPr lang="en"/>
            </a:br>
            <a:r>
              <a:rPr lang="en"/>
              <a:t>Supports 8+ microcontroller families directly,</a:t>
            </a:r>
            <a:br>
              <a:rPr lang="en"/>
            </a:br>
            <a:r>
              <a:rPr lang="en"/>
              <a:t>many more via Zephyr RTOS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Official webpage</a:t>
            </a:r>
            <a:r>
              <a:rPr b="1" lang="en"/>
              <a:t>: </a:t>
            </a:r>
            <a:r>
              <a:rPr b="1" lang="en" u="sng">
                <a:solidFill>
                  <a:schemeClr val="hlink"/>
                </a:solidFill>
                <a:hlinkClick r:id="rId3"/>
              </a:rPr>
              <a:t>https://micropython.org</a:t>
            </a:r>
            <a:endParaRPr b="1"/>
          </a:p>
        </p:txBody>
      </p:sp>
      <p:grpSp>
        <p:nvGrpSpPr>
          <p:cNvPr id="975" name="Google Shape;975;p95"/>
          <p:cNvGrpSpPr/>
          <p:nvPr/>
        </p:nvGrpSpPr>
        <p:grpSpPr>
          <a:xfrm>
            <a:off x="311700" y="2946317"/>
            <a:ext cx="6481809" cy="1359749"/>
            <a:chOff x="311700" y="2492667"/>
            <a:chExt cx="6481809" cy="1359749"/>
          </a:xfrm>
        </p:grpSpPr>
        <p:pic>
          <p:nvPicPr>
            <p:cNvPr id="976" name="Google Shape;976;p95"/>
            <p:cNvPicPr preferRelativeResize="0"/>
            <p:nvPr/>
          </p:nvPicPr>
          <p:blipFill rotWithShape="1">
            <a:blip r:embed="rId4">
              <a:alphaModFix/>
            </a:blip>
            <a:srcRect b="8651" l="1954" r="60186" t="6696"/>
            <a:stretch/>
          </p:blipFill>
          <p:spPr>
            <a:xfrm>
              <a:off x="311700" y="2492667"/>
              <a:ext cx="1010320" cy="1359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7" name="Google Shape;977;p9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954210" y="2525384"/>
              <a:ext cx="1294265" cy="1294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8" name="Google Shape;978;p9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509374" y="2525404"/>
              <a:ext cx="1294265" cy="1294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9" name="Google Shape;979;p95" title="Zephyr_color-13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313175" y="2525375"/>
              <a:ext cx="2480334" cy="129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80" name="Google Shape;980;p9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20249" y="4420525"/>
            <a:ext cx="1154225" cy="6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5" name="Google Shape;985;p96"/>
          <p:cNvPicPr preferRelativeResize="0"/>
          <p:nvPr/>
        </p:nvPicPr>
        <p:blipFill rotWithShape="1">
          <a:blip r:embed="rId3">
            <a:alphaModFix/>
          </a:blip>
          <a:srcRect b="16389" l="11556" r="16667" t="15407"/>
          <a:stretch/>
        </p:blipFill>
        <p:spPr>
          <a:xfrm rot="2099982">
            <a:off x="6041457" y="1743762"/>
            <a:ext cx="2464460" cy="1561375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MicroPython - Installing</a:t>
            </a:r>
            <a:endParaRPr/>
          </a:p>
        </p:txBody>
      </p:sp>
      <p:sp>
        <p:nvSpPr>
          <p:cNvPr id="987" name="Google Shape;987;p96"/>
          <p:cNvSpPr txBox="1"/>
          <p:nvPr/>
        </p:nvSpPr>
        <p:spPr>
          <a:xfrm>
            <a:off x="311700" y="1134350"/>
            <a:ext cx="6478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Download prebuilt firmware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https://micropython.org/download/?port=esp32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Flash firmware to device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 install esptool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esptool.py --chip esp32 --port … erase_flash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esptool.py --chip esp32 --port … write_flash -z 0 micropython-v1.17.bin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Connect to device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	</a:t>
            </a:r>
            <a:r>
              <a:rPr lang="en"/>
              <a:t>pip install mpremote</a:t>
            </a:r>
            <a:br>
              <a:rPr lang="en" sz="1800"/>
            </a:br>
            <a:r>
              <a:rPr lang="en" sz="1800"/>
              <a:t>	</a:t>
            </a:r>
            <a:r>
              <a:rPr lang="en"/>
              <a:t>mpremote repl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/>
            </a:br>
            <a:r>
              <a:rPr lang="en" sz="1800"/>
              <a:t>IDE (optional): Thonny, VS Code, et.c.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8" name="Google Shape;988;p96"/>
          <p:cNvPicPr preferRelativeResize="0"/>
          <p:nvPr/>
        </p:nvPicPr>
        <p:blipFill rotWithShape="1">
          <a:blip r:embed="rId5">
            <a:alphaModFix/>
          </a:blip>
          <a:srcRect b="36020" l="1728" r="31283" t="30539"/>
          <a:stretch/>
        </p:blipFill>
        <p:spPr>
          <a:xfrm>
            <a:off x="3755575" y="3382450"/>
            <a:ext cx="4762375" cy="9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84350" y="531725"/>
            <a:ext cx="743850" cy="74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97"/>
          <p:cNvSpPr txBox="1"/>
          <p:nvPr/>
        </p:nvSpPr>
        <p:spPr>
          <a:xfrm>
            <a:off x="311700" y="1154525"/>
            <a:ext cx="499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97"/>
          <p:cNvSpPr txBox="1"/>
          <p:nvPr>
            <p:ph idx="1" type="body"/>
          </p:nvPr>
        </p:nvSpPr>
        <p:spPr>
          <a:xfrm>
            <a:off x="311700" y="1152475"/>
            <a:ext cx="5082000" cy="3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High degree of compatibility - but never 100%</a:t>
            </a:r>
            <a:br>
              <a:rPr b="1" lang="en"/>
            </a:br>
            <a:r>
              <a:rPr lang="en"/>
              <a:t>Continuous job to keep up with CPython</a:t>
            </a:r>
            <a:br>
              <a:rPr lang="en"/>
            </a:br>
            <a:r>
              <a:rPr lang="en"/>
              <a:t>Some differences inherent  - from &lt; 1 MB RAM and FLASH</a:t>
            </a:r>
            <a:br>
              <a:rPr lang="en"/>
            </a:br>
            <a:br>
              <a:rPr lang="en"/>
            </a:br>
            <a:r>
              <a:rPr b="1" lang="en" sz="1800"/>
              <a:t>Included libraries are minimal</a:t>
            </a:r>
            <a:br>
              <a:rPr lang="en"/>
            </a:br>
            <a:r>
              <a:rPr lang="en"/>
              <a:t>micropython-lib has more </a:t>
            </a:r>
            <a:r>
              <a:rPr lang="en"/>
              <a:t>extensive</a:t>
            </a:r>
            <a:r>
              <a:rPr lang="en"/>
              <a:t>/featured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hlinkClick r:id="rId3"/>
              </a:rPr>
              <a:t>https://github.com/micropython/micropython-lib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/>
              <a:t>Known incompatibilities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hlinkClick r:id="rId4"/>
              </a:rPr>
              <a:t>https://docs.micropython.org/en/latest/genrst/index.html</a:t>
            </a:r>
            <a:br>
              <a:rPr lang="en" u="sng">
                <a:solidFill>
                  <a:schemeClr val="hlink"/>
                </a:solidFill>
                <a:hlinkClick r:id="rId5"/>
              </a:rPr>
            </a:br>
            <a:r>
              <a:rPr lang="en" u="sng">
                <a:solidFill>
                  <a:schemeClr val="hlink"/>
                </a:solidFill>
                <a:hlinkClick r:id="rId6"/>
              </a:rPr>
              <a:t>#micropython-differences-from-cpython</a:t>
            </a:r>
            <a:r>
              <a:rPr lang="en"/>
              <a:t> </a:t>
            </a:r>
            <a:br>
              <a:rPr lang="en"/>
            </a:br>
            <a:br>
              <a:rPr lang="en"/>
            </a:br>
            <a:r>
              <a:rPr b="1" lang="en" sz="1900"/>
              <a:t>Not implemented </a:t>
            </a:r>
            <a:r>
              <a:rPr lang="en" sz="1900"/>
              <a:t>(by CPython major release)</a:t>
            </a:r>
            <a:br>
              <a:rPr b="1" lang="en"/>
            </a:br>
            <a:r>
              <a:rPr lang="en" u="sng">
                <a:solidFill>
                  <a:schemeClr val="hlink"/>
                </a:solidFill>
                <a:hlinkClick r:id="rId7"/>
              </a:rPr>
              <a:t>https://github.com/micropython/micropython/issues/</a:t>
            </a:r>
            <a:br>
              <a:rPr lang="en" u="sng">
                <a:solidFill>
                  <a:schemeClr val="hlink"/>
                </a:solidFill>
                <a:hlinkClick r:id="rId8"/>
              </a:rPr>
            </a:br>
            <a:r>
              <a:rPr lang="en" u="sng">
                <a:solidFill>
                  <a:schemeClr val="hlink"/>
                </a:solidFill>
                <a:hlinkClick r:id="rId9"/>
              </a:rPr>
              <a:t>7919#issuecomment-1025221807</a:t>
            </a:r>
            <a:r>
              <a:rPr lang="en"/>
              <a:t> </a:t>
            </a:r>
            <a:br>
              <a:rPr b="1" lang="en"/>
            </a:br>
            <a:br>
              <a:rPr b="1" lang="en"/>
            </a:br>
            <a:endParaRPr b="1"/>
          </a:p>
        </p:txBody>
      </p:sp>
      <p:sp>
        <p:nvSpPr>
          <p:cNvPr id="996" name="Google Shape;996;p97"/>
          <p:cNvSpPr txBox="1"/>
          <p:nvPr>
            <p:ph idx="2" type="body"/>
          </p:nvPr>
        </p:nvSpPr>
        <p:spPr>
          <a:xfrm>
            <a:off x="5393700" y="1932975"/>
            <a:ext cx="3580800" cy="1456800"/>
          </a:xfrm>
          <a:prstGeom prst="rect">
            <a:avLst/>
          </a:prstGeom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No CFFI or C module compatibility!</a:t>
            </a:r>
            <a:br>
              <a:rPr lang="en"/>
            </a:br>
            <a:r>
              <a:rPr lang="en"/>
              <a:t>But there is another C API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=&gt; No standard PyData stack</a:t>
            </a:r>
            <a:endParaRPr b="1"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there are alternatives</a:t>
            </a:r>
            <a:endParaRPr/>
          </a:p>
        </p:txBody>
      </p:sp>
      <p:sp>
        <p:nvSpPr>
          <p:cNvPr id="997" name="Google Shape;997;p97"/>
          <p:cNvSpPr txBox="1"/>
          <p:nvPr/>
        </p:nvSpPr>
        <p:spPr>
          <a:xfrm>
            <a:off x="228775" y="4507800"/>
            <a:ext cx="424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998" name="Google Shape;998;p97"/>
          <p:cNvSpPr txBox="1"/>
          <p:nvPr>
            <p:ph type="title"/>
          </p:nvPr>
        </p:nvSpPr>
        <p:spPr>
          <a:xfrm>
            <a:off x="311700" y="445025"/>
            <a:ext cx="852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MicroPython </a:t>
            </a:r>
            <a:r>
              <a:rPr i="1" lang="en"/>
              <a:t>is</a:t>
            </a:r>
            <a:r>
              <a:rPr lang="en"/>
              <a:t> Python - but not CPython</a:t>
            </a:r>
            <a:endParaRPr/>
          </a:p>
        </p:txBody>
      </p:sp>
      <p:pic>
        <p:nvPicPr>
          <p:cNvPr id="999" name="Google Shape;999;p9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20249" y="4420525"/>
            <a:ext cx="1154225" cy="6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98"/>
          <p:cNvSpPr txBox="1"/>
          <p:nvPr/>
        </p:nvSpPr>
        <p:spPr>
          <a:xfrm>
            <a:off x="311700" y="1154525"/>
            <a:ext cx="499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98"/>
          <p:cNvSpPr txBox="1"/>
          <p:nvPr>
            <p:ph idx="1" type="body"/>
          </p:nvPr>
        </p:nvSpPr>
        <p:spPr>
          <a:xfrm>
            <a:off x="311700" y="923875"/>
            <a:ext cx="56442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https://docs.micropython.org/en/latest/library/machine.html</a:t>
            </a:r>
            <a:r>
              <a:rPr lang="en"/>
              <a:t> </a:t>
            </a:r>
            <a:endParaRPr/>
          </a:p>
        </p:txBody>
      </p:sp>
      <p:sp>
        <p:nvSpPr>
          <p:cNvPr id="1006" name="Google Shape;1006;p98"/>
          <p:cNvSpPr txBox="1"/>
          <p:nvPr>
            <p:ph idx="2" type="body"/>
          </p:nvPr>
        </p:nvSpPr>
        <p:spPr>
          <a:xfrm>
            <a:off x="5399025" y="1152475"/>
            <a:ext cx="343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Hardware Abstraction Layer</a:t>
            </a:r>
            <a:br>
              <a:rPr b="1" lang="en"/>
            </a:br>
            <a:r>
              <a:rPr lang="en"/>
              <a:t>for microcontroller peripherals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Same on all hardware/ports</a:t>
            </a:r>
            <a:br>
              <a:rPr lang="en"/>
            </a:br>
            <a:r>
              <a:rPr lang="en"/>
              <a:t>* with exceptions</a:t>
            </a:r>
            <a:endParaRPr/>
          </a:p>
        </p:txBody>
      </p:sp>
      <p:sp>
        <p:nvSpPr>
          <p:cNvPr id="1007" name="Google Shape;1007;p98"/>
          <p:cNvSpPr txBox="1"/>
          <p:nvPr/>
        </p:nvSpPr>
        <p:spPr>
          <a:xfrm>
            <a:off x="228775" y="4507800"/>
            <a:ext cx="424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008" name="Google Shape;1008;p98"/>
          <p:cNvSpPr txBox="1"/>
          <p:nvPr>
            <p:ph type="title"/>
          </p:nvPr>
        </p:nvSpPr>
        <p:spPr>
          <a:xfrm>
            <a:off x="311700" y="445025"/>
            <a:ext cx="852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Hardware access - the </a:t>
            </a:r>
            <a:r>
              <a:rPr b="1" lang="en"/>
              <a:t>machine</a:t>
            </a:r>
            <a:r>
              <a:rPr lang="en"/>
              <a:t> module</a:t>
            </a:r>
            <a:endParaRPr/>
          </a:p>
        </p:txBody>
      </p:sp>
      <p:pic>
        <p:nvPicPr>
          <p:cNvPr id="1009" name="Google Shape;1009;p98"/>
          <p:cNvPicPr preferRelativeResize="0"/>
          <p:nvPr/>
        </p:nvPicPr>
        <p:blipFill rotWithShape="1">
          <a:blip r:embed="rId4">
            <a:alphaModFix/>
          </a:blip>
          <a:srcRect b="0" l="0" r="12157" t="0"/>
          <a:stretch/>
        </p:blipFill>
        <p:spPr>
          <a:xfrm>
            <a:off x="311699" y="1402325"/>
            <a:ext cx="4759726" cy="354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20249" y="4420525"/>
            <a:ext cx="1154225" cy="6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" name="Google Shape;1011;p98" title="mcu-069c20c92e0ec6b6e163f3030c69d2a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66050" y="2486825"/>
            <a:ext cx="2415050" cy="241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99"/>
          <p:cNvSpPr txBox="1"/>
          <p:nvPr/>
        </p:nvSpPr>
        <p:spPr>
          <a:xfrm>
            <a:off x="311700" y="1154525"/>
            <a:ext cx="499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99"/>
          <p:cNvSpPr txBox="1"/>
          <p:nvPr>
            <p:ph idx="1" type="body"/>
          </p:nvPr>
        </p:nvSpPr>
        <p:spPr>
          <a:xfrm>
            <a:off x="311700" y="185525"/>
            <a:ext cx="4991100" cy="47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WiFi </a:t>
            </a:r>
            <a:br>
              <a:rPr b="1" lang="en" sz="1800"/>
            </a:br>
            <a:r>
              <a:rPr b="1" lang="en" u="sng">
                <a:solidFill>
                  <a:schemeClr val="hlink"/>
                </a:solidFill>
                <a:hlinkClick r:id="rId3"/>
              </a:rPr>
              <a:t>network.WLAN</a:t>
            </a:r>
            <a:r>
              <a:rPr b="1" lang="en"/>
              <a:t> </a:t>
            </a:r>
            <a:br>
              <a:rPr b="1" lang="en"/>
            </a:br>
            <a:br>
              <a:rPr b="1" lang="en" sz="1800"/>
            </a:br>
            <a:r>
              <a:rPr b="1" lang="en" sz="1800"/>
              <a:t>Ethernet </a:t>
            </a:r>
            <a:br>
              <a:rPr b="1" lang="en" sz="1800"/>
            </a:br>
            <a:r>
              <a:rPr b="1" lang="en" u="sng">
                <a:solidFill>
                  <a:schemeClr val="hlink"/>
                </a:solidFill>
                <a:hlinkClick r:id="rId4"/>
              </a:rPr>
              <a:t>network.LAN</a:t>
            </a:r>
            <a:br>
              <a:rPr b="1" lang="en" sz="1800"/>
            </a:b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BLE - Bluetooth Low Energy</a:t>
            </a:r>
            <a:br>
              <a:rPr lang="en"/>
            </a:br>
            <a:r>
              <a:rPr b="1"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aioble</a:t>
            </a:r>
            <a:r>
              <a:rPr b="1" lang="en"/>
              <a:t> - </a:t>
            </a:r>
            <a:r>
              <a:rPr lang="en"/>
              <a:t>high-level application API, asyncio</a:t>
            </a:r>
            <a:br>
              <a:rPr b="1" lang="en"/>
            </a:br>
            <a:r>
              <a:rPr b="1" lang="en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bluetooth</a:t>
            </a:r>
            <a:r>
              <a:rPr b="1" lang="en"/>
              <a:t> </a:t>
            </a:r>
            <a:r>
              <a:rPr lang="en"/>
              <a:t>- low-level hardware-layer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b="1" lang="en" sz="1800"/>
            </a:br>
            <a:r>
              <a:rPr b="1" lang="en" sz="1800"/>
              <a:t>Cellular (4G / LTE) </a:t>
            </a:r>
            <a:br>
              <a:rPr b="1" lang="en" sz="1800"/>
            </a:br>
            <a:r>
              <a:rPr b="1"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network.PPP</a:t>
            </a:r>
            <a:br>
              <a:rPr b="1" lang="en" sz="1800"/>
            </a:br>
            <a:br>
              <a:rPr b="1" lang="en" sz="1800"/>
            </a:br>
            <a:r>
              <a:rPr b="1" lang="en" sz="1800"/>
              <a:t>LoRa / LoRaWAN </a:t>
            </a:r>
            <a:br>
              <a:rPr b="1" lang="en" sz="1800"/>
            </a:br>
            <a:r>
              <a:rPr b="1" lang="en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micropython-lib: lora</a:t>
            </a:r>
            <a:r>
              <a:rPr lang="en"/>
              <a:t> </a:t>
            </a:r>
            <a:endParaRPr/>
          </a:p>
        </p:txBody>
      </p:sp>
      <p:sp>
        <p:nvSpPr>
          <p:cNvPr id="1018" name="Google Shape;1018;p99"/>
          <p:cNvSpPr txBox="1"/>
          <p:nvPr>
            <p:ph type="title"/>
          </p:nvPr>
        </p:nvSpPr>
        <p:spPr>
          <a:xfrm>
            <a:off x="6317925" y="445025"/>
            <a:ext cx="25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Connectivity</a:t>
            </a:r>
            <a:endParaRPr/>
          </a:p>
        </p:txBody>
      </p:sp>
      <p:pic>
        <p:nvPicPr>
          <p:cNvPr id="1019" name="Google Shape;1019;p99" title="LoRaWAN_Logo.svg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70025" y="4180907"/>
            <a:ext cx="1947899" cy="628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99" title="WiFi_Logo.svg.png"/>
          <p:cNvPicPr preferRelativeResize="0"/>
          <p:nvPr/>
        </p:nvPicPr>
        <p:blipFill rotWithShape="1">
          <a:blip r:embed="rId10">
            <a:alphaModFix/>
          </a:blip>
          <a:srcRect b="0" l="3440" r="-3440" t="0"/>
          <a:stretch/>
        </p:blipFill>
        <p:spPr>
          <a:xfrm>
            <a:off x="4186475" y="220808"/>
            <a:ext cx="1227750" cy="72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p99" title="Bluetooth.png"/>
          <p:cNvPicPr preferRelativeResize="0"/>
          <p:nvPr/>
        </p:nvPicPr>
        <p:blipFill rotWithShape="1">
          <a:blip r:embed="rId11">
            <a:alphaModFix/>
          </a:blip>
          <a:srcRect b="15441" l="11700" r="0" t="19267"/>
          <a:stretch/>
        </p:blipFill>
        <p:spPr>
          <a:xfrm>
            <a:off x="4152950" y="2157478"/>
            <a:ext cx="2090376" cy="73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99" title="4g-lte.jpg"/>
          <p:cNvPicPr preferRelativeResize="0"/>
          <p:nvPr/>
        </p:nvPicPr>
        <p:blipFill rotWithShape="1">
          <a:blip r:embed="rId12">
            <a:alphaModFix/>
          </a:blip>
          <a:srcRect b="23900" l="13039" r="15518" t="26371"/>
          <a:stretch/>
        </p:blipFill>
        <p:spPr>
          <a:xfrm>
            <a:off x="4256225" y="3123779"/>
            <a:ext cx="1227750" cy="854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99" title="ethernet-.jpg"/>
          <p:cNvPicPr preferRelativeResize="0"/>
          <p:nvPr/>
        </p:nvPicPr>
        <p:blipFill rotWithShape="1">
          <a:blip r:embed="rId13">
            <a:alphaModFix/>
          </a:blip>
          <a:srcRect b="10755" l="0" r="0" t="13453"/>
          <a:stretch/>
        </p:blipFill>
        <p:spPr>
          <a:xfrm>
            <a:off x="4118550" y="1109025"/>
            <a:ext cx="1068075" cy="8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9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820249" y="4420525"/>
            <a:ext cx="1154225" cy="6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00"/>
          <p:cNvSpPr txBox="1"/>
          <p:nvPr/>
        </p:nvSpPr>
        <p:spPr>
          <a:xfrm>
            <a:off x="311700" y="1154525"/>
            <a:ext cx="499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100"/>
          <p:cNvSpPr txBox="1"/>
          <p:nvPr>
            <p:ph idx="1" type="body"/>
          </p:nvPr>
        </p:nvSpPr>
        <p:spPr>
          <a:xfrm>
            <a:off x="311700" y="1000075"/>
            <a:ext cx="5447700" cy="35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Enabled on most ports/hardware</a:t>
            </a:r>
            <a:br>
              <a:rPr lang="en" sz="1600"/>
            </a:br>
            <a:r>
              <a:rPr lang="en" sz="1600"/>
              <a:t>(with sufficient resources)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Internal FLASH</a:t>
            </a:r>
            <a:r>
              <a:rPr lang="en" sz="1600"/>
              <a:t> and/or </a:t>
            </a:r>
            <a:r>
              <a:rPr b="1" lang="en" sz="1600"/>
              <a:t>SDCard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LittleFS</a:t>
            </a:r>
            <a:r>
              <a:rPr lang="en" sz="1600"/>
              <a:t> or </a:t>
            </a:r>
            <a:r>
              <a:rPr b="1" lang="en" sz="1600"/>
              <a:t>FAT32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Save/load from standard files</a:t>
            </a:r>
            <a:r>
              <a:rPr lang="en" sz="1600"/>
              <a:t> [1]</a:t>
            </a:r>
            <a:br>
              <a:rPr lang="en" sz="1600"/>
            </a:br>
            <a:br>
              <a:rPr lang="en" sz="1600"/>
            </a:br>
            <a:r>
              <a:rPr lang="en" sz="16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https://docs.micropython.org</a:t>
            </a:r>
            <a:br>
              <a:rPr lang="en" sz="16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lang="en" sz="16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/en/latest/reference/filesystem.html</a:t>
            </a:r>
            <a:r>
              <a:rPr lang="en" sz="1600"/>
              <a:t> </a:t>
            </a:r>
            <a:endParaRPr sz="1600"/>
          </a:p>
        </p:txBody>
      </p:sp>
      <p:sp>
        <p:nvSpPr>
          <p:cNvPr id="1031" name="Google Shape;1031;p100"/>
          <p:cNvSpPr txBox="1"/>
          <p:nvPr>
            <p:ph idx="2" type="body"/>
          </p:nvPr>
        </p:nvSpPr>
        <p:spPr>
          <a:xfrm>
            <a:off x="4166950" y="951175"/>
            <a:ext cx="469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Tool for </a:t>
            </a:r>
            <a:r>
              <a:rPr b="1" lang="en" sz="1600"/>
              <a:t>PC &lt;-&gt; microcontroller communication</a:t>
            </a:r>
            <a:br>
              <a:rPr lang="en" sz="1600"/>
            </a:br>
            <a:br>
              <a:rPr lang="en" sz="1600"/>
            </a:br>
            <a:r>
              <a:rPr lang="en" sz="1600" u="sng">
                <a:solidFill>
                  <a:schemeClr val="hlink"/>
                </a:solidFill>
                <a:hlinkClick r:id="rId6"/>
              </a:rPr>
              <a:t>https://docs.micropython.org</a:t>
            </a:r>
            <a:br>
              <a:rPr lang="en" sz="1600" u="sng">
                <a:solidFill>
                  <a:schemeClr val="hlink"/>
                </a:solidFill>
                <a:hlinkClick r:id="rId7"/>
              </a:rPr>
            </a:br>
            <a:r>
              <a:rPr lang="en" sz="1600" u="sng">
                <a:solidFill>
                  <a:schemeClr val="hlink"/>
                </a:solidFill>
                <a:hlinkClick r:id="rId8"/>
              </a:rPr>
              <a:t>/en/latest/reference/mpremote.html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Copy from device</a:t>
            </a:r>
            <a:br>
              <a:rPr lang="en" sz="1600"/>
            </a:br>
            <a:br>
              <a:rPr lang="en" sz="1600"/>
            </a:br>
            <a:r>
              <a:rPr lang="en" sz="1600"/>
              <a:t>	mpremote cp -r :images/ ./data/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Copy to device</a:t>
            </a:r>
            <a:br>
              <a:rPr lang="en" sz="1600"/>
            </a:br>
            <a:br>
              <a:rPr lang="en" sz="1600"/>
            </a:br>
            <a:r>
              <a:rPr lang="en" sz="1600"/>
              <a:t>	mpremote cp ./model.trees.csv ./models/</a:t>
            </a:r>
            <a:endParaRPr sz="1600"/>
          </a:p>
        </p:txBody>
      </p:sp>
      <p:sp>
        <p:nvSpPr>
          <p:cNvPr id="1032" name="Google Shape;1032;p100"/>
          <p:cNvSpPr txBox="1"/>
          <p:nvPr/>
        </p:nvSpPr>
        <p:spPr>
          <a:xfrm>
            <a:off x="228775" y="4507800"/>
            <a:ext cx="424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033" name="Google Shape;1033;p100"/>
          <p:cNvSpPr txBox="1"/>
          <p:nvPr>
            <p:ph type="title"/>
          </p:nvPr>
        </p:nvSpPr>
        <p:spPr>
          <a:xfrm>
            <a:off x="311700" y="445025"/>
            <a:ext cx="852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File system</a:t>
            </a:r>
            <a:endParaRPr/>
          </a:p>
        </p:txBody>
      </p:sp>
      <p:sp>
        <p:nvSpPr>
          <p:cNvPr id="1034" name="Google Shape;1034;p100"/>
          <p:cNvSpPr txBox="1"/>
          <p:nvPr/>
        </p:nvSpPr>
        <p:spPr>
          <a:xfrm>
            <a:off x="311700" y="4504800"/>
            <a:ext cx="416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1. </a:t>
            </a:r>
            <a:r>
              <a:rPr lang="en" sz="1000">
                <a:solidFill>
                  <a:schemeClr val="dk2"/>
                </a:solidFill>
              </a:rPr>
              <a:t>Using micropython-npyfile to read/write Numpy .npy files</a:t>
            </a:r>
            <a:br>
              <a:rPr b="1" lang="en">
                <a:solidFill>
                  <a:schemeClr val="dk2"/>
                </a:solidFill>
              </a:rPr>
            </a:br>
            <a:r>
              <a:rPr lang="en" sz="1000" u="sng">
                <a:solidFill>
                  <a:schemeClr val="accent5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https://github.com/jonnor/micropython-npyfile/</a:t>
            </a:r>
            <a:endParaRPr/>
          </a:p>
        </p:txBody>
      </p:sp>
      <p:sp>
        <p:nvSpPr>
          <p:cNvPr id="1035" name="Google Shape;1035;p100"/>
          <p:cNvSpPr txBox="1"/>
          <p:nvPr>
            <p:ph type="title"/>
          </p:nvPr>
        </p:nvSpPr>
        <p:spPr>
          <a:xfrm>
            <a:off x="4215700" y="441025"/>
            <a:ext cx="397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mpremote</a:t>
            </a:r>
            <a:endParaRPr/>
          </a:p>
        </p:txBody>
      </p:sp>
      <p:pic>
        <p:nvPicPr>
          <p:cNvPr id="1036" name="Google Shape;1036;p1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20249" y="4420525"/>
            <a:ext cx="1154225" cy="6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01"/>
          <p:cNvSpPr txBox="1"/>
          <p:nvPr>
            <p:ph type="title"/>
          </p:nvPr>
        </p:nvSpPr>
        <p:spPr>
          <a:xfrm>
            <a:off x="4937350" y="445025"/>
            <a:ext cx="389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mip</a:t>
            </a:r>
            <a:r>
              <a:rPr lang="en"/>
              <a:t> - package manager</a:t>
            </a:r>
            <a:endParaRPr/>
          </a:p>
        </p:txBody>
      </p:sp>
      <p:sp>
        <p:nvSpPr>
          <p:cNvPr id="1042" name="Google Shape;1042;p101"/>
          <p:cNvSpPr txBox="1"/>
          <p:nvPr>
            <p:ph idx="1" type="body"/>
          </p:nvPr>
        </p:nvSpPr>
        <p:spPr>
          <a:xfrm>
            <a:off x="382500" y="445025"/>
            <a:ext cx="5542800" cy="44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Install from micropython-lib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mpremote install requests</a:t>
            </a:r>
            <a:br>
              <a:rPr lang="en" sz="1600"/>
            </a:br>
            <a:br>
              <a:rPr lang="en" sz="1600"/>
            </a:br>
            <a:r>
              <a:rPr b="1" lang="en" sz="1600"/>
              <a:t>Third party packages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i="1" lang="en" sz="1600">
                <a:solidFill>
                  <a:schemeClr val="dk1"/>
                </a:solidFill>
              </a:rPr>
            </a:br>
            <a:r>
              <a:rPr i="1" lang="en" sz="1600">
                <a:solidFill>
                  <a:schemeClr val="dk1"/>
                </a:solidFill>
              </a:rPr>
              <a:t>	</a:t>
            </a:r>
            <a:r>
              <a:rPr lang="en" sz="1600">
                <a:solidFill>
                  <a:schemeClr val="dk1"/>
                </a:solidFill>
              </a:rPr>
              <a:t>mpremote install github:jonnor/micropython-zipfile</a:t>
            </a:r>
            <a:br>
              <a:rPr lang="en" sz="1600">
                <a:solidFill>
                  <a:schemeClr val="dk1"/>
                </a:solidFill>
              </a:rPr>
            </a:br>
            <a:br>
              <a:rPr i="1" lang="en" sz="1600">
                <a:solidFill>
                  <a:schemeClr val="dk1"/>
                </a:solidFill>
              </a:rPr>
            </a:br>
            <a:r>
              <a:rPr b="1" lang="en" sz="1600"/>
              <a:t>Can run directly on device [1]</a:t>
            </a:r>
            <a:endParaRPr b="1" sz="1600"/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import mip</a:t>
            </a:r>
            <a:br>
              <a:rPr lang="en" sz="1600"/>
            </a:br>
            <a:r>
              <a:rPr lang="en" sz="1600"/>
              <a:t>	mip.install(‘requests’)</a:t>
            </a:r>
            <a:br>
              <a:rPr lang="en" sz="1600"/>
            </a:b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Install native C modules at runtime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i="1" lang="en" sz="1600">
                <a:solidFill>
                  <a:schemeClr val="dk1"/>
                </a:solidFill>
              </a:rPr>
            </a:br>
            <a:r>
              <a:rPr i="1" lang="en" sz="1600">
                <a:solidFill>
                  <a:schemeClr val="dk1"/>
                </a:solidFill>
              </a:rPr>
              <a:t>	mpremote mip install </a:t>
            </a:r>
            <a:r>
              <a:rPr i="1" lang="en" sz="16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https://example.net/</a:t>
            </a:r>
            <a:br>
              <a:rPr i="1" lang="en" sz="1600">
                <a:solidFill>
                  <a:schemeClr val="dk1"/>
                </a:solidFill>
              </a:rPr>
            </a:br>
            <a:r>
              <a:rPr i="1" lang="en" sz="1600">
                <a:solidFill>
                  <a:schemeClr val="dk1"/>
                </a:solidFill>
              </a:rPr>
              <a:t>	</a:t>
            </a:r>
            <a:r>
              <a:rPr b="1" i="1" lang="en" sz="1600">
                <a:solidFill>
                  <a:schemeClr val="dk1"/>
                </a:solidFill>
              </a:rPr>
              <a:t>xtensawin</a:t>
            </a:r>
            <a:r>
              <a:rPr i="1" lang="en" sz="1600">
                <a:solidFill>
                  <a:schemeClr val="dk1"/>
                </a:solidFill>
              </a:rPr>
              <a:t>_</a:t>
            </a:r>
            <a:r>
              <a:rPr b="1" i="1" lang="en" sz="1600">
                <a:solidFill>
                  <a:schemeClr val="dk1"/>
                </a:solidFill>
              </a:rPr>
              <a:t>6.2*</a:t>
            </a:r>
            <a:r>
              <a:rPr i="1" lang="en" sz="1600">
                <a:solidFill>
                  <a:schemeClr val="dk1"/>
                </a:solidFill>
              </a:rPr>
              <a:t>/emlearn_trees.mpy</a:t>
            </a:r>
            <a:endParaRPr sz="1600"/>
          </a:p>
        </p:txBody>
      </p:sp>
      <p:pic>
        <p:nvPicPr>
          <p:cNvPr id="1043" name="Google Shape;1043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0249" y="4420525"/>
            <a:ext cx="1154225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101"/>
          <p:cNvSpPr txBox="1"/>
          <p:nvPr/>
        </p:nvSpPr>
        <p:spPr>
          <a:xfrm>
            <a:off x="5218150" y="3295650"/>
            <a:ext cx="3828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1. Assuming device has Internet over WiFi/Ethernet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* </a:t>
            </a:r>
            <a:r>
              <a:rPr lang="en" sz="1200">
                <a:solidFill>
                  <a:schemeClr val="dk1"/>
                </a:solidFill>
              </a:rPr>
              <a:t>Specify architecture + MicroPython ABI version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1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Efficient data processing in MicroPython</a:t>
            </a:r>
            <a:endParaRPr/>
          </a:p>
        </p:txBody>
      </p:sp>
      <p:sp>
        <p:nvSpPr>
          <p:cNvPr id="1050" name="Google Shape;1050;p102"/>
          <p:cNvSpPr txBox="1"/>
          <p:nvPr>
            <p:ph idx="1" type="body"/>
          </p:nvPr>
        </p:nvSpPr>
        <p:spPr>
          <a:xfrm>
            <a:off x="311700" y="1152475"/>
            <a:ext cx="4941900" cy="38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Specialized code emitters  - numba.jit style</a:t>
            </a:r>
            <a:endParaRPr b="1" sz="1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@micropython.native / @viper</a:t>
            </a:r>
            <a:br>
              <a:rPr lang="en" sz="1800"/>
            </a:br>
            <a:r>
              <a:rPr lang="en" sz="1200" u="sng">
                <a:solidFill>
                  <a:schemeClr val="hlink"/>
                </a:solidFill>
                <a:hlinkClick r:id="rId3"/>
              </a:rPr>
              <a:t>https://docs.micropython.org/en/latest/reference/speed_python.html</a:t>
            </a:r>
            <a:br>
              <a:rPr lang="en" sz="1200" u="sng">
                <a:solidFill>
                  <a:schemeClr val="hlink"/>
                </a:solidFill>
                <a:hlinkClick r:id="rId4"/>
              </a:rPr>
            </a:br>
            <a:r>
              <a:rPr lang="en" sz="1200" u="sng">
                <a:solidFill>
                  <a:schemeClr val="hlink"/>
                </a:solidFill>
                <a:hlinkClick r:id="rId5"/>
              </a:rPr>
              <a:t>#the-native-code-emitter</a:t>
            </a:r>
            <a:r>
              <a:rPr lang="en" sz="1800"/>
              <a:t>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Inline assembler</a:t>
            </a:r>
            <a:br>
              <a:rPr lang="en" sz="1800"/>
            </a:br>
            <a:r>
              <a:rPr lang="en" sz="1200" u="sng">
                <a:solidFill>
                  <a:schemeClr val="hlink"/>
                </a:solidFill>
                <a:hlinkClick r:id="rId6"/>
              </a:rPr>
              <a:t>https://docs.micropython.org/en/latest/pyboard/tutorial/assembler.html</a:t>
            </a:r>
            <a:r>
              <a:rPr lang="en" sz="1200"/>
              <a:t>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/>
              <a:t>C modules</a:t>
            </a:r>
            <a:br>
              <a:rPr lang="en" sz="1800"/>
            </a:br>
            <a:r>
              <a:rPr lang="en" sz="1200" u="sng">
                <a:solidFill>
                  <a:schemeClr val="hlink"/>
                </a:solidFill>
                <a:hlinkClick r:id="rId7"/>
              </a:rPr>
              <a:t>https://docs.micropython.org/en/latest/develop/cmodules.html</a:t>
            </a:r>
            <a:r>
              <a:rPr lang="en" sz="1200"/>
              <a:t> 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8"/>
              </a:rPr>
              <a:t>https://docs.micropython.org/en/latest/develop/natmod.html</a:t>
            </a:r>
            <a:r>
              <a:rPr lang="en" sz="1200"/>
              <a:t> </a:t>
            </a:r>
            <a:endParaRPr sz="1200"/>
          </a:p>
        </p:txBody>
      </p:sp>
      <p:pic>
        <p:nvPicPr>
          <p:cNvPr id="1051" name="Google Shape;1051;p10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20249" y="4420525"/>
            <a:ext cx="1154225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102"/>
          <p:cNvSpPr txBox="1"/>
          <p:nvPr/>
        </p:nvSpPr>
        <p:spPr>
          <a:xfrm>
            <a:off x="5427425" y="1888175"/>
            <a:ext cx="3495900" cy="21051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30">
                <a:solidFill>
                  <a:schemeClr val="dk2"/>
                </a:solidFill>
              </a:rPr>
              <a:t>PyData ZA 2024</a:t>
            </a:r>
            <a:br>
              <a:rPr lang="en" sz="1830">
                <a:solidFill>
                  <a:schemeClr val="dk2"/>
                </a:solidFill>
              </a:rPr>
            </a:br>
            <a:r>
              <a:rPr i="1" lang="en" sz="1830">
                <a:solidFill>
                  <a:schemeClr val="dk2"/>
                </a:solidFill>
              </a:rPr>
              <a:t>Sensor data processing</a:t>
            </a:r>
            <a:br>
              <a:rPr i="1" lang="en" sz="1830">
                <a:solidFill>
                  <a:schemeClr val="dk2"/>
                </a:solidFill>
              </a:rPr>
            </a:br>
            <a:r>
              <a:rPr i="1" lang="en" sz="1830">
                <a:solidFill>
                  <a:schemeClr val="dk2"/>
                </a:solidFill>
              </a:rPr>
              <a:t>on microcontrollers with MicroPython</a:t>
            </a:r>
            <a:br>
              <a:rPr lang="en" sz="1430">
                <a:solidFill>
                  <a:schemeClr val="dk2"/>
                </a:solidFill>
              </a:rPr>
            </a:br>
            <a:r>
              <a:rPr lang="en" sz="1230" u="sng">
                <a:solidFill>
                  <a:schemeClr val="hlink"/>
                </a:solidFill>
                <a:hlinkClick r:id="rId10"/>
              </a:rPr>
              <a:t>https://www.youtube.com/watch?v=vBiji9IFJJs</a:t>
            </a:r>
            <a:r>
              <a:rPr lang="en" sz="1230">
                <a:solidFill>
                  <a:schemeClr val="dk2"/>
                </a:solidFill>
              </a:rPr>
              <a:t> </a:t>
            </a:r>
            <a:br>
              <a:rPr lang="en" sz="1430">
                <a:solidFill>
                  <a:schemeClr val="dk2"/>
                </a:solidFill>
              </a:rPr>
            </a:br>
            <a:r>
              <a:rPr lang="en" sz="1230" u="sng">
                <a:solidFill>
                  <a:schemeClr val="accent5"/>
                </a:solid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https://za.pycon.org/talks/31-sensor-data-processing-on-microcontrollers-with-micropython/</a:t>
            </a:r>
            <a:endParaRPr sz="12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103"/>
          <p:cNvSpPr txBox="1"/>
          <p:nvPr>
            <p:ph type="title"/>
          </p:nvPr>
        </p:nvSpPr>
        <p:spPr>
          <a:xfrm>
            <a:off x="311700" y="555600"/>
            <a:ext cx="77460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C modules *</a:t>
            </a:r>
            <a:endParaRPr/>
          </a:p>
        </p:txBody>
      </p:sp>
      <p:sp>
        <p:nvSpPr>
          <p:cNvPr id="1058" name="Google Shape;1058;p103"/>
          <p:cNvSpPr txBox="1"/>
          <p:nvPr/>
        </p:nvSpPr>
        <p:spPr>
          <a:xfrm>
            <a:off x="387900" y="4507800"/>
            <a:ext cx="280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9" name="Google Shape;1059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3450" y="53675"/>
            <a:ext cx="5672123" cy="508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103"/>
          <p:cNvSpPr txBox="1"/>
          <p:nvPr/>
        </p:nvSpPr>
        <p:spPr>
          <a:xfrm>
            <a:off x="311700" y="1154525"/>
            <a:ext cx="3036900" cy="4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Defines a Python module with API. functions/classes et.c.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Implemented</a:t>
            </a:r>
            <a:br>
              <a:rPr b="1" lang="en" sz="1600"/>
            </a:br>
            <a:r>
              <a:rPr b="1" lang="en" sz="1600"/>
              <a:t>by users</a:t>
            </a:r>
            <a:r>
              <a:rPr lang="en" sz="1600"/>
              <a:t>,</a:t>
            </a:r>
            <a:br>
              <a:rPr lang="en" sz="1600"/>
            </a:br>
            <a:r>
              <a:rPr b="1" lang="en" sz="1600"/>
              <a:t>libraries,</a:t>
            </a:r>
            <a:r>
              <a:rPr lang="en" sz="1600"/>
              <a:t> or </a:t>
            </a:r>
            <a:br>
              <a:rPr lang="en" sz="1600"/>
            </a:br>
            <a:r>
              <a:rPr b="1" lang="en" sz="1600"/>
              <a:t>part of MicroPython core</a:t>
            </a:r>
            <a:r>
              <a:rPr lang="en" sz="1600"/>
              <a:t>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600"/>
            </a:br>
            <a:r>
              <a:rPr lang="en" sz="1600"/>
              <a:t>Can be </a:t>
            </a:r>
            <a:r>
              <a:rPr b="1" lang="en" sz="1600"/>
              <a:t>portable</a:t>
            </a:r>
            <a:r>
              <a:rPr lang="en" sz="1600"/>
              <a:t> or </a:t>
            </a:r>
            <a:r>
              <a:rPr b="1" lang="en" sz="1600"/>
              <a:t>hardware/platform specific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* Or other language which compiles to C,</a:t>
            </a:r>
            <a:br>
              <a:rPr lang="en" sz="1200"/>
            </a:br>
            <a:r>
              <a:rPr lang="en" sz="1200"/>
              <a:t>or exposes a C API. C++, Rust, et.c.</a:t>
            </a:r>
            <a:endParaRPr sz="1200"/>
          </a:p>
        </p:txBody>
      </p:sp>
      <p:pic>
        <p:nvPicPr>
          <p:cNvPr id="1061" name="Google Shape;1061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0249" y="4420525"/>
            <a:ext cx="1154225" cy="6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MicroPython Data Science ecosystem</a:t>
            </a:r>
            <a:endParaRPr/>
          </a:p>
        </p:txBody>
      </p:sp>
      <p:sp>
        <p:nvSpPr>
          <p:cNvPr id="1067" name="Google Shape;1067;p104"/>
          <p:cNvSpPr txBox="1"/>
          <p:nvPr>
            <p:ph idx="1" type="body"/>
          </p:nvPr>
        </p:nvSpPr>
        <p:spPr>
          <a:xfrm>
            <a:off x="311700" y="4539475"/>
            <a:ext cx="85206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Libraries existing that implement a lot of embedded-relevant functionality from PyData stack.</a:t>
            </a:r>
            <a:endParaRPr b="1" sz="1400"/>
          </a:p>
        </p:txBody>
      </p:sp>
      <p:pic>
        <p:nvPicPr>
          <p:cNvPr id="1068" name="Google Shape;1068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4350" y="531725"/>
            <a:ext cx="743850" cy="74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104"/>
          <p:cNvSpPr/>
          <p:nvPr/>
        </p:nvSpPr>
        <p:spPr>
          <a:xfrm>
            <a:off x="1378650" y="2661850"/>
            <a:ext cx="1783500" cy="5007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OpenCV</a:t>
            </a:r>
            <a:endParaRPr sz="1800"/>
          </a:p>
        </p:txBody>
      </p:sp>
      <p:sp>
        <p:nvSpPr>
          <p:cNvPr id="1070" name="Google Shape;1070;p104"/>
          <p:cNvSpPr/>
          <p:nvPr/>
        </p:nvSpPr>
        <p:spPr>
          <a:xfrm>
            <a:off x="1378650" y="3815325"/>
            <a:ext cx="1783500" cy="5007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numpy</a:t>
            </a:r>
            <a:endParaRPr sz="1800"/>
          </a:p>
        </p:txBody>
      </p:sp>
      <p:sp>
        <p:nvSpPr>
          <p:cNvPr id="1071" name="Google Shape;1071;p104"/>
          <p:cNvSpPr/>
          <p:nvPr/>
        </p:nvSpPr>
        <p:spPr>
          <a:xfrm>
            <a:off x="1378650" y="1508375"/>
            <a:ext cx="1783500" cy="5007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Tensorflow</a:t>
            </a:r>
            <a:endParaRPr sz="1800"/>
          </a:p>
        </p:txBody>
      </p:sp>
      <p:sp>
        <p:nvSpPr>
          <p:cNvPr id="1072" name="Google Shape;1072;p104"/>
          <p:cNvSpPr/>
          <p:nvPr/>
        </p:nvSpPr>
        <p:spPr>
          <a:xfrm>
            <a:off x="1378650" y="2085113"/>
            <a:ext cx="1783500" cy="5007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scikit-learn</a:t>
            </a:r>
            <a:endParaRPr sz="1800"/>
          </a:p>
        </p:txBody>
      </p:sp>
      <p:sp>
        <p:nvSpPr>
          <p:cNvPr id="1073" name="Google Shape;1073;p104"/>
          <p:cNvSpPr/>
          <p:nvPr/>
        </p:nvSpPr>
        <p:spPr>
          <a:xfrm>
            <a:off x="3534925" y="2661857"/>
            <a:ext cx="2350500" cy="5007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OpenMV</a:t>
            </a:r>
            <a:endParaRPr sz="1800"/>
          </a:p>
        </p:txBody>
      </p:sp>
      <p:sp>
        <p:nvSpPr>
          <p:cNvPr id="1074" name="Google Shape;1074;p104"/>
          <p:cNvSpPr/>
          <p:nvPr/>
        </p:nvSpPr>
        <p:spPr>
          <a:xfrm>
            <a:off x="3534925" y="3262301"/>
            <a:ext cx="2350500" cy="5007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ulab</a:t>
            </a:r>
            <a:endParaRPr sz="1800"/>
          </a:p>
        </p:txBody>
      </p:sp>
      <p:sp>
        <p:nvSpPr>
          <p:cNvPr id="1075" name="Google Shape;1075;p104"/>
          <p:cNvSpPr/>
          <p:nvPr/>
        </p:nvSpPr>
        <p:spPr>
          <a:xfrm>
            <a:off x="3534925" y="2061400"/>
            <a:ext cx="2350500" cy="5007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emlearn-micropython</a:t>
            </a:r>
            <a:endParaRPr sz="1800"/>
          </a:p>
        </p:txBody>
      </p:sp>
      <p:sp>
        <p:nvSpPr>
          <p:cNvPr id="1076" name="Google Shape;1076;p104"/>
          <p:cNvSpPr/>
          <p:nvPr/>
        </p:nvSpPr>
        <p:spPr>
          <a:xfrm>
            <a:off x="1378650" y="3238588"/>
            <a:ext cx="1783500" cy="5007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scipy</a:t>
            </a:r>
            <a:endParaRPr sz="1800"/>
          </a:p>
        </p:txBody>
      </p:sp>
      <p:cxnSp>
        <p:nvCxnSpPr>
          <p:cNvPr id="1077" name="Google Shape;1077;p104"/>
          <p:cNvCxnSpPr/>
          <p:nvPr/>
        </p:nvCxnSpPr>
        <p:spPr>
          <a:xfrm>
            <a:off x="3320625" y="1337075"/>
            <a:ext cx="0" cy="312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8" name="Google Shape;1078;p104"/>
          <p:cNvSpPr txBox="1"/>
          <p:nvPr>
            <p:ph idx="1" type="body"/>
          </p:nvPr>
        </p:nvSpPr>
        <p:spPr>
          <a:xfrm>
            <a:off x="196300" y="1322294"/>
            <a:ext cx="144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CPython</a:t>
            </a:r>
            <a:endParaRPr b="1"/>
          </a:p>
        </p:txBody>
      </p:sp>
      <p:sp>
        <p:nvSpPr>
          <p:cNvPr id="1079" name="Google Shape;1079;p104"/>
          <p:cNvSpPr txBox="1"/>
          <p:nvPr>
            <p:ph idx="1" type="body"/>
          </p:nvPr>
        </p:nvSpPr>
        <p:spPr>
          <a:xfrm>
            <a:off x="3534925" y="1322294"/>
            <a:ext cx="32454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MicroPython</a:t>
            </a:r>
            <a:endParaRPr b="1"/>
          </a:p>
        </p:txBody>
      </p:sp>
      <p:sp>
        <p:nvSpPr>
          <p:cNvPr id="1080" name="Google Shape;1080;p104"/>
          <p:cNvSpPr txBox="1"/>
          <p:nvPr/>
        </p:nvSpPr>
        <p:spPr>
          <a:xfrm>
            <a:off x="5938450" y="2723538"/>
            <a:ext cx="184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https://openmv.io/</a:t>
            </a:r>
            <a:r>
              <a:rPr lang="en" sz="1200"/>
              <a:t> </a:t>
            </a:r>
            <a:endParaRPr sz="1200"/>
          </a:p>
        </p:txBody>
      </p:sp>
      <p:sp>
        <p:nvSpPr>
          <p:cNvPr id="1081" name="Google Shape;1081;p104"/>
          <p:cNvSpPr txBox="1"/>
          <p:nvPr/>
        </p:nvSpPr>
        <p:spPr>
          <a:xfrm>
            <a:off x="5938450" y="3320000"/>
            <a:ext cx="289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github.com/v923z/micropython-ulab</a:t>
            </a:r>
            <a:r>
              <a:rPr lang="en" sz="1200"/>
              <a:t> </a:t>
            </a:r>
            <a:endParaRPr sz="1200"/>
          </a:p>
        </p:txBody>
      </p:sp>
      <p:pic>
        <p:nvPicPr>
          <p:cNvPr id="1082" name="Google Shape;1082;p10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20249" y="4420525"/>
            <a:ext cx="1154225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104"/>
          <p:cNvSpPr txBox="1"/>
          <p:nvPr/>
        </p:nvSpPr>
        <p:spPr>
          <a:xfrm>
            <a:off x="5885475" y="2127100"/>
            <a:ext cx="302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7"/>
              </a:rPr>
              <a:t>github.com/emlearn/emlearn-micropython</a:t>
            </a:r>
            <a:r>
              <a:rPr lang="en" sz="1200"/>
              <a:t> </a:t>
            </a:r>
            <a:endParaRPr sz="12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105"/>
          <p:cNvSpPr txBox="1"/>
          <p:nvPr>
            <p:ph type="title"/>
          </p:nvPr>
        </p:nvSpPr>
        <p:spPr>
          <a:xfrm>
            <a:off x="265500" y="20007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Misc</a:t>
            </a:r>
            <a:endParaRPr/>
          </a:p>
        </p:txBody>
      </p:sp>
      <p:sp>
        <p:nvSpPr>
          <p:cNvPr id="1089" name="Google Shape;1089;p105"/>
          <p:cNvSpPr txBox="1"/>
          <p:nvPr>
            <p:ph idx="1" type="subTitle"/>
          </p:nvPr>
        </p:nvSpPr>
        <p:spPr>
          <a:xfrm>
            <a:off x="265500" y="35706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10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1" name="Google Shape;1091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175" y="890425"/>
            <a:ext cx="743850" cy="74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6" name="Google Shape;1096;p106"/>
          <p:cNvGrpSpPr/>
          <p:nvPr/>
        </p:nvGrpSpPr>
        <p:grpSpPr>
          <a:xfrm>
            <a:off x="1312175" y="1993975"/>
            <a:ext cx="1484100" cy="1639800"/>
            <a:chOff x="2005525" y="789950"/>
            <a:chExt cx="1484100" cy="1639800"/>
          </a:xfrm>
        </p:grpSpPr>
        <p:sp>
          <p:nvSpPr>
            <p:cNvPr id="1097" name="Google Shape;1097;p106"/>
            <p:cNvSpPr/>
            <p:nvPr/>
          </p:nvSpPr>
          <p:spPr>
            <a:xfrm>
              <a:off x="2005525" y="789950"/>
              <a:ext cx="1484100" cy="1639800"/>
            </a:xfrm>
            <a:prstGeom prst="rec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06"/>
            <p:cNvSpPr/>
            <p:nvPr/>
          </p:nvSpPr>
          <p:spPr>
            <a:xfrm>
              <a:off x="2103350" y="893500"/>
              <a:ext cx="1288800" cy="400200"/>
            </a:xfrm>
            <a:prstGeom prst="roundRect">
              <a:avLst>
                <a:gd fmla="val 16667" name="adj"/>
              </a:avLst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Pre-process</a:t>
              </a:r>
              <a:endParaRPr/>
            </a:p>
          </p:txBody>
        </p:sp>
        <p:sp>
          <p:nvSpPr>
            <p:cNvPr id="1099" name="Google Shape;1099;p106"/>
            <p:cNvSpPr/>
            <p:nvPr/>
          </p:nvSpPr>
          <p:spPr>
            <a:xfrm>
              <a:off x="2103350" y="1399913"/>
              <a:ext cx="1288800" cy="400200"/>
            </a:xfrm>
            <a:prstGeom prst="roundRect">
              <a:avLst>
                <a:gd fmla="val 16667" name="adj"/>
              </a:avLst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ML model</a:t>
              </a:r>
              <a:endParaRPr/>
            </a:p>
          </p:txBody>
        </p:sp>
        <p:sp>
          <p:nvSpPr>
            <p:cNvPr id="1100" name="Google Shape;1100;p106"/>
            <p:cNvSpPr/>
            <p:nvPr/>
          </p:nvSpPr>
          <p:spPr>
            <a:xfrm>
              <a:off x="2103350" y="1906325"/>
              <a:ext cx="1288800" cy="400200"/>
            </a:xfrm>
            <a:prstGeom prst="roundRect">
              <a:avLst>
                <a:gd fmla="val 16667" name="adj"/>
              </a:avLst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Post-process</a:t>
              </a:r>
              <a:endParaRPr/>
            </a:p>
          </p:txBody>
        </p:sp>
      </p:grpSp>
      <p:sp>
        <p:nvSpPr>
          <p:cNvPr id="1101" name="Google Shape;1101;p106"/>
          <p:cNvSpPr txBox="1"/>
          <p:nvPr/>
        </p:nvSpPr>
        <p:spPr>
          <a:xfrm>
            <a:off x="1185150" y="821875"/>
            <a:ext cx="216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1) Train model</a:t>
            </a:r>
            <a:br>
              <a:rPr lang="en" sz="1800">
                <a:solidFill>
                  <a:schemeClr val="dk2"/>
                </a:solidFill>
              </a:rPr>
            </a:br>
            <a:r>
              <a:rPr b="1" lang="en" sz="1800">
                <a:solidFill>
                  <a:schemeClr val="dk2"/>
                </a:solidFill>
              </a:rPr>
              <a:t>on PC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102" name="Google Shape;1102;p106"/>
          <p:cNvSpPr/>
          <p:nvPr/>
        </p:nvSpPr>
        <p:spPr>
          <a:xfrm>
            <a:off x="6071950" y="1535550"/>
            <a:ext cx="1288800" cy="400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</a:t>
            </a:r>
            <a:endParaRPr/>
          </a:p>
        </p:txBody>
      </p:sp>
      <p:sp>
        <p:nvSpPr>
          <p:cNvPr id="1103" name="Google Shape;1103;p106"/>
          <p:cNvSpPr txBox="1"/>
          <p:nvPr/>
        </p:nvSpPr>
        <p:spPr>
          <a:xfrm>
            <a:off x="5768600" y="821875"/>
            <a:ext cx="194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2) Run</a:t>
            </a:r>
            <a:br>
              <a:rPr lang="en" sz="1800">
                <a:solidFill>
                  <a:schemeClr val="dk2"/>
                </a:solidFill>
              </a:rPr>
            </a:br>
            <a:r>
              <a:rPr b="1" lang="en" sz="1800">
                <a:solidFill>
                  <a:schemeClr val="dk2"/>
                </a:solidFill>
              </a:rPr>
              <a:t>on Device</a:t>
            </a:r>
            <a:endParaRPr b="1" sz="1800">
              <a:solidFill>
                <a:schemeClr val="dk2"/>
              </a:solidFill>
            </a:endParaRPr>
          </a:p>
        </p:txBody>
      </p:sp>
      <p:grpSp>
        <p:nvGrpSpPr>
          <p:cNvPr id="1104" name="Google Shape;1104;p106"/>
          <p:cNvGrpSpPr/>
          <p:nvPr/>
        </p:nvGrpSpPr>
        <p:grpSpPr>
          <a:xfrm>
            <a:off x="5974300" y="2038550"/>
            <a:ext cx="1484100" cy="1639800"/>
            <a:chOff x="7465550" y="1878500"/>
            <a:chExt cx="1484100" cy="1639800"/>
          </a:xfrm>
        </p:grpSpPr>
        <p:sp>
          <p:nvSpPr>
            <p:cNvPr id="1105" name="Google Shape;1105;p106"/>
            <p:cNvSpPr/>
            <p:nvPr/>
          </p:nvSpPr>
          <p:spPr>
            <a:xfrm>
              <a:off x="7465550" y="1878500"/>
              <a:ext cx="1484100" cy="16398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A4C2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06"/>
            <p:cNvSpPr/>
            <p:nvPr/>
          </p:nvSpPr>
          <p:spPr>
            <a:xfrm>
              <a:off x="7563375" y="1982050"/>
              <a:ext cx="1288800" cy="400200"/>
            </a:xfrm>
            <a:prstGeom prst="roundRect">
              <a:avLst>
                <a:gd fmla="val 16667" name="adj"/>
              </a:avLst>
            </a:prstGeom>
            <a:solidFill>
              <a:srgbClr val="E69138"/>
            </a:solidFill>
            <a:ln cap="flat" cmpd="sng" w="9525">
              <a:solidFill>
                <a:srgbClr val="A4C2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Pre-process</a:t>
              </a:r>
              <a:endParaRPr/>
            </a:p>
          </p:txBody>
        </p:sp>
        <p:sp>
          <p:nvSpPr>
            <p:cNvPr id="1107" name="Google Shape;1107;p106"/>
            <p:cNvSpPr/>
            <p:nvPr/>
          </p:nvSpPr>
          <p:spPr>
            <a:xfrm>
              <a:off x="7563375" y="2488463"/>
              <a:ext cx="1288800" cy="400200"/>
            </a:xfrm>
            <a:prstGeom prst="roundRect">
              <a:avLst>
                <a:gd fmla="val 16667" name="adj"/>
              </a:avLst>
            </a:prstGeom>
            <a:solidFill>
              <a:srgbClr val="E69138"/>
            </a:solidFill>
            <a:ln cap="flat" cmpd="sng" w="9525">
              <a:solidFill>
                <a:srgbClr val="A4C2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ML model</a:t>
              </a:r>
              <a:endParaRPr/>
            </a:p>
          </p:txBody>
        </p:sp>
        <p:sp>
          <p:nvSpPr>
            <p:cNvPr id="1108" name="Google Shape;1108;p106"/>
            <p:cNvSpPr/>
            <p:nvPr/>
          </p:nvSpPr>
          <p:spPr>
            <a:xfrm>
              <a:off x="7563375" y="2994875"/>
              <a:ext cx="1288800" cy="400200"/>
            </a:xfrm>
            <a:prstGeom prst="roundRect">
              <a:avLst>
                <a:gd fmla="val 16667" name="adj"/>
              </a:avLst>
            </a:prstGeom>
            <a:solidFill>
              <a:srgbClr val="E69138"/>
            </a:solidFill>
            <a:ln cap="flat" cmpd="sng" w="9525">
              <a:solidFill>
                <a:srgbClr val="A4C2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Post-process</a:t>
              </a:r>
              <a:endParaRPr/>
            </a:p>
          </p:txBody>
        </p:sp>
      </p:grpSp>
      <p:sp>
        <p:nvSpPr>
          <p:cNvPr id="1109" name="Google Shape;1109;p106"/>
          <p:cNvSpPr/>
          <p:nvPr/>
        </p:nvSpPr>
        <p:spPr>
          <a:xfrm>
            <a:off x="1655550" y="1463062"/>
            <a:ext cx="797350" cy="456014"/>
          </a:xfrm>
          <a:prstGeom prst="flowChartMagneticDisk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Data</a:t>
            </a:r>
            <a:endParaRPr b="1" sz="1100"/>
          </a:p>
        </p:txBody>
      </p:sp>
      <p:pic>
        <p:nvPicPr>
          <p:cNvPr id="1110" name="Google Shape;1110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75" y="877400"/>
            <a:ext cx="1033200" cy="103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0026" y="983876"/>
            <a:ext cx="972678" cy="97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106"/>
          <p:cNvSpPr txBox="1"/>
          <p:nvPr/>
        </p:nvSpPr>
        <p:spPr>
          <a:xfrm>
            <a:off x="275300" y="162000"/>
            <a:ext cx="861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113" name="Google Shape;1113;p106"/>
          <p:cNvSpPr txBox="1"/>
          <p:nvPr/>
        </p:nvSpPr>
        <p:spPr>
          <a:xfrm>
            <a:off x="93175" y="3140300"/>
            <a:ext cx="124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Deep-learning pipeline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1114" name="Google Shape;1114;p106"/>
          <p:cNvSpPr txBox="1"/>
          <p:nvPr/>
        </p:nvSpPr>
        <p:spPr>
          <a:xfrm>
            <a:off x="7458388" y="2955500"/>
            <a:ext cx="10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Embedded optimized</a:t>
            </a:r>
            <a:br>
              <a:rPr b="1" lang="en" sz="1200">
                <a:solidFill>
                  <a:schemeClr val="dk2"/>
                </a:solidFill>
              </a:rPr>
            </a:br>
            <a:r>
              <a:rPr b="1" lang="en" sz="1200">
                <a:solidFill>
                  <a:schemeClr val="dk2"/>
                </a:solidFill>
              </a:rPr>
              <a:t>pipeline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1115" name="Google Shape;1115;p106"/>
          <p:cNvSpPr/>
          <p:nvPr/>
        </p:nvSpPr>
        <p:spPr>
          <a:xfrm>
            <a:off x="3154936" y="2496475"/>
            <a:ext cx="2581200" cy="63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 conversion tools</a:t>
            </a:r>
            <a:endParaRPr b="1"/>
          </a:p>
        </p:txBody>
      </p:sp>
      <p:sp>
        <p:nvSpPr>
          <p:cNvPr id="1116" name="Google Shape;1116;p106"/>
          <p:cNvSpPr txBox="1"/>
          <p:nvPr/>
        </p:nvSpPr>
        <p:spPr>
          <a:xfrm>
            <a:off x="275300" y="162000"/>
            <a:ext cx="861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TinyML challenge: </a:t>
            </a:r>
            <a:r>
              <a:rPr b="1" lang="en" sz="2400">
                <a:solidFill>
                  <a:schemeClr val="dk2"/>
                </a:solidFill>
              </a:rPr>
              <a:t>PC/host</a:t>
            </a:r>
            <a:r>
              <a:rPr lang="en" sz="2400">
                <a:solidFill>
                  <a:schemeClr val="dk2"/>
                </a:solidFill>
              </a:rPr>
              <a:t> vs </a:t>
            </a:r>
            <a:r>
              <a:rPr b="1" lang="en" sz="2400">
                <a:solidFill>
                  <a:schemeClr val="dk2"/>
                </a:solidFill>
              </a:rPr>
              <a:t>embedded/device</a:t>
            </a:r>
            <a:r>
              <a:rPr lang="en" sz="2400">
                <a:solidFill>
                  <a:schemeClr val="dk2"/>
                </a:solidFill>
              </a:rPr>
              <a:t> pipeline 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1117" name="Google Shape;1117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0626" y="3796567"/>
            <a:ext cx="521111" cy="5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106"/>
          <p:cNvPicPr preferRelativeResize="0"/>
          <p:nvPr/>
        </p:nvPicPr>
        <p:blipFill rotWithShape="1">
          <a:blip r:embed="rId6">
            <a:alphaModFix/>
          </a:blip>
          <a:srcRect b="20923" l="17786" r="18075" t="17900"/>
          <a:stretch/>
        </p:blipFill>
        <p:spPr>
          <a:xfrm>
            <a:off x="1283975" y="3708676"/>
            <a:ext cx="1131024" cy="606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10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7950" y="3741025"/>
            <a:ext cx="556026" cy="61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10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02275" y="3829162"/>
            <a:ext cx="521100" cy="5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106"/>
          <p:cNvSpPr txBox="1"/>
          <p:nvPr/>
        </p:nvSpPr>
        <p:spPr>
          <a:xfrm>
            <a:off x="93175" y="2053475"/>
            <a:ext cx="128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RAM (min)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10 GB+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22" name="Google Shape;1122;p106"/>
          <p:cNvSpPr txBox="1"/>
          <p:nvPr/>
        </p:nvSpPr>
        <p:spPr>
          <a:xfrm>
            <a:off x="7664150" y="2053475"/>
            <a:ext cx="115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RAM (max):</a:t>
            </a: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1 MB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23" name="Google Shape;1123;p106"/>
          <p:cNvSpPr/>
          <p:nvPr/>
        </p:nvSpPr>
        <p:spPr>
          <a:xfrm>
            <a:off x="3127550" y="1964225"/>
            <a:ext cx="2581200" cy="63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Translate</a:t>
            </a:r>
            <a:endParaRPr/>
          </a:p>
        </p:txBody>
      </p:sp>
      <p:sp>
        <p:nvSpPr>
          <p:cNvPr id="1124" name="Google Shape;1124;p106"/>
          <p:cNvSpPr/>
          <p:nvPr/>
        </p:nvSpPr>
        <p:spPr>
          <a:xfrm>
            <a:off x="3162051" y="3051075"/>
            <a:ext cx="2581200" cy="63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Translate</a:t>
            </a:r>
            <a:endParaRPr/>
          </a:p>
        </p:txBody>
      </p:sp>
      <p:sp>
        <p:nvSpPr>
          <p:cNvPr id="1125" name="Google Shape;1125;p106"/>
          <p:cNvSpPr txBox="1"/>
          <p:nvPr/>
        </p:nvSpPr>
        <p:spPr>
          <a:xfrm>
            <a:off x="2545050" y="3709975"/>
            <a:ext cx="4343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Challenges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Very different constraints in the two environments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The two pipelines must be 100% compatible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Pre- and post-processing often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application-specific, Turing complete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Different languages, tools, libraries, cultures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126" name="Google Shape;1126;p106"/>
          <p:cNvSpPr txBox="1"/>
          <p:nvPr/>
        </p:nvSpPr>
        <p:spPr>
          <a:xfrm>
            <a:off x="410675" y="4570475"/>
            <a:ext cx="23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“Data Scientist land”</a:t>
            </a:r>
            <a:endParaRPr i="1" sz="1800">
              <a:solidFill>
                <a:schemeClr val="dk2"/>
              </a:solidFill>
            </a:endParaRPr>
          </a:p>
        </p:txBody>
      </p:sp>
      <p:sp>
        <p:nvSpPr>
          <p:cNvPr id="1127" name="Google Shape;1127;p106"/>
          <p:cNvSpPr txBox="1"/>
          <p:nvPr/>
        </p:nvSpPr>
        <p:spPr>
          <a:xfrm>
            <a:off x="6201375" y="4541725"/>
            <a:ext cx="27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“Firmware Engineer land”</a:t>
            </a:r>
            <a:endParaRPr i="1" sz="1800">
              <a:solidFill>
                <a:schemeClr val="dk2"/>
              </a:solidFill>
            </a:endParaRPr>
          </a:p>
        </p:txBody>
      </p:sp>
      <p:pic>
        <p:nvPicPr>
          <p:cNvPr id="1128" name="Google Shape;1128;p106" title="Colored_Positive.png"/>
          <p:cNvPicPr preferRelativeResize="0"/>
          <p:nvPr/>
        </p:nvPicPr>
        <p:blipFill rotWithShape="1">
          <a:blip r:embed="rId9">
            <a:alphaModFix/>
          </a:blip>
          <a:srcRect b="32327" l="0" r="38797" t="0"/>
          <a:stretch/>
        </p:blipFill>
        <p:spPr>
          <a:xfrm>
            <a:off x="7887725" y="3829150"/>
            <a:ext cx="972675" cy="543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3" name="Google Shape;1133;p107"/>
          <p:cNvPicPr preferRelativeResize="0"/>
          <p:nvPr/>
        </p:nvPicPr>
        <p:blipFill rotWithShape="1">
          <a:blip r:embed="rId3">
            <a:alphaModFix/>
          </a:blip>
          <a:srcRect b="16389" l="11556" r="16667" t="15407"/>
          <a:stretch/>
        </p:blipFill>
        <p:spPr>
          <a:xfrm rot="2099982">
            <a:off x="6041457" y="1743762"/>
            <a:ext cx="2464460" cy="156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10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MicroPython - Installing</a:t>
            </a:r>
            <a:endParaRPr/>
          </a:p>
        </p:txBody>
      </p:sp>
      <p:sp>
        <p:nvSpPr>
          <p:cNvPr id="1135" name="Google Shape;1135;p107"/>
          <p:cNvSpPr txBox="1"/>
          <p:nvPr/>
        </p:nvSpPr>
        <p:spPr>
          <a:xfrm>
            <a:off x="311700" y="1134350"/>
            <a:ext cx="6478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Download prebuilt firmware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https://micropython.org/download/?port=esp32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Flash firmware to device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 install esptool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esptool.py --chip esp32 --port … erase_flash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esptool.py --chip esp32 --port … write_flash -z 0 micropython-v1.17.bin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Connect to device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	</a:t>
            </a:r>
            <a:r>
              <a:rPr lang="en"/>
              <a:t>pip install mpremote</a:t>
            </a:r>
            <a:br>
              <a:rPr lang="en" sz="1800"/>
            </a:br>
            <a:r>
              <a:rPr lang="en" sz="1800"/>
              <a:t>	</a:t>
            </a:r>
            <a:r>
              <a:rPr lang="en"/>
              <a:t>mpremote repl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/>
            </a:br>
            <a:r>
              <a:rPr lang="en" sz="1800"/>
              <a:t>IDE (optional): Thonny, VS Code, et.c.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6" name="Google Shape;1136;p107"/>
          <p:cNvPicPr preferRelativeResize="0"/>
          <p:nvPr/>
        </p:nvPicPr>
        <p:blipFill rotWithShape="1">
          <a:blip r:embed="rId5">
            <a:alphaModFix/>
          </a:blip>
          <a:srcRect b="36020" l="1728" r="31283" t="30539"/>
          <a:stretch/>
        </p:blipFill>
        <p:spPr>
          <a:xfrm>
            <a:off x="3755575" y="3382450"/>
            <a:ext cx="4762375" cy="9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10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20249" y="4420525"/>
            <a:ext cx="1154225" cy="6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108"/>
          <p:cNvSpPr txBox="1"/>
          <p:nvPr/>
        </p:nvSpPr>
        <p:spPr>
          <a:xfrm>
            <a:off x="311700" y="1154525"/>
            <a:ext cx="499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108"/>
          <p:cNvSpPr txBox="1"/>
          <p:nvPr>
            <p:ph idx="1" type="body"/>
          </p:nvPr>
        </p:nvSpPr>
        <p:spPr>
          <a:xfrm>
            <a:off x="311700" y="1000075"/>
            <a:ext cx="5447700" cy="35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Enabled on most ports/hardware</a:t>
            </a:r>
            <a:br>
              <a:rPr lang="en" sz="1600"/>
            </a:br>
            <a:r>
              <a:rPr lang="en" sz="1600"/>
              <a:t>(with sufficient resources)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Internal FLASH</a:t>
            </a:r>
            <a:r>
              <a:rPr lang="en" sz="1600"/>
              <a:t> and/or </a:t>
            </a:r>
            <a:r>
              <a:rPr b="1" lang="en" sz="1600"/>
              <a:t>SDCard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LittleFS</a:t>
            </a:r>
            <a:r>
              <a:rPr lang="en" sz="1600"/>
              <a:t> or </a:t>
            </a:r>
            <a:r>
              <a:rPr b="1" lang="en" sz="1600"/>
              <a:t>FAT32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Save/load from standard files</a:t>
            </a:r>
            <a:r>
              <a:rPr lang="en" sz="1600"/>
              <a:t> [1]</a:t>
            </a:r>
            <a:br>
              <a:rPr lang="en" sz="1600"/>
            </a:br>
            <a:br>
              <a:rPr lang="en" sz="1600"/>
            </a:br>
            <a:r>
              <a:rPr lang="en" sz="16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https://docs.micropython.org</a:t>
            </a:r>
            <a:br>
              <a:rPr lang="en" sz="16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lang="en" sz="16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/en/latest/reference/filesystem.html</a:t>
            </a:r>
            <a:r>
              <a:rPr lang="en" sz="1600"/>
              <a:t> </a:t>
            </a:r>
            <a:endParaRPr sz="1600"/>
          </a:p>
        </p:txBody>
      </p:sp>
      <p:sp>
        <p:nvSpPr>
          <p:cNvPr id="1144" name="Google Shape;1144;p108"/>
          <p:cNvSpPr txBox="1"/>
          <p:nvPr>
            <p:ph idx="2" type="body"/>
          </p:nvPr>
        </p:nvSpPr>
        <p:spPr>
          <a:xfrm>
            <a:off x="4166950" y="951175"/>
            <a:ext cx="469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Tool for </a:t>
            </a:r>
            <a:r>
              <a:rPr b="1" lang="en" sz="1600"/>
              <a:t>PC &lt;-&gt; microcontroller communication</a:t>
            </a:r>
            <a:br>
              <a:rPr lang="en" sz="1600"/>
            </a:br>
            <a:br>
              <a:rPr lang="en" sz="1600"/>
            </a:br>
            <a:r>
              <a:rPr lang="en" sz="1600" u="sng">
                <a:solidFill>
                  <a:schemeClr val="hlink"/>
                </a:solidFill>
                <a:hlinkClick r:id="rId6"/>
              </a:rPr>
              <a:t>https://docs.micropython.org</a:t>
            </a:r>
            <a:br>
              <a:rPr lang="en" sz="1600" u="sng">
                <a:solidFill>
                  <a:schemeClr val="hlink"/>
                </a:solidFill>
                <a:hlinkClick r:id="rId7"/>
              </a:rPr>
            </a:br>
            <a:r>
              <a:rPr lang="en" sz="1600" u="sng">
                <a:solidFill>
                  <a:schemeClr val="hlink"/>
                </a:solidFill>
                <a:hlinkClick r:id="rId8"/>
              </a:rPr>
              <a:t>/en/latest/reference/mpremote.html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Copy from device</a:t>
            </a:r>
            <a:br>
              <a:rPr lang="en" sz="1600"/>
            </a:br>
            <a:br>
              <a:rPr lang="en" sz="1600"/>
            </a:br>
            <a:r>
              <a:rPr lang="en" sz="1600"/>
              <a:t>	mpremote cp -r :images/ ./data/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Copy to device</a:t>
            </a:r>
            <a:br>
              <a:rPr lang="en" sz="1600"/>
            </a:br>
            <a:br>
              <a:rPr lang="en" sz="1600"/>
            </a:br>
            <a:r>
              <a:rPr lang="en" sz="1600"/>
              <a:t>	mpremote cp ./model.trees.csv ./models/</a:t>
            </a:r>
            <a:endParaRPr sz="1600"/>
          </a:p>
        </p:txBody>
      </p:sp>
      <p:sp>
        <p:nvSpPr>
          <p:cNvPr id="1145" name="Google Shape;1145;p108"/>
          <p:cNvSpPr txBox="1"/>
          <p:nvPr/>
        </p:nvSpPr>
        <p:spPr>
          <a:xfrm>
            <a:off x="228775" y="4507800"/>
            <a:ext cx="424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146" name="Google Shape;1146;p108"/>
          <p:cNvSpPr txBox="1"/>
          <p:nvPr>
            <p:ph type="title"/>
          </p:nvPr>
        </p:nvSpPr>
        <p:spPr>
          <a:xfrm>
            <a:off x="311700" y="445025"/>
            <a:ext cx="852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File system</a:t>
            </a:r>
            <a:endParaRPr/>
          </a:p>
        </p:txBody>
      </p:sp>
      <p:sp>
        <p:nvSpPr>
          <p:cNvPr id="1147" name="Google Shape;1147;p108"/>
          <p:cNvSpPr txBox="1"/>
          <p:nvPr/>
        </p:nvSpPr>
        <p:spPr>
          <a:xfrm>
            <a:off x="311700" y="4504800"/>
            <a:ext cx="416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1. Using micropython-npyfile to read/write Numpy .npy files</a:t>
            </a:r>
            <a:br>
              <a:rPr b="1" lang="en">
                <a:solidFill>
                  <a:schemeClr val="dk2"/>
                </a:solidFill>
              </a:rPr>
            </a:br>
            <a:r>
              <a:rPr lang="en" sz="1000" u="sng">
                <a:solidFill>
                  <a:schemeClr val="accent5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https://github.com/jonnor/micropython-npyfile/</a:t>
            </a:r>
            <a:endParaRPr/>
          </a:p>
        </p:txBody>
      </p:sp>
      <p:sp>
        <p:nvSpPr>
          <p:cNvPr id="1148" name="Google Shape;1148;p108"/>
          <p:cNvSpPr txBox="1"/>
          <p:nvPr>
            <p:ph type="title"/>
          </p:nvPr>
        </p:nvSpPr>
        <p:spPr>
          <a:xfrm>
            <a:off x="4215700" y="441025"/>
            <a:ext cx="397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mpremote</a:t>
            </a:r>
            <a:endParaRPr/>
          </a:p>
        </p:txBody>
      </p:sp>
      <p:pic>
        <p:nvPicPr>
          <p:cNvPr id="1149" name="Google Shape;1149;p10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20249" y="4420525"/>
            <a:ext cx="1154225" cy="6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109"/>
          <p:cNvSpPr txBox="1"/>
          <p:nvPr>
            <p:ph type="title"/>
          </p:nvPr>
        </p:nvSpPr>
        <p:spPr>
          <a:xfrm>
            <a:off x="4937350" y="445025"/>
            <a:ext cx="389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mip</a:t>
            </a:r>
            <a:r>
              <a:rPr lang="en"/>
              <a:t> - package manager</a:t>
            </a:r>
            <a:endParaRPr/>
          </a:p>
        </p:txBody>
      </p:sp>
      <p:sp>
        <p:nvSpPr>
          <p:cNvPr id="1155" name="Google Shape;1155;p109"/>
          <p:cNvSpPr txBox="1"/>
          <p:nvPr>
            <p:ph idx="1" type="body"/>
          </p:nvPr>
        </p:nvSpPr>
        <p:spPr>
          <a:xfrm>
            <a:off x="382500" y="445025"/>
            <a:ext cx="5542800" cy="44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Install from micropython-lib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mpremote install requests</a:t>
            </a:r>
            <a:br>
              <a:rPr lang="en" sz="1600"/>
            </a:br>
            <a:br>
              <a:rPr lang="en" sz="1600"/>
            </a:br>
            <a:r>
              <a:rPr b="1" lang="en" sz="1600"/>
              <a:t>Third party packages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i="1" lang="en" sz="1600">
                <a:solidFill>
                  <a:schemeClr val="dk1"/>
                </a:solidFill>
              </a:rPr>
            </a:br>
            <a:r>
              <a:rPr i="1" lang="en" sz="1600">
                <a:solidFill>
                  <a:schemeClr val="dk1"/>
                </a:solidFill>
              </a:rPr>
              <a:t>	</a:t>
            </a:r>
            <a:r>
              <a:rPr lang="en" sz="1600">
                <a:solidFill>
                  <a:schemeClr val="dk1"/>
                </a:solidFill>
              </a:rPr>
              <a:t>mpremote install github:jonnor/micropython-zipfile</a:t>
            </a:r>
            <a:br>
              <a:rPr lang="en" sz="1600">
                <a:solidFill>
                  <a:schemeClr val="dk1"/>
                </a:solidFill>
              </a:rPr>
            </a:br>
            <a:br>
              <a:rPr i="1" lang="en" sz="1600">
                <a:solidFill>
                  <a:schemeClr val="dk1"/>
                </a:solidFill>
              </a:rPr>
            </a:br>
            <a:r>
              <a:rPr b="1" lang="en" sz="1600"/>
              <a:t>Can run directly on device [1]</a:t>
            </a:r>
            <a:endParaRPr b="1" sz="1600"/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import mip</a:t>
            </a:r>
            <a:br>
              <a:rPr lang="en" sz="1600"/>
            </a:br>
            <a:r>
              <a:rPr lang="en" sz="1600"/>
              <a:t>	mip.install(‘requests’)</a:t>
            </a:r>
            <a:br>
              <a:rPr lang="en" sz="1600"/>
            </a:b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Install native C modules at runtime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i="1" lang="en" sz="1600">
                <a:solidFill>
                  <a:schemeClr val="dk1"/>
                </a:solidFill>
              </a:rPr>
            </a:br>
            <a:r>
              <a:rPr i="1" lang="en" sz="1600">
                <a:solidFill>
                  <a:schemeClr val="dk1"/>
                </a:solidFill>
              </a:rPr>
              <a:t>	mpremote mip install </a:t>
            </a:r>
            <a:r>
              <a:rPr i="1" lang="en" sz="16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https://example.net/</a:t>
            </a:r>
            <a:br>
              <a:rPr i="1" lang="en" sz="1600">
                <a:solidFill>
                  <a:schemeClr val="dk1"/>
                </a:solidFill>
              </a:rPr>
            </a:br>
            <a:r>
              <a:rPr i="1" lang="en" sz="1600">
                <a:solidFill>
                  <a:schemeClr val="dk1"/>
                </a:solidFill>
              </a:rPr>
              <a:t>	</a:t>
            </a:r>
            <a:r>
              <a:rPr b="1" i="1" lang="en" sz="1600">
                <a:solidFill>
                  <a:schemeClr val="dk1"/>
                </a:solidFill>
              </a:rPr>
              <a:t>xtensawin</a:t>
            </a:r>
            <a:r>
              <a:rPr i="1" lang="en" sz="1600">
                <a:solidFill>
                  <a:schemeClr val="dk1"/>
                </a:solidFill>
              </a:rPr>
              <a:t>_</a:t>
            </a:r>
            <a:r>
              <a:rPr b="1" i="1" lang="en" sz="1600">
                <a:solidFill>
                  <a:schemeClr val="dk1"/>
                </a:solidFill>
              </a:rPr>
              <a:t>6.2*</a:t>
            </a:r>
            <a:r>
              <a:rPr i="1" lang="en" sz="1600">
                <a:solidFill>
                  <a:schemeClr val="dk1"/>
                </a:solidFill>
              </a:rPr>
              <a:t>/emlearn_trees.mpy</a:t>
            </a:r>
            <a:endParaRPr sz="1600"/>
          </a:p>
        </p:txBody>
      </p:sp>
      <p:pic>
        <p:nvPicPr>
          <p:cNvPr id="1156" name="Google Shape;1156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0249" y="4420525"/>
            <a:ext cx="1154225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109"/>
          <p:cNvSpPr txBox="1"/>
          <p:nvPr/>
        </p:nvSpPr>
        <p:spPr>
          <a:xfrm>
            <a:off x="5218150" y="3295650"/>
            <a:ext cx="3828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1. Assuming device has Internet over WiFi/Ethernet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* </a:t>
            </a:r>
            <a:r>
              <a:rPr lang="en" sz="1200">
                <a:solidFill>
                  <a:schemeClr val="dk1"/>
                </a:solidFill>
              </a:rPr>
              <a:t>Specify architecture + MicroPython ABI version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2" name="Google Shape;1162;p110"/>
          <p:cNvPicPr preferRelativeResize="0"/>
          <p:nvPr/>
        </p:nvPicPr>
        <p:blipFill rotWithShape="1">
          <a:blip r:embed="rId3">
            <a:alphaModFix/>
          </a:blip>
          <a:srcRect b="1456" l="0" r="0" t="1456"/>
          <a:stretch/>
        </p:blipFill>
        <p:spPr>
          <a:xfrm>
            <a:off x="405225" y="1340300"/>
            <a:ext cx="5368630" cy="2960644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110"/>
          <p:cNvSpPr txBox="1"/>
          <p:nvPr>
            <p:ph idx="1" type="body"/>
          </p:nvPr>
        </p:nvSpPr>
        <p:spPr>
          <a:xfrm>
            <a:off x="6078975" y="1630275"/>
            <a:ext cx="2808000" cy="3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Benefits vs sending data to cloud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279400" lvl="0" marL="3429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Stand-alone</a:t>
            </a:r>
            <a:endParaRPr sz="1800"/>
          </a:p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Low latency</a:t>
            </a:r>
            <a:endParaRPr sz="1800"/>
          </a:p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Power efficiency</a:t>
            </a:r>
            <a:endParaRPr sz="1800"/>
          </a:p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Privacy</a:t>
            </a:r>
            <a:endParaRPr sz="1800"/>
          </a:p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Low cost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4" name="Google Shape;1164;p110"/>
          <p:cNvSpPr txBox="1"/>
          <p:nvPr>
            <p:ph type="title"/>
          </p:nvPr>
        </p:nvSpPr>
        <p:spPr>
          <a:xfrm>
            <a:off x="311700" y="555600"/>
            <a:ext cx="77460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/>
              <a:t>On-sensor data analysis with Machine Learning</a:t>
            </a:r>
            <a:endParaRPr/>
          </a:p>
        </p:txBody>
      </p:sp>
      <p:sp>
        <p:nvSpPr>
          <p:cNvPr id="1165" name="Google Shape;1165;p110"/>
          <p:cNvSpPr txBox="1"/>
          <p:nvPr/>
        </p:nvSpPr>
        <p:spPr>
          <a:xfrm>
            <a:off x="311700" y="4368300"/>
            <a:ext cx="499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System diagram for “TinyML” solution</a:t>
            </a:r>
            <a:endParaRPr sz="1000"/>
          </a:p>
        </p:txBody>
      </p:sp>
      <p:pic>
        <p:nvPicPr>
          <p:cNvPr id="1166" name="Google Shape;1166;p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4350" y="531725"/>
            <a:ext cx="743850" cy="74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110"/>
          <p:cNvSpPr/>
          <p:nvPr/>
        </p:nvSpPr>
        <p:spPr>
          <a:xfrm>
            <a:off x="300925" y="3549925"/>
            <a:ext cx="1225800" cy="6024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110"/>
          <p:cNvSpPr/>
          <p:nvPr/>
        </p:nvSpPr>
        <p:spPr>
          <a:xfrm>
            <a:off x="2427625" y="2519425"/>
            <a:ext cx="1225800" cy="6024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110"/>
          <p:cNvSpPr/>
          <p:nvPr/>
        </p:nvSpPr>
        <p:spPr>
          <a:xfrm>
            <a:off x="4386975" y="1235250"/>
            <a:ext cx="1461000" cy="8649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110"/>
          <p:cNvSpPr/>
          <p:nvPr/>
        </p:nvSpPr>
        <p:spPr>
          <a:xfrm>
            <a:off x="1779950" y="3407225"/>
            <a:ext cx="2457000" cy="745200"/>
          </a:xfrm>
          <a:prstGeom prst="rect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110"/>
          <p:cNvSpPr txBox="1"/>
          <p:nvPr/>
        </p:nvSpPr>
        <p:spPr>
          <a:xfrm>
            <a:off x="3067650" y="4207225"/>
            <a:ext cx="22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8000"/>
                </a:solidFill>
              </a:rPr>
              <a:t>Focus of this talk</a:t>
            </a:r>
            <a:endParaRPr b="1" sz="1800">
              <a:solidFill>
                <a:srgbClr val="008000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111"/>
          <p:cNvSpPr txBox="1"/>
          <p:nvPr>
            <p:ph type="title"/>
          </p:nvPr>
        </p:nvSpPr>
        <p:spPr>
          <a:xfrm>
            <a:off x="311700" y="230775"/>
            <a:ext cx="85206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smartwatch as standalone IoT </a:t>
            </a:r>
            <a:r>
              <a:rPr lang="en"/>
              <a:t>device</a:t>
            </a:r>
            <a:r>
              <a:rPr lang="en"/>
              <a:t>?</a:t>
            </a:r>
            <a:endParaRPr/>
          </a:p>
        </p:txBody>
      </p:sp>
      <p:sp>
        <p:nvSpPr>
          <p:cNvPr id="1177" name="Google Shape;1177;p111"/>
          <p:cNvSpPr txBox="1"/>
          <p:nvPr/>
        </p:nvSpPr>
        <p:spPr>
          <a:xfrm>
            <a:off x="271875" y="1040275"/>
            <a:ext cx="57753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How far are we from a </a:t>
            </a:r>
            <a:r>
              <a:rPr b="1" lang="en" sz="1800">
                <a:solidFill>
                  <a:schemeClr val="dk2"/>
                </a:solidFill>
              </a:rPr>
              <a:t>hackable device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functional with </a:t>
            </a:r>
            <a:r>
              <a:rPr b="1" lang="en" sz="1800">
                <a:solidFill>
                  <a:schemeClr val="dk2"/>
                </a:solidFill>
              </a:rPr>
              <a:t>no cloud, no server, no mobile app</a:t>
            </a:r>
            <a:r>
              <a:rPr lang="en" sz="18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Wishlist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Run </a:t>
            </a:r>
            <a:r>
              <a:rPr b="1" lang="en" sz="1800">
                <a:solidFill>
                  <a:schemeClr val="dk2"/>
                </a:solidFill>
              </a:rPr>
              <a:t>Python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Support </a:t>
            </a:r>
            <a:r>
              <a:rPr b="1" lang="en" sz="1800">
                <a:solidFill>
                  <a:schemeClr val="dk2"/>
                </a:solidFill>
              </a:rPr>
              <a:t>Activity Recognition</a:t>
            </a:r>
            <a:r>
              <a:rPr lang="en" sz="1800">
                <a:solidFill>
                  <a:schemeClr val="dk2"/>
                </a:solidFill>
              </a:rPr>
              <a:t> using ML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Store and show </a:t>
            </a:r>
            <a:r>
              <a:rPr b="1" lang="en" sz="1800">
                <a:solidFill>
                  <a:schemeClr val="dk2"/>
                </a:solidFill>
              </a:rPr>
              <a:t>days of data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Locally server </a:t>
            </a:r>
            <a:r>
              <a:rPr b="1" lang="en" sz="1800">
                <a:solidFill>
                  <a:schemeClr val="dk2"/>
                </a:solidFill>
              </a:rPr>
              <a:t>Browser UI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en" sz="1800">
                <a:solidFill>
                  <a:schemeClr val="dk2"/>
                </a:solidFill>
              </a:rPr>
              <a:t>Optional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b="1" lang="en" sz="1800">
                <a:solidFill>
                  <a:schemeClr val="dk2"/>
                </a:solidFill>
              </a:rPr>
              <a:t>i</a:t>
            </a:r>
            <a:r>
              <a:rPr b="1" lang="en" sz="1800">
                <a:solidFill>
                  <a:schemeClr val="dk2"/>
                </a:solidFill>
              </a:rPr>
              <a:t>ntegration</a:t>
            </a:r>
            <a:r>
              <a:rPr lang="en" sz="1800">
                <a:solidFill>
                  <a:schemeClr val="dk2"/>
                </a:solidFill>
              </a:rPr>
              <a:t> with other web services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Scope: </a:t>
            </a:r>
            <a:r>
              <a:rPr b="1" lang="en" sz="1800">
                <a:solidFill>
                  <a:schemeClr val="dk2"/>
                </a:solidFill>
              </a:rPr>
              <a:t>Understand possibilities and constraints</a:t>
            </a:r>
            <a:r>
              <a:rPr lang="en" sz="1800">
                <a:solidFill>
                  <a:schemeClr val="dk2"/>
                </a:solidFill>
              </a:rPr>
              <a:t>, not create a commercial-grade device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78" name="Google Shape;1178;p111" title="Q200-1000-SY_2146b910-6820-44e1-866c-10be602f0af8.png"/>
          <p:cNvPicPr preferRelativeResize="0"/>
          <p:nvPr/>
        </p:nvPicPr>
        <p:blipFill rotWithShape="1">
          <a:blip r:embed="rId3">
            <a:alphaModFix/>
          </a:blip>
          <a:srcRect b="18161" l="21294" r="21340" t="18997"/>
          <a:stretch/>
        </p:blipFill>
        <p:spPr>
          <a:xfrm>
            <a:off x="7178150" y="230775"/>
            <a:ext cx="1770851" cy="193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111" title="bez-nazvu-1_860.png"/>
          <p:cNvPicPr preferRelativeResize="0"/>
          <p:nvPr/>
        </p:nvPicPr>
        <p:blipFill rotWithShape="1">
          <a:blip r:embed="rId4">
            <a:alphaModFix/>
          </a:blip>
          <a:srcRect b="10897" l="33146" r="0" t="0"/>
          <a:stretch/>
        </p:blipFill>
        <p:spPr>
          <a:xfrm>
            <a:off x="5628375" y="2383725"/>
            <a:ext cx="3414075" cy="2634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111"/>
          <p:cNvSpPr txBox="1"/>
          <p:nvPr/>
        </p:nvSpPr>
        <p:spPr>
          <a:xfrm>
            <a:off x="311700" y="4456750"/>
            <a:ext cx="393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repo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https://github.com/jonnor/motion-machine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server with Microdot</a:t>
            </a:r>
            <a:endParaRPr/>
          </a:p>
        </p:txBody>
      </p:sp>
      <p:sp>
        <p:nvSpPr>
          <p:cNvPr id="1186" name="Google Shape;1186;p112"/>
          <p:cNvSpPr txBox="1"/>
          <p:nvPr>
            <p:ph idx="1" type="body"/>
          </p:nvPr>
        </p:nvSpPr>
        <p:spPr>
          <a:xfrm>
            <a:off x="311700" y="1152475"/>
            <a:ext cx="3913200" cy="31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Supports MicroPython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Flask / FastAPI style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Streaming support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Pre-compressed files</a:t>
            </a:r>
            <a:br>
              <a:rPr b="1" lang="en"/>
            </a:br>
            <a:r>
              <a:rPr b="1" lang="en"/>
              <a:t>.js.gz</a:t>
            </a:r>
            <a:endParaRPr b="1"/>
          </a:p>
        </p:txBody>
      </p:sp>
      <p:sp>
        <p:nvSpPr>
          <p:cNvPr id="1187" name="Google Shape;1187;p112"/>
          <p:cNvSpPr txBox="1"/>
          <p:nvPr/>
        </p:nvSpPr>
        <p:spPr>
          <a:xfrm>
            <a:off x="311700" y="4392125"/>
            <a:ext cx="58635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Microdot -the impossibly small webserver for MicroPython and Python</a:t>
            </a:r>
            <a:br>
              <a:rPr lang="en"/>
            </a:b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https://github.com/miguelgrinberg/microdot</a:t>
            </a:r>
            <a:r>
              <a:rPr lang="en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188" name="Google Shape;1188;p112" title="Screenshot from 2026-04-16 09-57-10.png"/>
          <p:cNvPicPr preferRelativeResize="0"/>
          <p:nvPr/>
        </p:nvPicPr>
        <p:blipFill rotWithShape="1">
          <a:blip r:embed="rId4">
            <a:alphaModFix/>
          </a:blip>
          <a:srcRect b="21088" l="3076" r="39759" t="22010"/>
          <a:stretch/>
        </p:blipFill>
        <p:spPr>
          <a:xfrm>
            <a:off x="3592975" y="1152475"/>
            <a:ext cx="5465352" cy="305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113"/>
          <p:cNvSpPr txBox="1"/>
          <p:nvPr>
            <p:ph type="title"/>
          </p:nvPr>
        </p:nvSpPr>
        <p:spPr>
          <a:xfrm>
            <a:off x="311700" y="15111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Concurrency with asyncio</a:t>
            </a:r>
            <a:endParaRPr/>
          </a:p>
        </p:txBody>
      </p:sp>
      <p:sp>
        <p:nvSpPr>
          <p:cNvPr id="1194" name="Google Shape;1194;p113"/>
          <p:cNvSpPr txBox="1"/>
          <p:nvPr>
            <p:ph idx="1" type="body"/>
          </p:nvPr>
        </p:nvSpPr>
        <p:spPr>
          <a:xfrm>
            <a:off x="311700" y="676000"/>
            <a:ext cx="4545300" cy="42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device currently has 3 tasks: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Sensor data readout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 w</a:t>
            </a:r>
            <a:r>
              <a:rPr lang="en"/>
              <a:t>eb requests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Battery status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Asyncio uses </a:t>
            </a:r>
            <a:r>
              <a:rPr b="1" lang="en"/>
              <a:t>c</a:t>
            </a:r>
            <a:r>
              <a:rPr b="1" lang="en"/>
              <a:t>ooperative scheduling</a:t>
            </a:r>
            <a:br>
              <a:rPr lang="en"/>
            </a:br>
            <a:br>
              <a:rPr lang="en"/>
            </a:br>
            <a:r>
              <a:rPr lang="en"/>
              <a:t>No codepath must hold the loop for longer than the shortest deadline. Half of FIFO depth.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BMA423 FIFO:</a:t>
            </a:r>
            <a:br>
              <a:rPr b="1" lang="en"/>
            </a:br>
            <a:r>
              <a:rPr b="1" lang="en"/>
              <a:t>100</a:t>
            </a:r>
            <a:r>
              <a:rPr b="1" lang="en"/>
              <a:t> samples, 4 seconds @ 25hz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General recommenation:</a:t>
            </a:r>
            <a:br>
              <a:rPr lang="en"/>
            </a:br>
            <a:r>
              <a:rPr lang="en"/>
              <a:t>Keep chunks of work under 100 ms</a:t>
            </a:r>
            <a:endParaRPr/>
          </a:p>
        </p:txBody>
      </p:sp>
      <p:pic>
        <p:nvPicPr>
          <p:cNvPr id="1195" name="Google Shape;1195;p113" title="Screenshot from 2026-04-16 09-19-23.png"/>
          <p:cNvPicPr preferRelativeResize="0"/>
          <p:nvPr/>
        </p:nvPicPr>
        <p:blipFill rotWithShape="1">
          <a:blip r:embed="rId3">
            <a:alphaModFix/>
          </a:blip>
          <a:srcRect b="3247" l="2046" r="52294" t="10620"/>
          <a:stretch/>
        </p:blipFill>
        <p:spPr>
          <a:xfrm>
            <a:off x="4974775" y="100175"/>
            <a:ext cx="3908952" cy="41474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96" name="Google Shape;1196;p113"/>
          <p:cNvSpPr txBox="1"/>
          <p:nvPr/>
        </p:nvSpPr>
        <p:spPr>
          <a:xfrm>
            <a:off x="4894025" y="4323775"/>
            <a:ext cx="398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Implementing an IMU/accelerometer/gyro driver? </a:t>
            </a:r>
            <a:br>
              <a:rPr lang="en" sz="1200"/>
            </a:br>
            <a:r>
              <a:rPr lang="en" sz="1200"/>
              <a:t>Use the FIFO!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4"/>
              </a:rPr>
              <a:t>https://github.com/orgs/micropython/discussions/15512</a:t>
            </a:r>
            <a:r>
              <a:rPr lang="en" sz="1200"/>
              <a:t> </a:t>
            </a:r>
            <a:endParaRPr sz="12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114"/>
          <p:cNvSpPr txBox="1"/>
          <p:nvPr/>
        </p:nvSpPr>
        <p:spPr>
          <a:xfrm>
            <a:off x="204800" y="3368675"/>
            <a:ext cx="5217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Want:</a:t>
            </a:r>
            <a:r>
              <a:rPr lang="en" sz="1800">
                <a:solidFill>
                  <a:schemeClr val="dk2"/>
                </a:solidFill>
              </a:rPr>
              <a:t> 		Measurements over time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			Many measurement locations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</a:rPr>
              <a:t>Need:</a:t>
            </a:r>
            <a:r>
              <a:rPr lang="en" sz="1800">
                <a:solidFill>
                  <a:schemeClr val="dk2"/>
                </a:solidFill>
              </a:rPr>
              <a:t> 		Low-cost, unattended, data transfer</a:t>
            </a:r>
            <a:br>
              <a:rPr lang="en" sz="1800">
                <a:solidFill>
                  <a:schemeClr val="dk2"/>
                </a:solidFill>
              </a:rPr>
            </a:br>
            <a:r>
              <a:rPr b="1" lang="en" sz="1800">
                <a:solidFill>
                  <a:schemeClr val="dk2"/>
                </a:solidFill>
              </a:rPr>
              <a:t>Sometimes:</a:t>
            </a:r>
            <a:r>
              <a:rPr lang="en" sz="1800">
                <a:solidFill>
                  <a:schemeClr val="dk2"/>
                </a:solidFill>
              </a:rPr>
              <a:t> Small / portable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2" name="Google Shape;1202;p114"/>
          <p:cNvSpPr txBox="1"/>
          <p:nvPr/>
        </p:nvSpPr>
        <p:spPr>
          <a:xfrm>
            <a:off x="5422400" y="3230075"/>
            <a:ext cx="3597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How: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Commodity sensors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Microcontroller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Smart on-sensor processing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Wireless communication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Battery powered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203" name="Google Shape;1203;p114"/>
          <p:cNvGrpSpPr/>
          <p:nvPr/>
        </p:nvGrpSpPr>
        <p:grpSpPr>
          <a:xfrm>
            <a:off x="0" y="0"/>
            <a:ext cx="9285351" cy="3269285"/>
            <a:chOff x="507763" y="714226"/>
            <a:chExt cx="8076325" cy="2843599"/>
          </a:xfrm>
        </p:grpSpPr>
        <p:pic>
          <p:nvPicPr>
            <p:cNvPr id="1204" name="Google Shape;1204;p114" title="0123_tags_0.jpg"/>
            <p:cNvPicPr preferRelativeResize="0"/>
            <p:nvPr/>
          </p:nvPicPr>
          <p:blipFill rotWithShape="1">
            <a:blip r:embed="rId3">
              <a:alphaModFix/>
            </a:blip>
            <a:srcRect b="2140" l="25010" r="26578" t="1900"/>
            <a:stretch/>
          </p:blipFill>
          <p:spPr>
            <a:xfrm>
              <a:off x="3482950" y="714250"/>
              <a:ext cx="2482911" cy="2767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5" name="Google Shape;1205;p114" title="41598_2024_51305_Fig4_HTML.png"/>
            <p:cNvPicPr preferRelativeResize="0"/>
            <p:nvPr/>
          </p:nvPicPr>
          <p:blipFill rotWithShape="1">
            <a:blip r:embed="rId4">
              <a:alphaModFix/>
            </a:blip>
            <a:srcRect b="5481" l="29876" r="17124" t="62029"/>
            <a:stretch/>
          </p:blipFill>
          <p:spPr>
            <a:xfrm>
              <a:off x="507763" y="714226"/>
              <a:ext cx="2975190" cy="27024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6" name="Google Shape;1206;p114" title="Map-of-the-hydrological-measuring-network-including-power-plants-water-supply-and.png"/>
            <p:cNvPicPr preferRelativeResize="0"/>
            <p:nvPr/>
          </p:nvPicPr>
          <p:blipFill rotWithShape="1">
            <a:blip r:embed="rId5">
              <a:alphaModFix/>
            </a:blip>
            <a:srcRect b="27056" l="14721" r="48958" t="20549"/>
            <a:stretch/>
          </p:blipFill>
          <p:spPr>
            <a:xfrm>
              <a:off x="5965861" y="714248"/>
              <a:ext cx="2482909" cy="27349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7" name="Google Shape;1207;p114"/>
            <p:cNvSpPr txBox="1"/>
            <p:nvPr/>
          </p:nvSpPr>
          <p:spPr>
            <a:xfrm>
              <a:off x="2339000" y="3157625"/>
              <a:ext cx="141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100" lIns="105100" spcFirstLastPara="1" rIns="105100" wrap="square" tIns="1051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10">
                  <a:solidFill>
                    <a:schemeClr val="dk1"/>
                  </a:solidFill>
                  <a:highlight>
                    <a:schemeClr val="lt1"/>
                  </a:highlight>
                </a:rPr>
                <a:t>Urban Noise</a:t>
              </a:r>
              <a:endParaRPr b="1" sz="1610">
                <a:solidFill>
                  <a:schemeClr val="dk1"/>
                </a:solidFill>
                <a:highlight>
                  <a:schemeClr val="lt1"/>
                </a:highlight>
              </a:endParaRPr>
            </a:p>
          </p:txBody>
        </p:sp>
        <p:sp>
          <p:nvSpPr>
            <p:cNvPr id="1208" name="Google Shape;1208;p114"/>
            <p:cNvSpPr txBox="1"/>
            <p:nvPr/>
          </p:nvSpPr>
          <p:spPr>
            <a:xfrm>
              <a:off x="4531150" y="3157625"/>
              <a:ext cx="1674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100" lIns="105100" spcFirstLastPara="1" rIns="105100" wrap="square" tIns="1051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10">
                  <a:solidFill>
                    <a:schemeClr val="dk1"/>
                  </a:solidFill>
                  <a:highlight>
                    <a:schemeClr val="lt1"/>
                  </a:highlight>
                </a:rPr>
                <a:t>Animal behavior</a:t>
              </a:r>
              <a:endParaRPr b="1" sz="1610">
                <a:solidFill>
                  <a:schemeClr val="dk1"/>
                </a:solidFill>
                <a:highlight>
                  <a:schemeClr val="lt1"/>
                </a:highlight>
              </a:endParaRPr>
            </a:p>
          </p:txBody>
        </p:sp>
        <p:sp>
          <p:nvSpPr>
            <p:cNvPr id="1209" name="Google Shape;1209;p114"/>
            <p:cNvSpPr txBox="1"/>
            <p:nvPr/>
          </p:nvSpPr>
          <p:spPr>
            <a:xfrm>
              <a:off x="7388288" y="3125150"/>
              <a:ext cx="1195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100" lIns="105100" spcFirstLastPara="1" rIns="105100" wrap="square" tIns="1051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10">
                  <a:solidFill>
                    <a:schemeClr val="dk1"/>
                  </a:solidFill>
                  <a:highlight>
                    <a:schemeClr val="lt1"/>
                  </a:highlight>
                </a:rPr>
                <a:t>Hydrology</a:t>
              </a:r>
              <a:endParaRPr b="1" sz="1610">
                <a:solidFill>
                  <a:schemeClr val="dk1"/>
                </a:solidFill>
                <a:highlight>
                  <a:schemeClr val="lt1"/>
                </a:highlight>
              </a:endParaRPr>
            </a:p>
          </p:txBody>
        </p:sp>
      </p:grpSp>
      <p:sp>
        <p:nvSpPr>
          <p:cNvPr id="1210" name="Google Shape;1210;p114"/>
          <p:cNvSpPr txBox="1"/>
          <p:nvPr>
            <p:ph type="title"/>
          </p:nvPr>
        </p:nvSpPr>
        <p:spPr>
          <a:xfrm>
            <a:off x="782900" y="1502950"/>
            <a:ext cx="774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</a:pPr>
            <a:r>
              <a:rPr lang="en" sz="3000">
                <a:highlight>
                  <a:schemeClr val="lt1"/>
                </a:highlight>
              </a:rPr>
              <a:t>To understand the world, we must measure it</a:t>
            </a:r>
            <a:endParaRPr sz="30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